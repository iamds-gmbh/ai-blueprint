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7"/>
  </p:notesMasterIdLst>
  <p:sldIdLst>
    <p:sldId id="436" r:id="rId2"/>
    <p:sldId id="410" r:id="rId3"/>
    <p:sldId id="411" r:id="rId4"/>
    <p:sldId id="412" r:id="rId5"/>
    <p:sldId id="437" r:id="rId6"/>
    <p:sldId id="349" r:id="rId7"/>
    <p:sldId id="350" r:id="rId8"/>
    <p:sldId id="351" r:id="rId9"/>
    <p:sldId id="352" r:id="rId10"/>
    <p:sldId id="370" r:id="rId11"/>
    <p:sldId id="374" r:id="rId12"/>
    <p:sldId id="371" r:id="rId13"/>
    <p:sldId id="372" r:id="rId14"/>
    <p:sldId id="373" r:id="rId15"/>
    <p:sldId id="388" r:id="rId16"/>
    <p:sldId id="443" r:id="rId17"/>
    <p:sldId id="444" r:id="rId18"/>
    <p:sldId id="429" r:id="rId19"/>
    <p:sldId id="430" r:id="rId20"/>
    <p:sldId id="431" r:id="rId21"/>
    <p:sldId id="434" r:id="rId22"/>
    <p:sldId id="415" r:id="rId23"/>
    <p:sldId id="339" r:id="rId24"/>
    <p:sldId id="428" r:id="rId25"/>
    <p:sldId id="419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8"/>
    <p:restoredTop sz="92767"/>
  </p:normalViewPr>
  <p:slideViewPr>
    <p:cSldViewPr snapToGrid="0">
      <p:cViewPr varScale="1">
        <p:scale>
          <a:sx n="136" d="100"/>
          <a:sy n="136" d="100"/>
        </p:scale>
        <p:origin x="88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7B53D-D440-0B45-A402-26815E176256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65BF0-6741-1448-BD4F-69C27A5D01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488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000" dirty="0"/>
              <a:t>Folie 3: Wie ein LLM technisch arbeitet — Erklärhilfe für dich</a:t>
            </a:r>
          </a:p>
          <a:p>
            <a:endParaRPr lang="de-DE" sz="1000" dirty="0"/>
          </a:p>
          <a:p>
            <a:r>
              <a:rPr lang="de-DE" sz="1000" dirty="0"/>
              <a:t>Stell dir vor, du schreibst dem LLM: "getUserById"</a:t>
            </a:r>
          </a:p>
          <a:p>
            <a:r>
              <a:rPr lang="de-DE" sz="1000" dirty="0"/>
              <a:t>Das Modell sieht NICHT den Text — es sieht nur Zahlen. Hier ist was passiert:</a:t>
            </a:r>
          </a:p>
          <a:p>
            <a:endParaRPr lang="de-DE" sz="1000" dirty="0"/>
          </a:p>
          <a:p>
            <a:r>
              <a:rPr lang="de-DE" sz="1000" dirty="0"/>
              <a:t>──────────────────────────────────────────</a:t>
            </a:r>
          </a:p>
          <a:p>
            <a:r>
              <a:rPr lang="de-DE" sz="1000" dirty="0"/>
              <a:t>SCHRITT 1: TOKENIZATION — Text wird zu Zahlen</a:t>
            </a:r>
          </a:p>
          <a:p>
            <a:r>
              <a:rPr lang="de-DE" sz="1000" dirty="0"/>
              <a:t>──────────────────────────────────────────</a:t>
            </a:r>
          </a:p>
          <a:p>
            <a:r>
              <a:rPr lang="de-DE" sz="1000" dirty="0"/>
              <a:t>Das Modell kann keinen Text lesen. Deshalb zerschneidet ein Algorithmus (BPE = Byte-Pair Encoding) zuerst jeden Text in kleine Stücke — sogenannte "Tokens".</a:t>
            </a:r>
          </a:p>
          <a:p>
            <a:endParaRPr lang="de-DE" sz="1000" dirty="0"/>
          </a:p>
          <a:p>
            <a:r>
              <a:rPr lang="de-DE" sz="1000" dirty="0"/>
              <a:t>"getUserById" wird zu → ["get", "User", "ById"] — das sind 3 Tokens.</a:t>
            </a:r>
          </a:p>
          <a:p>
            <a:r>
              <a:rPr lang="de-DE" sz="1000" dirty="0"/>
              <a:t>Intern bekommt jeder Token eine ID-Nummer: get=1482, User=6959, ById=3421.</a:t>
            </a:r>
          </a:p>
          <a:p>
            <a:endParaRPr lang="de-DE" sz="1000" dirty="0"/>
          </a:p>
          <a:p>
            <a:r>
              <a:rPr lang="de-DE" sz="1000" dirty="0"/>
              <a:t>Wichtig für die Praxis: camelCase kostet mehr Tokens als snake_case, weil "getUserById" in 3 Teile zerfällt, "get_user_by_id" aber eventuell auch — das kostet Geld und Context-Platz.</a:t>
            </a:r>
          </a:p>
          <a:p>
            <a:endParaRPr lang="de-DE" sz="1000" dirty="0"/>
          </a:p>
          <a:p>
            <a:r>
              <a:rPr lang="de-DE" sz="1000" dirty="0"/>
              <a:t>──────────────────────────────────────────</a:t>
            </a:r>
          </a:p>
          <a:p>
            <a:r>
              <a:rPr lang="de-DE" sz="1000" dirty="0"/>
              <a:t>SCHRITT 2: EMBEDDING — Zahlen werden zu Bedeutung</a:t>
            </a:r>
          </a:p>
          <a:p>
            <a:r>
              <a:rPr lang="de-DE" sz="1000" dirty="0"/>
              <a:t>──────────────────────────────────────────</a:t>
            </a:r>
          </a:p>
          <a:p>
            <a:r>
              <a:rPr lang="de-DE" sz="1000" dirty="0"/>
              <a:t>Jetzt passiert Magie: Jede Token-ID wird in einen riesigen Vektor umgewandelt — stell dir einen Punkt im Raum vor, aber in 4096 Dimensionen statt 3.</a:t>
            </a:r>
          </a:p>
          <a:p>
            <a:endParaRPr lang="de-DE" sz="1000" dirty="0"/>
          </a:p>
          <a:p>
            <a:r>
              <a:rPr lang="de-DE" sz="1000" dirty="0"/>
              <a:t>Token 1482 ("get") → [0.21, -0.84, 0.37, ... noch 4093 weitere Zahlen]</a:t>
            </a:r>
          </a:p>
          <a:p>
            <a:endParaRPr lang="de-DE" sz="1000" dirty="0"/>
          </a:p>
          <a:p>
            <a:r>
              <a:rPr lang="de-DE" sz="1000" dirty="0"/>
              <a:t>Warum? Weil ähnliche Wörter ähnliche Vektoren haben. "König" und "Königin" liegen nah beieinander. "get" und "fetch" liegen nah beieinander. Das Modell "versteht" Bedeutung über Ähnlichkeit im Vektorraum.</a:t>
            </a:r>
          </a:p>
          <a:p>
            <a:endParaRPr lang="de-DE" sz="1000" dirty="0"/>
          </a:p>
          <a:p>
            <a:r>
              <a:rPr lang="de-DE" sz="1000" dirty="0"/>
              <a:t>Dazu kommt Positional Encoding: Das 1. Wort bekommt einen leicht anderen Vektor als das 100. Wort — so weiß das Modell, in welcher Reihenfolge die Tokens stehen.</a:t>
            </a:r>
          </a:p>
          <a:p>
            <a:endParaRPr lang="de-DE" sz="1000" dirty="0"/>
          </a:p>
          <a:p>
            <a:r>
              <a:rPr lang="de-DE" sz="1000" dirty="0"/>
              <a:t>──────────────────────────────────────────</a:t>
            </a:r>
          </a:p>
          <a:p>
            <a:r>
              <a:rPr lang="de-DE" sz="1000" dirty="0"/>
              <a:t>SCHRITT 3: TRANSFORMER + SELF-ATTENTION — Kontext verstehen</a:t>
            </a:r>
          </a:p>
          <a:p>
            <a:r>
              <a:rPr lang="de-DE" sz="1000" dirty="0"/>
              <a:t>──────────────────────────────────────────</a:t>
            </a:r>
          </a:p>
          <a:p>
            <a:r>
              <a:rPr lang="de-DE" sz="1000" dirty="0"/>
              <a:t>Das ist das eigentliche Herzstück. Das Modell liest nicht linear — es schaut sich ALLE Tokens gleichzeitig an und fragt für jeden Token: "Welche anderen Tokens sind für mich gerade relevant?"</a:t>
            </a:r>
          </a:p>
          <a:p>
            <a:endParaRPr lang="de-DE" sz="1000" dirty="0"/>
          </a:p>
          <a:p>
            <a:r>
              <a:rPr lang="de-DE" sz="1000" dirty="0"/>
              <a:t>Die Formel dazu: score(q,k) = softmax(Q · Kᵀ / √d)</a:t>
            </a:r>
          </a:p>
          <a:p>
            <a:endParaRPr lang="de-DE" sz="1000" dirty="0"/>
          </a:p>
          <a:p>
            <a:r>
              <a:rPr lang="de-DE" sz="1000" dirty="0"/>
              <a:t>Erklärt für Menschen:</a:t>
            </a:r>
          </a:p>
          <a:p>
            <a:r>
              <a:rPr lang="de-DE" sz="1000" dirty="0"/>
              <a:t>- Q (Query) = "Was suche ich?"</a:t>
            </a:r>
          </a:p>
          <a:p>
            <a:r>
              <a:rPr lang="de-DE" sz="1000" dirty="0"/>
              <a:t>- K (Key)   = "Was biete ich an?"</a:t>
            </a:r>
          </a:p>
          <a:p>
            <a:r>
              <a:rPr lang="de-DE" sz="1000" dirty="0"/>
              <a:t>- V (Value) = "Was ist mein eigentlicher Inhalt?"</a:t>
            </a:r>
          </a:p>
          <a:p>
            <a:endParaRPr lang="de-DE" sz="1000" dirty="0"/>
          </a:p>
          <a:p>
            <a:r>
              <a:rPr lang="de-DE" sz="1000" dirty="0"/>
              <a:t>Beispiel: Im Satz "Die Katze saß auf der Matte, weil sie müde war" — das Wort "sie" muss verstehen, dass es sich auf "Katze" bezieht, nicht auf "Matte". Der Attention-Mechanismus löst genau das.</a:t>
            </a:r>
          </a:p>
          <a:p>
            <a:endParaRPr lang="de-DE" sz="1000" dirty="0"/>
          </a:p>
          <a:p>
            <a:r>
              <a:rPr lang="de-DE" sz="1000" dirty="0"/>
              <a:t>Das passiert in 96 Schichten hintereinander (Layer), jede Schicht lernt feinere Zusammenhänge. Und das alles gleichzeitig mit 96 parallelen "Köpfen" (Multi-Head Attention) — jeder Kopf lernt andere Beziehungen zwischen Wörtern.</a:t>
            </a:r>
          </a:p>
          <a:p>
            <a:endParaRPr lang="de-DE" sz="1000" dirty="0"/>
          </a:p>
          <a:p>
            <a:r>
              <a:rPr lang="de-DE" sz="1000" dirty="0"/>
              <a:t>Ergebnis: Nach dem Transformer hat das Modell für jeden Token einen neuen Vektor, der den gesamten Kontext enthält.</a:t>
            </a:r>
          </a:p>
          <a:p>
            <a:endParaRPr lang="de-DE" sz="1000" dirty="0"/>
          </a:p>
          <a:p>
            <a:r>
              <a:rPr lang="de-DE" sz="1000" dirty="0"/>
              <a:t>──────────────────────────────────────────</a:t>
            </a:r>
          </a:p>
          <a:p>
            <a:r>
              <a:rPr lang="de-DE" sz="1000" dirty="0"/>
              <a:t>SCHRITT 4: SAMPLING — Der nächste Token wird gewählt</a:t>
            </a:r>
          </a:p>
          <a:p>
            <a:r>
              <a:rPr lang="de-DE" sz="1000" dirty="0"/>
              <a:t>──────────────────────────────────────────</a:t>
            </a:r>
          </a:p>
          <a:p>
            <a:r>
              <a:rPr lang="de-DE" sz="1000" dirty="0"/>
              <a:t>Das Modell gibt jetzt für JEDEN der ~100.000 möglichen Token eine Wahrscheinlichkeit aus.</a:t>
            </a:r>
          </a:p>
          <a:p>
            <a:endParaRPr lang="de-DE" sz="1000" dirty="0"/>
          </a:p>
          <a:p>
            <a:r>
              <a:rPr lang="de-DE" sz="1000" dirty="0"/>
              <a:t>Beispiel nach dem Prompt "def get_user(":</a:t>
            </a:r>
          </a:p>
          <a:p>
            <a:r>
              <a:rPr lang="de-DE" sz="1000" dirty="0"/>
              <a:t>- "id"     → 52%</a:t>
            </a:r>
          </a:p>
          <a:p>
            <a:r>
              <a:rPr lang="de-DE" sz="1000" dirty="0"/>
              <a:t>- "name"   → 21%</a:t>
            </a:r>
          </a:p>
          <a:p>
            <a:r>
              <a:rPr lang="de-DE" sz="1000" dirty="0"/>
              <a:t>- "self"   → 11%</a:t>
            </a:r>
          </a:p>
          <a:p>
            <a:r>
              <a:rPr lang="de-DE" sz="1000" dirty="0"/>
              <a:t>- ... alle anderen → 16% zusammen</a:t>
            </a:r>
          </a:p>
          <a:p>
            <a:endParaRPr lang="de-DE" sz="1000" dirty="0"/>
          </a:p>
          <a:p>
            <a:r>
              <a:rPr lang="de-DE" sz="1000" dirty="0"/>
              <a:t>Temperature steuert, wie "mutig" die Auswahl ist:</a:t>
            </a:r>
          </a:p>
          <a:p>
            <a:r>
              <a:rPr lang="de-DE" sz="1000" dirty="0"/>
              <a:t>- temp=0.0: Immer den wahrscheinlichsten Token nehmen → deterministisch, wiederholbar → perfekt für Code</a:t>
            </a:r>
          </a:p>
          <a:p>
            <a:r>
              <a:rPr lang="de-DE" sz="1000" dirty="0"/>
              <a:t>- temp=0.7: Auch weniger wahrscheinliche Tokens bekommen eine Chance → kreativer → gut für Texte, Brainstorming</a:t>
            </a:r>
          </a:p>
          <a:p>
            <a:endParaRPr lang="de-DE" sz="1000" dirty="0"/>
          </a:p>
          <a:p>
            <a:r>
              <a:rPr lang="de-DE" sz="1000" dirty="0"/>
              <a:t>WICHTIG: Das Modell wiederholt diesen gesamten Prozess für JEDEN einzelnen Token in der Antwort neu. Eine 200-Wort-Antwort = 200 Durchläufe durch alle Layer.</a:t>
            </a:r>
          </a:p>
          <a:p>
            <a:endParaRPr lang="de-DE" sz="1000" dirty="0"/>
          </a:p>
          <a:p>
            <a:r>
              <a:rPr lang="de-DE" sz="1000" dirty="0"/>
              <a:t>──────────────────────────────────────────</a:t>
            </a:r>
          </a:p>
          <a:p>
            <a:r>
              <a:rPr lang="de-DE" sz="1000" dirty="0"/>
              <a:t>KERNAUSSAGE FÜR DIE ERKLÄRUNG:</a:t>
            </a:r>
          </a:p>
          <a:p>
            <a:r>
              <a:rPr lang="de-DE" sz="1000" dirty="0"/>
              <a:t>──────────────────────────────────────────</a:t>
            </a:r>
          </a:p>
          <a:p>
            <a:r>
              <a:rPr lang="de-DE" sz="1000" dirty="0"/>
              <a:t>"Ein LLM hat kein Gedächtnis, keine Absichten, keine Logik im menschlichen Sinne. Es berechnet jedes Mal neu: Was ist statistisch gesehen der wahrscheinlichste nächste Token, gegeben alles was bisher im Kontext stand? Das ist es. Das erklärt, warum es manchmal halluziniert — es kennt das Pattern, aber nicht die Wahrheit."</a:t>
            </a:r>
          </a:p>
          <a:p>
            <a:endParaRPr lang="de-DE" sz="1000" dirty="0"/>
          </a:p>
          <a:p>
            <a:r>
              <a:rPr lang="de-DE" sz="1000" dirty="0"/>
              <a:t>Kurz-Version zum Merken:</a:t>
            </a:r>
          </a:p>
          <a:p>
            <a:r>
              <a:rPr lang="de-DE" sz="1000" dirty="0"/>
              <a:t>Text → Zahlen (Tokenization) → Bedeutungsvektoren (Embedding) → Kontext berechnen (Attention) → Nächstes Wort wählen (Sampling) → wiederholen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752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493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05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8306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8306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8649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209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503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6527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399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65BF0-6741-1448-BD4F-69C27A5D01DC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0525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184B5-AA3A-1D66-9AF8-8E9EBEF24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5461BC-4F5F-2D90-76D2-788D64096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40E04D-1A91-C615-8D01-2CBF7E23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9C4E98-7500-A9FB-B414-CD198E68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E916C9-6A3E-E1F7-EA36-AA7368B3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2820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A6529-ADDA-81C4-9DFF-8D8420C4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C33E1F-A22E-0372-9DD6-4BF8A2143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A41840-8281-D054-A1C4-1F9394D2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2B67E-7ECA-36A4-FFAE-22F8D2FD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C8628F-6D68-BDF4-E3C2-70E0E3E2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07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941F5B-E54F-9ABB-FD79-CD6F1C52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FBF4A9-A6DF-A5D9-CF98-C8B81E042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996875-455D-195C-DF66-9FD56248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F3C03F-B7D5-372C-D2BD-92DF261B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4A48ED-1911-5A9E-55D6-FFC1F50C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300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6E11F-AEAD-39E9-5463-A67801CE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4C68B1-C1DF-F616-BF84-9A6CF97A7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A1C23B-1E86-146E-87AA-A833510E9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C1C9D2-996D-7F49-DD95-8DAEFCA3F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D49450-869B-443F-6BC1-AD6E445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37A5C9-A6F8-C5D6-8F4F-4B549072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1426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A9DEE-64B7-927C-89FD-E8CA3F36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7B492D-CD97-B420-D3FF-F594A68A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5FED8F-BBAC-472A-12B3-F9F9BD45F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8ECCB1-0EBF-0A56-5B22-07EF5338A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6363B67-00AD-9E1F-352B-AB3D23C04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BAF405E-809C-576C-CAB6-4DB97056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FB911B9-AC5C-A72A-E2BF-6FE268F2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627D986-5485-FB18-A89B-270D6B5BF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45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898CD-2F4D-C23D-6BD2-A78CA04B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B0C714-76FF-8B11-2F28-D9B8C7046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E5430-C9EF-4C59-0E64-0CC551BD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C00ED1-3F83-5085-898F-2CB353B6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17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D806F7-5B95-D3BC-7FD5-3A2F4B2B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991EC9-42D1-2627-9265-F385A76AE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397CE8-57D7-72D7-2D36-4D1E8048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514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99FBFE-6895-1749-9F23-DED6CF866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245644-B541-E85F-B2F8-B5659C71B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E146FB-8B7F-CD9C-BDDA-91E6904EC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6B67E5-042B-84D9-8E93-250616EE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93EB5E-6009-E038-54AD-DE95C7D5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ED7F18-6D57-2415-8513-E1156E02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08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8CF79-BB7A-F3BB-AC64-787F1127E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6B85A7F-BDB5-2028-CFFD-B6003519F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AD9749-26DC-3826-D8EB-DFE59A53C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8AA5E9-4450-4988-4E11-4A6D9D29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05B407-3BB5-C463-90B0-573B823F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84D3A7-0D55-7933-9C11-100F5752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27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AF75D-F43A-A5BB-ED18-032595B8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8A782F-F92F-1797-873C-D0807E948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A1DB3F-C83B-53B5-3A54-93B8A537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FF2CD6-688C-9EA1-D117-D83C9CB0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E37BAF-D66C-D271-38FB-87E656A7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071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BC21B8-598C-3366-8D93-41EC3B343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A75CF5-9F2E-EC5D-365B-F20E53358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3BC77A-F1DE-2590-B494-6339E829A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FAE1C3-35DF-AC02-B147-AA5C54D4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38D000-42F8-7B19-67C8-F6C043D6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281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B398AF-8D0C-FFB7-19E2-299FCA80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17BC3E-E490-5B7B-B037-820AB3D4F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7B4CD3-5FE6-41D4-5663-CCEF42559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0AA7B-33E5-FC45-93D4-9DE7E082790A}" type="datetimeFigureOut">
              <a:rPr lang="de-DE" smtClean="0"/>
              <a:t>11.03.26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2A2991-D04B-B6CF-140D-42AA30248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87E8FD-CCB0-AE80-5AEB-0B6BFD274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7813B-FB78-4C40-95D8-DE6E1E2B2A46}" type="slidenum">
              <a:rPr lang="de-DE" smtClean="0"/>
              <a:t>‹Nr.›</a:t>
            </a:fld>
            <a:endParaRPr lang="de-DE"/>
          </a:p>
        </p:txBody>
      </p:sp>
      <p:sp>
        <p:nvSpPr>
          <p:cNvPr id="900" name="BottomBar"/>
          <p:cNvSpPr>
            <a:spLocks noGrp="1"/>
          </p:cNvSpPr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GoldLine"/>
          <p:cNvSpPr>
            <a:spLocks noGrp="1"/>
          </p:cNvSpPr>
          <p:nvPr userDrawn="1"/>
        </p:nvSpPr>
        <p:spPr>
          <a:xfrm>
            <a:off x="0" y="6667500"/>
            <a:ext cx="12192000" cy="3810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LeftStripe"/>
          <p:cNvSpPr>
            <a:spLocks noGrp="1"/>
          </p:cNvSpPr>
          <p:nvPr userDrawn="1"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636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2B80"/>
          </a:solidFill>
          <a:latin typeface="Open Sans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74151"/>
          </a:solidFill>
          <a:latin typeface="Open Sans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212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Open Sans"/>
          <a:ea typeface="+mn-ea"/>
          <a:cs typeface="+mn-cs"/>
        </a:defRPr>
      </a:lvl9pPr>
    </p:bodyStyle>
    <p:otherStyle>
      <a:defPPr>
        <a:defRPr lang="de-DE">
          <a:solidFill>
            <a:srgbClr val="212121"/>
          </a:solidFill>
        </a:defRPr>
      </a:defPPr>
      <a:lvl1pPr marL="0" algn="l" defTabSz="914400" rtl="0" eaLnBrk="1" latinLnBrk="0" hangingPunct="1">
        <a:defRPr sz="1800" kern="1200">
          <a:solidFill>
            <a:srgbClr val="4A556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9477A1-F09E-3CB4-FA60-9EF775254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2032000"/>
            <a:ext cx="10160000" cy="1016000"/>
          </a:xfrm>
        </p:spPr>
        <p:txBody>
          <a:bodyPr>
            <a:normAutofit/>
          </a:bodyPr>
          <a:lstStyle/>
          <a:p>
            <a:pPr algn="ctr"/>
            <a:r>
              <a:rPr lang="de-DE" sz="3600" b="1" dirty="0">
                <a:solidFill>
                  <a:srgbClr val="212B80"/>
                </a:solidFill>
                <a:latin typeface="Open Sans"/>
              </a:rPr>
              <a:t>Tag 1: Greenfield</a:t>
            </a:r>
          </a:p>
        </p:txBody>
      </p:sp>
      <p:sp>
        <p:nvSpPr>
          <p:cNvPr id="100" name="Divider"/>
          <p:cNvSpPr>
            <a:spLocks noGrp="1"/>
          </p:cNvSpPr>
          <p:nvPr/>
        </p:nvSpPr>
        <p:spPr>
          <a:xfrm>
            <a:off x="4826000" y="3149600"/>
            <a:ext cx="2540000" cy="3810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1" name="Subtitle"/>
          <p:cNvSpPr>
            <a:spLocks noGrp="1"/>
          </p:cNvSpPr>
          <p:nvPr/>
        </p:nvSpPr>
        <p:spPr>
          <a:xfrm>
            <a:off x="2286000" y="3327400"/>
            <a:ext cx="7620000" cy="50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2400" dirty="0">
                <a:solidFill>
                  <a:srgbClr val="3F59FF"/>
                </a:solidFill>
                <a:latin typeface="Open Sans"/>
              </a:rPr>
              <a:t>Von der Idee zur App mit KI</a:t>
            </a:r>
          </a:p>
        </p:txBody>
      </p:sp>
      <p:sp>
        <p:nvSpPr>
          <p:cNvPr id="102" name="Tag"/>
          <p:cNvSpPr>
            <a:spLocks noGrp="1"/>
          </p:cNvSpPr>
          <p:nvPr/>
        </p:nvSpPr>
        <p:spPr>
          <a:xfrm>
            <a:off x="2921000" y="3937000"/>
            <a:ext cx="6350000" cy="3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1500" dirty="0">
                <a:solidFill>
                  <a:srgbClr val="374151"/>
                </a:solidFill>
                <a:latin typeface="Open Sans"/>
              </a:rPr>
              <a:t>AI-Blueprint Schulung</a:t>
            </a:r>
          </a:p>
        </p:txBody>
      </p:sp>
    </p:spTree>
    <p:extLst>
      <p:ext uri="{BB962C8B-B14F-4D97-AF65-F5344CB8AC3E}">
        <p14:creationId xmlns:p14="http://schemas.microsoft.com/office/powerpoint/2010/main" val="291440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9359C-FC44-3C1A-8509-7261F1CC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Wie ein LLM technisch arbeitet</a:t>
            </a:r>
          </a:p>
        </p:txBody>
      </p:sp>
      <p:sp>
        <p:nvSpPr>
          <p:cNvPr id="100" name="Lane0"/>
          <p:cNvSpPr/>
          <p:nvPr/>
        </p:nvSpPr>
        <p:spPr>
          <a:xfrm>
            <a:off x="1130300" y="1460500"/>
            <a:ext cx="2235200" cy="457200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01" name="LaneHdr0"/>
          <p:cNvSpPr/>
          <p:nvPr/>
        </p:nvSpPr>
        <p:spPr>
          <a:xfrm>
            <a:off x="1130300" y="1460500"/>
            <a:ext cx="2235200" cy="4826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FFFFFF"/>
                </a:solidFill>
                <a:latin typeface="Open Sans"/>
              </a:rPr>
              <a:t>① TOKENIZATION</a:t>
            </a:r>
          </a:p>
        </p:txBody>
      </p:sp>
      <p:sp>
        <p:nvSpPr>
          <p:cNvPr id="102" name="LaneSub0"/>
          <p:cNvSpPr/>
          <p:nvPr/>
        </p:nvSpPr>
        <p:spPr>
          <a:xfrm>
            <a:off x="1231900" y="19939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555577"/>
                </a:solidFill>
                <a:latin typeface="Open Sans"/>
              </a:rPr>
              <a:t>Byte-Pair Encoding (BPE)</a:t>
            </a:r>
          </a:p>
        </p:txBody>
      </p:sp>
      <p:sp>
        <p:nvSpPr>
          <p:cNvPr id="103" name="LaneDiv0"/>
          <p:cNvSpPr/>
          <p:nvPr/>
        </p:nvSpPr>
        <p:spPr>
          <a:xfrm>
            <a:off x="1257300" y="2298700"/>
            <a:ext cx="1981200" cy="127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04" name="LnTx105"/>
          <p:cNvSpPr/>
          <p:nvPr/>
        </p:nvSpPr>
        <p:spPr>
          <a:xfrm>
            <a:off x="1231900" y="23749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300" dirty="0">
                <a:solidFill>
                  <a:srgbClr val="444466"/>
                </a:solidFill>
                <a:latin typeface="Consolas"/>
              </a:rPr>
              <a:t>"getUserById"  →</a:t>
            </a:r>
          </a:p>
        </p:txBody>
      </p:sp>
      <p:sp>
        <p:nvSpPr>
          <p:cNvPr id="105" name="LnTx106"/>
          <p:cNvSpPr/>
          <p:nvPr/>
        </p:nvSpPr>
        <p:spPr>
          <a:xfrm>
            <a:off x="1231900" y="29845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300" b="1" dirty="0">
                <a:solidFill>
                  <a:srgbClr val="996600"/>
                </a:solidFill>
                <a:latin typeface="Consolas"/>
              </a:rPr>
              <a:t>["get"] [User] [ById]</a:t>
            </a:r>
          </a:p>
        </p:txBody>
      </p:sp>
      <p:sp>
        <p:nvSpPr>
          <p:cNvPr id="106" name="LnTx107"/>
          <p:cNvSpPr/>
          <p:nvPr/>
        </p:nvSpPr>
        <p:spPr>
          <a:xfrm>
            <a:off x="1231900" y="35941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444466"/>
                </a:solidFill>
                <a:latin typeface="Consolas"/>
              </a:rPr>
              <a:t>= 3 Tokens (IDs: 1482, 6959, 3421)</a:t>
            </a:r>
          </a:p>
        </p:txBody>
      </p:sp>
      <p:sp>
        <p:nvSpPr>
          <p:cNvPr id="107" name="LnTx108"/>
          <p:cNvSpPr/>
          <p:nvPr/>
        </p:nvSpPr>
        <p:spPr>
          <a:xfrm>
            <a:off x="1231900" y="42037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444466"/>
                </a:solidFill>
                <a:latin typeface="Open Sans"/>
              </a:rPr>
              <a:t>Jedes Token → Integer-ID im Vokabular (~100k Einträge)</a:t>
            </a:r>
          </a:p>
        </p:txBody>
      </p:sp>
      <p:sp>
        <p:nvSpPr>
          <p:cNvPr id="109" name="Arr0"/>
          <p:cNvSpPr/>
          <p:nvPr/>
        </p:nvSpPr>
        <p:spPr>
          <a:xfrm>
            <a:off x="3416300" y="3619500"/>
            <a:ext cx="228600" cy="254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10" name="Lane1"/>
          <p:cNvSpPr/>
          <p:nvPr/>
        </p:nvSpPr>
        <p:spPr>
          <a:xfrm>
            <a:off x="3695700" y="1460500"/>
            <a:ext cx="2235200" cy="4572000"/>
          </a:xfrm>
          <a:prstGeom prst="roundRect">
            <a:avLst>
              <a:gd name="adj" fmla="val 8000"/>
            </a:avLst>
          </a:prstGeom>
          <a:solidFill>
            <a:srgbClr val="E0F7F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11" name="LaneHdr1"/>
          <p:cNvSpPr/>
          <p:nvPr/>
        </p:nvSpPr>
        <p:spPr>
          <a:xfrm>
            <a:off x="3695700" y="1460500"/>
            <a:ext cx="2235200" cy="482600"/>
          </a:xfrm>
          <a:prstGeom prst="rect">
            <a:avLst/>
          </a:prstGeom>
          <a:solidFill>
            <a:srgbClr val="1E7FC7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FFFFFF"/>
                </a:solidFill>
                <a:latin typeface="Open Sans"/>
              </a:rPr>
              <a:t>② EMBEDDING</a:t>
            </a:r>
          </a:p>
        </p:txBody>
      </p:sp>
      <p:sp>
        <p:nvSpPr>
          <p:cNvPr id="112" name="LaneSub1"/>
          <p:cNvSpPr/>
          <p:nvPr/>
        </p:nvSpPr>
        <p:spPr>
          <a:xfrm>
            <a:off x="3797300" y="19939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555577"/>
                </a:solidFill>
                <a:latin typeface="Open Sans"/>
              </a:rPr>
              <a:t>Token-IDs → Vektoren</a:t>
            </a:r>
          </a:p>
        </p:txBody>
      </p:sp>
      <p:sp>
        <p:nvSpPr>
          <p:cNvPr id="113" name="LaneDiv1"/>
          <p:cNvSpPr/>
          <p:nvPr/>
        </p:nvSpPr>
        <p:spPr>
          <a:xfrm>
            <a:off x="3822700" y="2298700"/>
            <a:ext cx="1981200" cy="12700"/>
          </a:xfrm>
          <a:prstGeom prst="rect">
            <a:avLst/>
          </a:prstGeom>
          <a:solidFill>
            <a:srgbClr val="1E7FC7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14" name="LnTx115"/>
          <p:cNvSpPr/>
          <p:nvPr/>
        </p:nvSpPr>
        <p:spPr>
          <a:xfrm>
            <a:off x="3797300" y="23749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200" dirty="0">
                <a:solidFill>
                  <a:srgbClr val="444466"/>
                </a:solidFill>
                <a:latin typeface="Open Sans"/>
              </a:rPr>
              <a:t>Token 1482 →</a:t>
            </a:r>
          </a:p>
        </p:txBody>
      </p:sp>
      <p:sp>
        <p:nvSpPr>
          <p:cNvPr id="115" name="LnTx116"/>
          <p:cNvSpPr/>
          <p:nvPr/>
        </p:nvSpPr>
        <p:spPr>
          <a:xfrm>
            <a:off x="3797300" y="29845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200" b="1" dirty="0">
                <a:solidFill>
                  <a:srgbClr val="996600"/>
                </a:solidFill>
                <a:latin typeface="Consolas"/>
              </a:rPr>
              <a:t>[0.21, -0.84, 0.37, …]  dim=4096</a:t>
            </a:r>
          </a:p>
        </p:txBody>
      </p:sp>
      <p:sp>
        <p:nvSpPr>
          <p:cNvPr id="116" name="LnTx117"/>
          <p:cNvSpPr/>
          <p:nvPr/>
        </p:nvSpPr>
        <p:spPr>
          <a:xfrm>
            <a:off x="3797300" y="35941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444466"/>
                </a:solidFill>
                <a:latin typeface="Open Sans"/>
              </a:rPr>
              <a:t>Token = Punkt im 4096-dim. Vektorraum</a:t>
            </a:r>
          </a:p>
        </p:txBody>
      </p:sp>
      <p:sp>
        <p:nvSpPr>
          <p:cNvPr id="117" name="LnTx118"/>
          <p:cNvSpPr/>
          <p:nvPr/>
        </p:nvSpPr>
        <p:spPr>
          <a:xfrm>
            <a:off x="3797300" y="42037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444466"/>
                </a:solidFill>
                <a:latin typeface="Open Sans"/>
              </a:rPr>
              <a:t>+ Positional Encoding (Reihenfolge)</a:t>
            </a:r>
          </a:p>
        </p:txBody>
      </p:sp>
      <p:sp>
        <p:nvSpPr>
          <p:cNvPr id="118" name="LnTx119"/>
          <p:cNvSpPr/>
          <p:nvPr/>
        </p:nvSpPr>
        <p:spPr>
          <a:xfrm>
            <a:off x="3797300" y="48133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b="1" dirty="0">
                <a:solidFill>
                  <a:srgbClr val="0D7A3E"/>
                </a:solidFill>
                <a:latin typeface="Open Sans"/>
              </a:rPr>
              <a:t>Bedeutung + Position → ein Vektor</a:t>
            </a:r>
          </a:p>
        </p:txBody>
      </p:sp>
      <p:sp>
        <p:nvSpPr>
          <p:cNvPr id="119" name="Arr1"/>
          <p:cNvSpPr/>
          <p:nvPr/>
        </p:nvSpPr>
        <p:spPr>
          <a:xfrm>
            <a:off x="5981700" y="3619500"/>
            <a:ext cx="228600" cy="254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20" name="Lane2"/>
          <p:cNvSpPr/>
          <p:nvPr/>
        </p:nvSpPr>
        <p:spPr>
          <a:xfrm>
            <a:off x="6261100" y="1460500"/>
            <a:ext cx="2235200" cy="4572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21" name="LaneHdr2"/>
          <p:cNvSpPr/>
          <p:nvPr/>
        </p:nvSpPr>
        <p:spPr>
          <a:xfrm>
            <a:off x="6261100" y="1460500"/>
            <a:ext cx="2235200" cy="482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FFFFFF"/>
                </a:solidFill>
                <a:latin typeface="Open Sans"/>
              </a:rPr>
              <a:t>③ TRANSFORMER</a:t>
            </a:r>
          </a:p>
        </p:txBody>
      </p:sp>
      <p:sp>
        <p:nvSpPr>
          <p:cNvPr id="122" name="LaneSub2"/>
          <p:cNvSpPr/>
          <p:nvPr/>
        </p:nvSpPr>
        <p:spPr>
          <a:xfrm>
            <a:off x="6362700" y="19939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050" dirty="0">
                <a:solidFill>
                  <a:srgbClr val="555577"/>
                </a:solidFill>
                <a:latin typeface="Open Sans"/>
              </a:rPr>
              <a:t>Self-Attention  ·  Multi-Head  ·  96 Layer</a:t>
            </a:r>
          </a:p>
        </p:txBody>
      </p:sp>
      <p:sp>
        <p:nvSpPr>
          <p:cNvPr id="123" name="LaneDiv2"/>
          <p:cNvSpPr/>
          <p:nvPr/>
        </p:nvSpPr>
        <p:spPr>
          <a:xfrm>
            <a:off x="6388100" y="2298700"/>
            <a:ext cx="1981200" cy="127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24" name="LnTx125"/>
          <p:cNvSpPr/>
          <p:nvPr/>
        </p:nvSpPr>
        <p:spPr>
          <a:xfrm>
            <a:off x="6362700" y="23749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050" dirty="0">
                <a:solidFill>
                  <a:srgbClr val="444466"/>
                </a:solidFill>
                <a:latin typeface="Open Sans"/>
              </a:rPr>
              <a:t>Für jeden Token: Welche anderen Token sind relevant?</a:t>
            </a:r>
          </a:p>
        </p:txBody>
      </p:sp>
      <p:sp>
        <p:nvSpPr>
          <p:cNvPr id="125" name="LnTx126"/>
          <p:cNvSpPr/>
          <p:nvPr/>
        </p:nvSpPr>
        <p:spPr>
          <a:xfrm>
            <a:off x="6362700" y="29845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200" b="1" dirty="0">
                <a:solidFill>
                  <a:srgbClr val="0D7A3E"/>
                </a:solidFill>
                <a:latin typeface="Consolas"/>
              </a:rPr>
              <a:t>score(q,k) = softmax(Q·Kᵀ / √d)</a:t>
            </a:r>
          </a:p>
        </p:txBody>
      </p:sp>
      <p:sp>
        <p:nvSpPr>
          <p:cNvPr id="126" name="LnTx127"/>
          <p:cNvSpPr/>
          <p:nvPr/>
        </p:nvSpPr>
        <p:spPr>
          <a:xfrm>
            <a:off x="6362700" y="35941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444466"/>
                </a:solidFill>
                <a:latin typeface="Consolas"/>
              </a:rPr>
              <a:t>Q=Query  K=Key  V=Value</a:t>
            </a:r>
          </a:p>
        </p:txBody>
      </p:sp>
      <p:sp>
        <p:nvSpPr>
          <p:cNvPr id="127" name="LnTx128"/>
          <p:cNvSpPr/>
          <p:nvPr/>
        </p:nvSpPr>
        <p:spPr>
          <a:xfrm>
            <a:off x="6362700" y="42037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050" dirty="0">
                <a:solidFill>
                  <a:srgbClr val="444466"/>
                </a:solidFill>
                <a:latin typeface="Open Sans"/>
              </a:rPr>
              <a:t>Output = gewichtete Summe aller Values</a:t>
            </a:r>
          </a:p>
        </p:txBody>
      </p:sp>
      <p:sp>
        <p:nvSpPr>
          <p:cNvPr id="128" name="LnTx129"/>
          <p:cNvSpPr/>
          <p:nvPr/>
        </p:nvSpPr>
        <p:spPr>
          <a:xfrm>
            <a:off x="6362700" y="48133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050" b="1" dirty="0">
                <a:solidFill>
                  <a:srgbClr val="0D7A3E"/>
                </a:solidFill>
                <a:latin typeface="Open Sans"/>
              </a:rPr>
              <a:t>→ Kontext über gesamtes Prompt berechnet</a:t>
            </a:r>
          </a:p>
        </p:txBody>
      </p:sp>
      <p:sp>
        <p:nvSpPr>
          <p:cNvPr id="129" name="Arr2"/>
          <p:cNvSpPr/>
          <p:nvPr/>
        </p:nvSpPr>
        <p:spPr>
          <a:xfrm>
            <a:off x="8547100" y="3619500"/>
            <a:ext cx="228600" cy="254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30" name="Lane3"/>
          <p:cNvSpPr/>
          <p:nvPr/>
        </p:nvSpPr>
        <p:spPr>
          <a:xfrm>
            <a:off x="8826500" y="1460500"/>
            <a:ext cx="2235200" cy="4572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31" name="LaneHdr3"/>
          <p:cNvSpPr/>
          <p:nvPr/>
        </p:nvSpPr>
        <p:spPr>
          <a:xfrm>
            <a:off x="8826500" y="1460500"/>
            <a:ext cx="2235200" cy="482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FFFFFF"/>
                </a:solidFill>
                <a:latin typeface="Open Sans"/>
              </a:rPr>
              <a:t>④ SAMPLING</a:t>
            </a:r>
          </a:p>
        </p:txBody>
      </p:sp>
      <p:sp>
        <p:nvSpPr>
          <p:cNvPr id="132" name="LaneSub3"/>
          <p:cNvSpPr/>
          <p:nvPr/>
        </p:nvSpPr>
        <p:spPr>
          <a:xfrm>
            <a:off x="8928100" y="19939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555577"/>
                </a:solidFill>
                <a:latin typeface="Open Sans"/>
              </a:rPr>
              <a:t>Logits → nächster Token</a:t>
            </a:r>
          </a:p>
        </p:txBody>
      </p:sp>
      <p:sp>
        <p:nvSpPr>
          <p:cNvPr id="133" name="LaneDiv3"/>
          <p:cNvSpPr/>
          <p:nvPr/>
        </p:nvSpPr>
        <p:spPr>
          <a:xfrm>
            <a:off x="8953500" y="2298700"/>
            <a:ext cx="1981200" cy="127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134" name="LnTx135"/>
          <p:cNvSpPr/>
          <p:nvPr/>
        </p:nvSpPr>
        <p:spPr>
          <a:xfrm>
            <a:off x="8928100" y="23749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444466"/>
                </a:solidFill>
                <a:latin typeface="Open Sans"/>
              </a:rPr>
              <a:t>Prob.-Verteilung über ~100k Token</a:t>
            </a:r>
          </a:p>
        </p:txBody>
      </p:sp>
      <p:sp>
        <p:nvSpPr>
          <p:cNvPr id="135" name="LnTx136"/>
          <p:cNvSpPr/>
          <p:nvPr/>
        </p:nvSpPr>
        <p:spPr>
          <a:xfrm>
            <a:off x="8928100" y="29845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200" b="1" dirty="0">
                <a:solidFill>
                  <a:srgbClr val="1E7FC7"/>
                </a:solidFill>
                <a:latin typeface="Consolas"/>
              </a:rPr>
              <a:t>temp=0.0 → "return"  p=0.94</a:t>
            </a:r>
          </a:p>
        </p:txBody>
      </p:sp>
      <p:sp>
        <p:nvSpPr>
          <p:cNvPr id="136" name="LnTx137"/>
          <p:cNvSpPr/>
          <p:nvPr/>
        </p:nvSpPr>
        <p:spPr>
          <a:xfrm>
            <a:off x="8928100" y="35941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200" dirty="0">
                <a:solidFill>
                  <a:srgbClr val="996600"/>
                </a:solidFill>
                <a:latin typeface="Consolas"/>
              </a:rPr>
              <a:t>temp=0.7 → "result"  p=0.31</a:t>
            </a:r>
          </a:p>
        </p:txBody>
      </p:sp>
      <p:sp>
        <p:nvSpPr>
          <p:cNvPr id="137" name="LnTx138"/>
          <p:cNvSpPr/>
          <p:nvPr/>
        </p:nvSpPr>
        <p:spPr>
          <a:xfrm>
            <a:off x="8928100" y="42037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1E7FC7"/>
                </a:solidFill>
                <a:latin typeface="Open Sans"/>
              </a:rPr>
              <a:t>Niedrig = deterministisch (Code)</a:t>
            </a:r>
          </a:p>
        </p:txBody>
      </p:sp>
      <p:sp>
        <p:nvSpPr>
          <p:cNvPr id="138" name="LnTx139"/>
          <p:cNvSpPr/>
          <p:nvPr/>
        </p:nvSpPr>
        <p:spPr>
          <a:xfrm>
            <a:off x="8928100" y="4813300"/>
            <a:ext cx="203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100" dirty="0">
                <a:solidFill>
                  <a:srgbClr val="996600"/>
                </a:solidFill>
                <a:latin typeface="Open Sans"/>
              </a:rPr>
              <a:t>Hoch    = kreativ (Architektur)</a:t>
            </a:r>
          </a:p>
        </p:txBody>
      </p:sp>
      <p:sp>
        <p:nvSpPr>
          <p:cNvPr id="139" name="KeyMsg"/>
          <p:cNvSpPr/>
          <p:nvPr/>
        </p:nvSpPr>
        <p:spPr>
          <a:xfrm>
            <a:off x="1130300" y="6184900"/>
            <a:ext cx="99314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200" dirty="0">
                <a:solidFill>
                  <a:srgbClr val="444466"/>
                </a:solidFill>
                <a:latin typeface="Open Sans"/>
              </a:rPr>
              <a:t>Jede Inferenz = einmaliger Vorwärtsdurchlauf — kein Gedächtnis, reine Wahrscheinlichkeitsberechnung.</a:t>
            </a:r>
          </a:p>
        </p:txBody>
      </p:sp>
    </p:spTree>
    <p:extLst>
      <p:ext uri="{BB962C8B-B14F-4D97-AF65-F5344CB8AC3E}">
        <p14:creationId xmlns:p14="http://schemas.microsoft.com/office/powerpoint/2010/main" val="18716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7C6BAA-8B24-8808-70CD-5B6E726FF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Warum halluzinieren LLMs — und was hilft?</a:t>
            </a:r>
          </a:p>
        </p:txBody>
      </p:sp>
      <p:sp>
        <p:nvSpPr>
          <p:cNvPr id="100" name="PanelA"/>
          <p:cNvSpPr>
            <a:spLocks noGrp="1"/>
          </p:cNvSpPr>
          <p:nvPr/>
        </p:nvSpPr>
        <p:spPr>
          <a:xfrm>
            <a:off x="228600" y="1473200"/>
            <a:ext cx="3683000" cy="4470400"/>
          </a:xfrm>
          <a:prstGeom prst="roundRect">
            <a:avLst>
              <a:gd name="adj" fmla="val 6000"/>
            </a:avLst>
          </a:prstGeom>
          <a:solidFill>
            <a:srgbClr val="E8F0FF"/>
          </a:solidFill>
          <a:ln>
            <a:noFill/>
          </a:ln>
        </p:spPr>
        <p:txBody>
          <a:bodyPr wrap="square" lIns="1016" tIns="762" rIns="1016" bIns="762" anchor="ctr"/>
          <a:lstStyle/>
          <a:p>
            <a:endParaRPr/>
          </a:p>
        </p:txBody>
      </p:sp>
      <p:sp>
        <p:nvSpPr>
          <p:cNvPr id="101" name="HdrA"/>
          <p:cNvSpPr>
            <a:spLocks noGrp="1"/>
          </p:cNvSpPr>
          <p:nvPr/>
        </p:nvSpPr>
        <p:spPr>
          <a:xfrm>
            <a:off x="228600" y="1473200"/>
            <a:ext cx="3683000" cy="4572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wrap="square" lIns="1016" tIns="762" rIns="1016" bIns="762" anchor="ctr"/>
          <a:lstStyle/>
          <a:p>
            <a:pPr algn="ctr"/>
            <a:r>
              <a:rPr lang="de-DE" sz="1100" b="1" dirty="0">
                <a:solidFill>
                  <a:srgbClr val="FFFFFF"/>
                </a:solidFill>
                <a:latin typeface="Open Sans"/>
              </a:rPr>
              <a:t>WARUM HALLUZINIERT EIN LLM?</a:t>
            </a:r>
          </a:p>
        </p:txBody>
      </p:sp>
      <p:sp>
        <p:nvSpPr>
          <p:cNvPr id="102" name="BodyA"/>
          <p:cNvSpPr txBox="1"/>
          <p:nvPr/>
        </p:nvSpPr>
        <p:spPr>
          <a:xfrm>
            <a:off x="330200" y="2006600"/>
            <a:ext cx="3479800" cy="3835400"/>
          </a:xfrm>
          <a:prstGeom prst="rect">
            <a:avLst/>
          </a:prstGeom>
          <a:noFill/>
          <a:ln>
            <a:noFill/>
          </a:ln>
        </p:spPr>
        <p:txBody>
          <a:bodyPr wrap="square" lIns="635" tIns="508" rIns="635" bIns="508" anchor="t"/>
          <a:lstStyle/>
          <a:p>
            <a:pPr algn="l">
              <a:spcAft>
                <a:spcPts val="150"/>
              </a:spcAft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Kein Konzept von Wahrheit</a:t>
            </a:r>
          </a:p>
          <a:p>
            <a:pPr algn="l">
              <a:spcAft>
                <a:spcPts val="300"/>
              </a:spcAft>
            </a:pPr>
            <a:r>
              <a:rPr lang="de-DE" sz="1100" dirty="0">
                <a:solidFill>
                  <a:srgbClr val="333355"/>
                </a:solidFill>
                <a:latin typeface="Open Sans"/>
              </a:rPr>
              <a:t>Wählt immer den statistisch wahrscheinlichsten Token — nicht den faktisch korrekten.</a:t>
            </a:r>
          </a:p>
          <a:p>
            <a:pPr algn="l">
              <a:spcAft>
                <a:spcPts val="150"/>
              </a:spcAft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Training-Cutoff</a:t>
            </a:r>
          </a:p>
          <a:p>
            <a:pPr algn="l">
              <a:spcAft>
                <a:spcPts val="300"/>
              </a:spcAft>
            </a:pPr>
            <a:r>
              <a:rPr lang="de-DE" sz="1100" dirty="0">
                <a:solidFill>
                  <a:srgbClr val="333355"/>
                </a:solidFill>
                <a:latin typeface="Open Sans"/>
              </a:rPr>
              <a:t>APIs ändern sich. Das Modell kennt nur den Stand beim Training — nicht heute.</a:t>
            </a:r>
          </a:p>
          <a:p>
            <a:pPr algn="l">
              <a:spcAft>
                <a:spcPts val="150"/>
              </a:spcAft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Confidence ≠ Korrektheit</a:t>
            </a:r>
          </a:p>
          <a:p>
            <a:pPr algn="l">
              <a:spcAft>
                <a:spcPts val="300"/>
              </a:spcAft>
            </a:pPr>
            <a:r>
              <a:rPr lang="de-DE" sz="1100" dirty="0">
                <a:solidFill>
                  <a:srgbClr val="333355"/>
                </a:solidFill>
                <a:latin typeface="Open Sans"/>
              </a:rPr>
              <a:t>Das Modell gibt immer eine Antwort — auch wenn es rät. Kein "Ich weiß es nicht".</a:t>
            </a:r>
          </a:p>
          <a:p>
            <a:pPr algn="l">
              <a:spcAft>
                <a:spcPts val="150"/>
              </a:spcAft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Kein Projekt-Wissen</a:t>
            </a:r>
          </a:p>
          <a:p>
            <a:pPr algn="l"/>
            <a:r>
              <a:rPr lang="de-DE" sz="1100" dirty="0">
                <a:solidFill>
                  <a:srgbClr val="333355"/>
                </a:solidFill>
                <a:latin typeface="Open Sans"/>
              </a:rPr>
              <a:t>Ohne Projektinformationen interpoliert es aus ähnlichem Code im Training-Set.</a:t>
            </a:r>
          </a:p>
        </p:txBody>
      </p:sp>
      <p:sp>
        <p:nvSpPr>
          <p:cNvPr id="103" name="TypeCard0"/>
          <p:cNvSpPr>
            <a:spLocks noGrp="1"/>
          </p:cNvSpPr>
          <p:nvPr/>
        </p:nvSpPr>
        <p:spPr>
          <a:xfrm>
            <a:off x="4114800" y="1473200"/>
            <a:ext cx="2438400" cy="20066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>
            <a:noFill/>
          </a:ln>
        </p:spPr>
        <p:txBody>
          <a:bodyPr wrap="square" lIns="1016" tIns="762" rIns="1016" bIns="762" anchor="ctr"/>
          <a:lstStyle/>
          <a:p>
            <a:endParaRPr/>
          </a:p>
        </p:txBody>
      </p:sp>
      <p:sp>
        <p:nvSpPr>
          <p:cNvPr id="104" name="TypeHdr0"/>
          <p:cNvSpPr>
            <a:spLocks noGrp="1"/>
          </p:cNvSpPr>
          <p:nvPr/>
        </p:nvSpPr>
        <p:spPr>
          <a:xfrm>
            <a:off x="4114800" y="1473200"/>
            <a:ext cx="2438400" cy="355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1016" tIns="762" rIns="1016" bIns="762" anchor="ctr"/>
          <a:lstStyle/>
          <a:p>
            <a:pPr algn="ctr"/>
            <a:r>
              <a:rPr lang="de-DE" sz="1050" b="1" dirty="0">
                <a:solidFill>
                  <a:srgbClr val="FFFFFF"/>
                </a:solidFill>
                <a:latin typeface="Open Sans"/>
              </a:rPr>
              <a:t>TYP 1  ·  Falsche API</a:t>
            </a:r>
          </a:p>
        </p:txBody>
      </p:sp>
      <p:sp>
        <p:nvSpPr>
          <p:cNvPr id="105" name="TypeCode0"/>
          <p:cNvSpPr txBox="1"/>
          <p:nvPr/>
        </p:nvSpPr>
        <p:spPr>
          <a:xfrm>
            <a:off x="4216400" y="1905000"/>
            <a:ext cx="2235200" cy="330200"/>
          </a:xfrm>
          <a:prstGeom prst="rect">
            <a:avLst/>
          </a:prstGeom>
          <a:noFill/>
          <a:ln>
            <a:noFill/>
          </a:ln>
        </p:spPr>
        <p:txBody>
          <a:bodyPr wrap="square" lIns="635" tIns="508" rIns="635" bIns="508" anchor="ctr"/>
          <a:lstStyle/>
          <a:p>
            <a:pPr algn="l"/>
            <a:r>
              <a:rPr lang="de-DE" sz="1050" b="1" dirty="0">
                <a:solidFill>
                  <a:srgbClr val="8B1A1A"/>
                </a:solidFill>
                <a:latin typeface="Consolas"/>
              </a:rPr>
              <a:t>.findByNameContaining()</a:t>
            </a:r>
          </a:p>
        </p:txBody>
      </p:sp>
      <p:sp>
        <p:nvSpPr>
          <p:cNvPr id="106" name="TypeNote0"/>
          <p:cNvSpPr txBox="1"/>
          <p:nvPr/>
        </p:nvSpPr>
        <p:spPr>
          <a:xfrm>
            <a:off x="4216400" y="2260600"/>
            <a:ext cx="2235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635" tIns="508" rIns="635" bIns="508" anchor="t"/>
          <a:lstStyle/>
          <a:p>
            <a:pPr algn="l">
              <a:spcAft>
                <a:spcPts val="160"/>
              </a:spcAft>
            </a:pPr>
            <a:r>
              <a:rPr lang="de-DE" sz="1100" dirty="0">
                <a:solidFill>
                  <a:srgbClr val="553333"/>
                </a:solidFill>
                <a:latin typeface="Open Sans"/>
              </a:rPr>
              <a:t>Methode existiert, aber nur mit korrekter Spring Data JPA Repository-Konfiguration.</a:t>
            </a:r>
          </a:p>
          <a:p>
            <a:pPr algn="l"/>
            <a:r>
              <a:rPr lang="de-DE" sz="1100" b="1" dirty="0">
                <a:solidFill>
                  <a:srgbClr val="8B1A1A"/>
                </a:solidFill>
                <a:latin typeface="Open Sans"/>
              </a:rPr>
              <a:t>→ Pattern stimmt, Kontext fehlt</a:t>
            </a:r>
          </a:p>
        </p:txBody>
      </p:sp>
      <p:sp>
        <p:nvSpPr>
          <p:cNvPr id="107" name="TypeCard1"/>
          <p:cNvSpPr>
            <a:spLocks noGrp="1"/>
          </p:cNvSpPr>
          <p:nvPr/>
        </p:nvSpPr>
        <p:spPr>
          <a:xfrm>
            <a:off x="6743700" y="1473200"/>
            <a:ext cx="2438400" cy="20066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>
            <a:noFill/>
          </a:ln>
        </p:spPr>
        <p:txBody>
          <a:bodyPr wrap="square" lIns="1016" tIns="762" rIns="1016" bIns="762" anchor="ctr"/>
          <a:lstStyle/>
          <a:p>
            <a:endParaRPr/>
          </a:p>
        </p:txBody>
      </p:sp>
      <p:sp>
        <p:nvSpPr>
          <p:cNvPr id="108" name="TypeHdr1"/>
          <p:cNvSpPr>
            <a:spLocks noGrp="1"/>
          </p:cNvSpPr>
          <p:nvPr/>
        </p:nvSpPr>
        <p:spPr>
          <a:xfrm>
            <a:off x="6743700" y="1473200"/>
            <a:ext cx="2438400" cy="355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1016" tIns="762" rIns="1016" bIns="762" anchor="ctr"/>
          <a:lstStyle/>
          <a:p>
            <a:pPr algn="ctr"/>
            <a:r>
              <a:rPr lang="de-DE" sz="1050" b="1" dirty="0">
                <a:solidFill>
                  <a:srgbClr val="FFFFFF"/>
                </a:solidFill>
                <a:latin typeface="Open Sans"/>
              </a:rPr>
              <a:t>TYP 2  ·  Veraltete Syntax</a:t>
            </a:r>
          </a:p>
        </p:txBody>
      </p:sp>
      <p:sp>
        <p:nvSpPr>
          <p:cNvPr id="109" name="TypeCode1"/>
          <p:cNvSpPr txBox="1"/>
          <p:nvPr/>
        </p:nvSpPr>
        <p:spPr>
          <a:xfrm>
            <a:off x="6845300" y="1905000"/>
            <a:ext cx="2235200" cy="330200"/>
          </a:xfrm>
          <a:prstGeom prst="rect">
            <a:avLst/>
          </a:prstGeom>
          <a:noFill/>
          <a:ln>
            <a:noFill/>
          </a:ln>
        </p:spPr>
        <p:txBody>
          <a:bodyPr wrap="square" lIns="635" tIns="508" rIns="635" bIns="508" anchor="ctr"/>
          <a:lstStyle/>
          <a:p>
            <a:pPr algn="l"/>
            <a:r>
              <a:rPr lang="de-DE" sz="1050" b="1" dirty="0">
                <a:solidFill>
                  <a:srgbClr val="8B1A1A"/>
                </a:solidFill>
                <a:latin typeface="Consolas"/>
              </a:rPr>
              <a:t>WebSecurityConfigurerAdapter</a:t>
            </a:r>
          </a:p>
        </p:txBody>
      </p:sp>
      <p:sp>
        <p:nvSpPr>
          <p:cNvPr id="110" name="TypeNote1"/>
          <p:cNvSpPr txBox="1"/>
          <p:nvPr/>
        </p:nvSpPr>
        <p:spPr>
          <a:xfrm>
            <a:off x="6845300" y="2260600"/>
            <a:ext cx="2235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635" tIns="508" rIns="635" bIns="508" anchor="t"/>
          <a:lstStyle/>
          <a:p>
            <a:pPr algn="l"/>
            <a:r>
              <a:rPr lang="de-DE" sz="1100" dirty="0">
                <a:solidFill>
                  <a:srgbClr val="553333"/>
                </a:solidFill>
                <a:latin typeface="Open Sans"/>
              </a:rPr>
              <a:t>In Spring Boot 3 ersatzlos entfernt</a:t>
            </a:r>
          </a:p>
        </p:txBody>
      </p:sp>
      <p:sp>
        <p:nvSpPr>
          <p:cNvPr id="111" name="TypeCard2"/>
          <p:cNvSpPr>
            <a:spLocks noGrp="1"/>
          </p:cNvSpPr>
          <p:nvPr/>
        </p:nvSpPr>
        <p:spPr>
          <a:xfrm>
            <a:off x="9372600" y="1473200"/>
            <a:ext cx="2438400" cy="20066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>
            <a:noFill/>
          </a:ln>
        </p:spPr>
        <p:txBody>
          <a:bodyPr wrap="square" lIns="1016" tIns="762" rIns="1016" bIns="762" anchor="ctr"/>
          <a:lstStyle/>
          <a:p>
            <a:endParaRPr/>
          </a:p>
        </p:txBody>
      </p:sp>
      <p:sp>
        <p:nvSpPr>
          <p:cNvPr id="112" name="TypeHdr2"/>
          <p:cNvSpPr>
            <a:spLocks noGrp="1"/>
          </p:cNvSpPr>
          <p:nvPr/>
        </p:nvSpPr>
        <p:spPr>
          <a:xfrm>
            <a:off x="9372600" y="1473200"/>
            <a:ext cx="2438400" cy="355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1016" tIns="762" rIns="1016" bIns="762" anchor="ctr"/>
          <a:lstStyle/>
          <a:p>
            <a:pPr algn="ctr"/>
            <a:r>
              <a:rPr lang="de-DE" sz="1050" b="1" dirty="0">
                <a:solidFill>
                  <a:srgbClr val="FFFFFF"/>
                </a:solidFill>
                <a:latin typeface="Open Sans"/>
              </a:rPr>
              <a:t>TYP 3  ·  Erfundene Flags</a:t>
            </a:r>
          </a:p>
        </p:txBody>
      </p:sp>
      <p:sp>
        <p:nvSpPr>
          <p:cNvPr id="113" name="TypeCode2"/>
          <p:cNvSpPr txBox="1"/>
          <p:nvPr/>
        </p:nvSpPr>
        <p:spPr>
          <a:xfrm>
            <a:off x="9474200" y="1905000"/>
            <a:ext cx="2235200" cy="330200"/>
          </a:xfrm>
          <a:prstGeom prst="rect">
            <a:avLst/>
          </a:prstGeom>
          <a:noFill/>
          <a:ln>
            <a:noFill/>
          </a:ln>
        </p:spPr>
        <p:txBody>
          <a:bodyPr wrap="square" lIns="635" tIns="508" rIns="635" bIns="508" anchor="ctr"/>
          <a:lstStyle/>
          <a:p>
            <a:pPr algn="l"/>
            <a:r>
              <a:rPr lang="de-DE" sz="1050" b="1" dirty="0">
                <a:solidFill>
                  <a:srgbClr val="8B1A1A"/>
                </a:solidFill>
                <a:latin typeface="Consolas"/>
              </a:rPr>
              <a:t>mvn --debug-port=5005</a:t>
            </a:r>
          </a:p>
        </p:txBody>
      </p:sp>
      <p:sp>
        <p:nvSpPr>
          <p:cNvPr id="114" name="TypeNote2"/>
          <p:cNvSpPr txBox="1"/>
          <p:nvPr/>
        </p:nvSpPr>
        <p:spPr>
          <a:xfrm>
            <a:off x="9474200" y="2260600"/>
            <a:ext cx="2235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635" tIns="508" rIns="635" bIns="508" anchor="t"/>
          <a:lstStyle/>
          <a:p>
            <a:pPr algn="l"/>
            <a:r>
              <a:rPr lang="de-DE" sz="1100" dirty="0">
                <a:solidFill>
                  <a:srgbClr val="553333"/>
                </a:solidFill>
                <a:latin typeface="Open Sans"/>
              </a:rPr>
              <a:t>Flag existiert schlicht nicht</a:t>
            </a:r>
          </a:p>
        </p:txBody>
      </p:sp>
      <p:sp>
        <p:nvSpPr>
          <p:cNvPr id="115" name="FixCard0"/>
          <p:cNvSpPr>
            <a:spLocks noGrp="1"/>
          </p:cNvSpPr>
          <p:nvPr/>
        </p:nvSpPr>
        <p:spPr>
          <a:xfrm>
            <a:off x="4114800" y="3657600"/>
            <a:ext cx="2438400" cy="20066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txBody>
          <a:bodyPr wrap="square" lIns="1016" tIns="762" rIns="1016" bIns="762" anchor="ctr"/>
          <a:lstStyle/>
          <a:p>
            <a:endParaRPr/>
          </a:p>
        </p:txBody>
      </p:sp>
      <p:sp>
        <p:nvSpPr>
          <p:cNvPr id="116" name="FixHdr0"/>
          <p:cNvSpPr>
            <a:spLocks noGrp="1"/>
          </p:cNvSpPr>
          <p:nvPr/>
        </p:nvSpPr>
        <p:spPr>
          <a:xfrm>
            <a:off x="4114800" y="3657600"/>
            <a:ext cx="2438400" cy="355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1016" tIns="762" rIns="1016" bIns="762" anchor="ctr"/>
          <a:lstStyle/>
          <a:p>
            <a:pPr algn="ctr"/>
            <a:r>
              <a:rPr lang="de-DE" sz="1050" b="1" dirty="0">
                <a:solidFill>
                  <a:srgbClr val="FFFFFF"/>
                </a:solidFill>
                <a:latin typeface="Open Sans"/>
              </a:rPr>
              <a:t>PRÄVENTION  ·  Kontext geben</a:t>
            </a:r>
          </a:p>
        </p:txBody>
      </p:sp>
      <p:sp>
        <p:nvSpPr>
          <p:cNvPr id="117" name="FixBody0"/>
          <p:cNvSpPr txBox="1"/>
          <p:nvPr/>
        </p:nvSpPr>
        <p:spPr>
          <a:xfrm>
            <a:off x="4216400" y="4064000"/>
            <a:ext cx="2235200" cy="1524000"/>
          </a:xfrm>
          <a:prstGeom prst="rect">
            <a:avLst/>
          </a:prstGeom>
          <a:noFill/>
          <a:ln>
            <a:noFill/>
          </a:ln>
        </p:spPr>
        <p:txBody>
          <a:bodyPr wrap="square" lIns="635" tIns="508" rIns="635" bIns="508" anchor="t"/>
          <a:lstStyle/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1A4A2A"/>
                </a:solidFill>
                <a:latin typeface="Open Sans"/>
              </a:rPr>
              <a:t>· CLAUDE.md: Stack + genaue Versionen</a:t>
            </a:r>
          </a:p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1A4A2A"/>
                </a:solidFill>
                <a:latin typeface="Open Sans"/>
              </a:rPr>
              <a:t>· Version explizit nennen: Spring Boot 3.2</a:t>
            </a:r>
          </a:p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1A4A2A"/>
                </a:solidFill>
                <a:latin typeface="Open Sans"/>
              </a:rPr>
              <a:t>· Scope eingrenzen: "Nur Controller"</a:t>
            </a:r>
          </a:p>
        </p:txBody>
      </p:sp>
      <p:sp>
        <p:nvSpPr>
          <p:cNvPr id="118" name="FixCard1"/>
          <p:cNvSpPr>
            <a:spLocks noGrp="1"/>
          </p:cNvSpPr>
          <p:nvPr/>
        </p:nvSpPr>
        <p:spPr>
          <a:xfrm>
            <a:off x="6743700" y="3657600"/>
            <a:ext cx="2438400" cy="20066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txBody>
          <a:bodyPr wrap="square" lIns="1016" tIns="762" rIns="1016" bIns="762" anchor="ctr"/>
          <a:lstStyle/>
          <a:p>
            <a:endParaRPr/>
          </a:p>
        </p:txBody>
      </p:sp>
      <p:sp>
        <p:nvSpPr>
          <p:cNvPr id="119" name="FixHdr1"/>
          <p:cNvSpPr>
            <a:spLocks noGrp="1"/>
          </p:cNvSpPr>
          <p:nvPr/>
        </p:nvSpPr>
        <p:spPr>
          <a:xfrm>
            <a:off x="6743700" y="3657600"/>
            <a:ext cx="2438400" cy="355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016" tIns="762" rIns="1016" bIns="762" anchor="ctr"/>
          <a:lstStyle/>
          <a:p>
            <a:pPr algn="ctr"/>
            <a:r>
              <a:rPr lang="de-DE" sz="1050" b="1" dirty="0">
                <a:solidFill>
                  <a:srgbClr val="FFFFFF"/>
                </a:solidFill>
                <a:latin typeface="Open Sans"/>
              </a:rPr>
              <a:t>ERKENNUNG  ·  Output verifizieren</a:t>
            </a:r>
          </a:p>
        </p:txBody>
      </p:sp>
      <p:sp>
        <p:nvSpPr>
          <p:cNvPr id="120" name="FixBody1"/>
          <p:cNvSpPr txBox="1"/>
          <p:nvPr/>
        </p:nvSpPr>
        <p:spPr>
          <a:xfrm>
            <a:off x="6845300" y="4064000"/>
            <a:ext cx="2235200" cy="1524000"/>
          </a:xfrm>
          <a:prstGeom prst="rect">
            <a:avLst/>
          </a:prstGeom>
          <a:noFill/>
          <a:ln>
            <a:noFill/>
          </a:ln>
        </p:spPr>
        <p:txBody>
          <a:bodyPr wrap="square" lIns="635" tIns="508" rIns="635" bIns="508" anchor="t"/>
          <a:lstStyle/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553800"/>
                </a:solidFill>
                <a:latin typeface="Open Sans"/>
              </a:rPr>
              <a:t>· Compiler = erster Filter — immer bauen</a:t>
            </a:r>
          </a:p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553800"/>
                </a:solidFill>
                <a:latin typeface="Open Sans"/>
              </a:rPr>
              <a:t>· Tests schreiben lassen + sofort ausführen</a:t>
            </a:r>
          </a:p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553800"/>
                </a:solidFill>
                <a:latin typeface="Open Sans"/>
              </a:rPr>
              <a:t>· Unbekannte Methoden → Docs prüfen</a:t>
            </a:r>
          </a:p>
        </p:txBody>
      </p:sp>
      <p:sp>
        <p:nvSpPr>
          <p:cNvPr id="121" name="FixCard2"/>
          <p:cNvSpPr>
            <a:spLocks noGrp="1"/>
          </p:cNvSpPr>
          <p:nvPr/>
        </p:nvSpPr>
        <p:spPr>
          <a:xfrm>
            <a:off x="9372600" y="3657600"/>
            <a:ext cx="2438400" cy="200660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>
            <a:noFill/>
          </a:ln>
        </p:spPr>
        <p:txBody>
          <a:bodyPr wrap="square" lIns="1016" tIns="762" rIns="1016" bIns="762" anchor="ctr"/>
          <a:lstStyle/>
          <a:p>
            <a:endParaRPr/>
          </a:p>
        </p:txBody>
      </p:sp>
      <p:sp>
        <p:nvSpPr>
          <p:cNvPr id="122" name="FixHdr2"/>
          <p:cNvSpPr>
            <a:spLocks noGrp="1"/>
          </p:cNvSpPr>
          <p:nvPr/>
        </p:nvSpPr>
        <p:spPr>
          <a:xfrm>
            <a:off x="9372600" y="3657600"/>
            <a:ext cx="2438400" cy="3556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wrap="square" lIns="1016" tIns="762" rIns="1016" bIns="762" anchor="ctr"/>
          <a:lstStyle/>
          <a:p>
            <a:pPr algn="ctr"/>
            <a:r>
              <a:rPr lang="de-DE" sz="1050" b="1" dirty="0">
                <a:solidFill>
                  <a:srgbClr val="FFFFFF"/>
                </a:solidFill>
                <a:latin typeface="Open Sans"/>
              </a:rPr>
              <a:t>KORREKTUR  ·  Modell korrigieren</a:t>
            </a:r>
          </a:p>
        </p:txBody>
      </p:sp>
      <p:sp>
        <p:nvSpPr>
          <p:cNvPr id="123" name="FixBody2"/>
          <p:cNvSpPr txBox="1"/>
          <p:nvPr/>
        </p:nvSpPr>
        <p:spPr>
          <a:xfrm>
            <a:off x="9474200" y="4064000"/>
            <a:ext cx="2235200" cy="1524000"/>
          </a:xfrm>
          <a:prstGeom prst="rect">
            <a:avLst/>
          </a:prstGeom>
          <a:noFill/>
          <a:ln>
            <a:noFill/>
          </a:ln>
        </p:spPr>
        <p:txBody>
          <a:bodyPr wrap="square" lIns="635" tIns="508" rIns="635" bIns="508" anchor="t"/>
          <a:lstStyle/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212B80"/>
                </a:solidFill>
                <a:latin typeface="Open Sans"/>
              </a:rPr>
              <a:t>· Chain-of-Verification: KI prüft sich selbst</a:t>
            </a:r>
          </a:p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212B80"/>
                </a:solidFill>
                <a:latin typeface="Open Sans"/>
              </a:rPr>
              <a:t>· "Methode existiert nicht — korrigiere"</a:t>
            </a:r>
          </a:p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212B80"/>
                </a:solidFill>
                <a:latin typeface="Open Sans"/>
              </a:rPr>
              <a:t>· Plan Mode: Plan reviewen vor dem Code</a:t>
            </a:r>
          </a:p>
        </p:txBody>
      </p:sp>
      <p:sp>
        <p:nvSpPr>
          <p:cNvPr id="124" name="KeyMsg"/>
          <p:cNvSpPr>
            <a:spLocks noGrp="1"/>
          </p:cNvSpPr>
          <p:nvPr/>
        </p:nvSpPr>
        <p:spPr>
          <a:xfrm>
            <a:off x="228600" y="6096000"/>
            <a:ext cx="11734800" cy="4318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wrap="square" lIns="1016" tIns="762" rIns="1016" bIns="762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  <a:latin typeface="Open Sans"/>
              </a:rPr>
              <a:t>Halluzinationen sind keine Bugs — sie sind ein Feature des Designs. </a:t>
            </a:r>
            <a:r>
              <a:rPr lang="de-DE" sz="1200" b="1" dirty="0">
                <a:solidFill>
                  <a:schemeClr val="tx2"/>
                </a:solidFill>
                <a:latin typeface="Open Sans"/>
              </a:rPr>
              <a:t>Verifizieren ist Pflicht, nicht Option.</a:t>
            </a:r>
          </a:p>
        </p:txBody>
      </p:sp>
    </p:spTree>
    <p:extLst>
      <p:ext uri="{BB962C8B-B14F-4D97-AF65-F5344CB8AC3E}">
        <p14:creationId xmlns:p14="http://schemas.microsoft.com/office/powerpoint/2010/main" val="3695932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0A616-6346-81F2-2FDC-D05E68BB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>
                <a:ea typeface="Open Sans"/>
                <a:cs typeface="Open Sans"/>
              </a:rPr>
              <a:t>Was KI heute konkret kann — nüchtern betrachtet</a:t>
            </a:r>
          </a:p>
        </p:txBody>
      </p:sp>
      <p:sp>
        <p:nvSpPr>
          <p:cNvPr id="200" name="ColHdr0"/>
          <p:cNvSpPr>
            <a:spLocks noGrp="1"/>
          </p:cNvSpPr>
          <p:nvPr/>
        </p:nvSpPr>
        <p:spPr>
          <a:xfrm>
            <a:off x="381000" y="1549400"/>
            <a:ext cx="3568700" cy="381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1016" tIns="762" rIns="1016" bIns="762" anchor="t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Open Sans"/>
              </a:rPr>
              <a:t>Code &amp; Entwicklung</a:t>
            </a:r>
          </a:p>
        </p:txBody>
      </p:sp>
      <p:sp>
        <p:nvSpPr>
          <p:cNvPr id="201" name="CanBg0"/>
          <p:cNvSpPr>
            <a:spLocks noGrp="1"/>
          </p:cNvSpPr>
          <p:nvPr/>
        </p:nvSpPr>
        <p:spPr>
          <a:xfrm>
            <a:off x="381000" y="1930400"/>
            <a:ext cx="3568700" cy="2362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lIns="1016" tIns="762" rIns="1016" bIns="762" anchor="t"/>
          <a:lstStyle/>
          <a:p>
            <a:endParaRPr/>
          </a:p>
        </p:txBody>
      </p:sp>
      <p:sp>
        <p:nvSpPr>
          <p:cNvPr id="202" name="CanLbl0"/>
          <p:cNvSpPr>
            <a:spLocks noGrp="1"/>
          </p:cNvSpPr>
          <p:nvPr/>
        </p:nvSpPr>
        <p:spPr>
          <a:xfrm>
            <a:off x="381000" y="1930400"/>
            <a:ext cx="3568700" cy="279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lIns="1016" tIns="762" rIns="1016" bIns="762" anchor="t"/>
          <a:lstStyle/>
          <a:p>
            <a:pPr algn="l"/>
            <a:r>
              <a:rPr lang="de-DE" sz="1000" b="1" dirty="0">
                <a:solidFill>
                  <a:srgbClr val="FFFFFF"/>
                </a:solidFill>
                <a:latin typeface="Open Sans"/>
              </a:rPr>
              <a:t>✓  KI kann heute</a:t>
            </a:r>
          </a:p>
        </p:txBody>
      </p:sp>
      <p:sp>
        <p:nvSpPr>
          <p:cNvPr id="203" name="CanTx0"/>
          <p:cNvSpPr>
            <a:spLocks noGrp="1"/>
          </p:cNvSpPr>
          <p:nvPr/>
        </p:nvSpPr>
        <p:spPr>
          <a:xfrm>
            <a:off x="482600" y="2235200"/>
            <a:ext cx="3365500" cy="1625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Boilerplate &amp; CRUD in Sekunden generieren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Tests für bekannte Patterns schreiben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Refactoring mit klaren Regeln durchführen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Dokumentation aus Code ableiten</a:t>
            </a:r>
          </a:p>
        </p:txBody>
      </p:sp>
      <p:sp>
        <p:nvSpPr>
          <p:cNvPr id="204" name="NotBg0"/>
          <p:cNvSpPr>
            <a:spLocks noGrp="1"/>
          </p:cNvSpPr>
          <p:nvPr/>
        </p:nvSpPr>
        <p:spPr>
          <a:xfrm>
            <a:off x="381000" y="4394200"/>
            <a:ext cx="3568700" cy="1600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wrap="square" lIns="1016" tIns="762" rIns="1016" bIns="762" anchor="t"/>
          <a:lstStyle/>
          <a:p>
            <a:endParaRPr/>
          </a:p>
        </p:txBody>
      </p:sp>
      <p:sp>
        <p:nvSpPr>
          <p:cNvPr id="205" name="NotLbl0"/>
          <p:cNvSpPr>
            <a:spLocks noGrp="1"/>
          </p:cNvSpPr>
          <p:nvPr/>
        </p:nvSpPr>
        <p:spPr>
          <a:xfrm>
            <a:off x="381000" y="4394200"/>
            <a:ext cx="3568700" cy="279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/>
            <a:r>
              <a:rPr lang="de-DE" sz="1000" b="1" dirty="0">
                <a:solidFill>
                  <a:srgbClr val="FFFFFF"/>
                </a:solidFill>
                <a:latin typeface="Open Sans"/>
              </a:rPr>
              <a:t>✗  KI kann (noch) nicht</a:t>
            </a:r>
          </a:p>
        </p:txBody>
      </p:sp>
      <p:sp>
        <p:nvSpPr>
          <p:cNvPr id="206" name="NotTx0"/>
          <p:cNvSpPr>
            <a:spLocks noGrp="1"/>
          </p:cNvSpPr>
          <p:nvPr/>
        </p:nvSpPr>
        <p:spPr>
          <a:xfrm>
            <a:off x="482600" y="4699000"/>
            <a:ext cx="3365500" cy="12446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6B1A1A"/>
                </a:solidFill>
                <a:latin typeface="Open Sans"/>
              </a:rPr>
              <a:t>· Euer System kennen — ohne Kontext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6B1A1A"/>
                </a:solidFill>
                <a:latin typeface="Open Sans"/>
              </a:rPr>
              <a:t>· Architekturentscheidungen treffen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6B1A1A"/>
                </a:solidFill>
                <a:latin typeface="Open Sans"/>
              </a:rPr>
              <a:t>· Sicherstellen, dass der Code korrekt ist</a:t>
            </a:r>
          </a:p>
        </p:txBody>
      </p:sp>
      <p:sp>
        <p:nvSpPr>
          <p:cNvPr id="207" name="ColHdr1"/>
          <p:cNvSpPr>
            <a:spLocks noGrp="1"/>
          </p:cNvSpPr>
          <p:nvPr/>
        </p:nvSpPr>
        <p:spPr>
          <a:xfrm>
            <a:off x="4305300" y="1549400"/>
            <a:ext cx="35687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Open Sans"/>
              </a:rPr>
              <a:t>Analyse &amp; Recherche</a:t>
            </a:r>
          </a:p>
        </p:txBody>
      </p:sp>
      <p:sp>
        <p:nvSpPr>
          <p:cNvPr id="208" name="CanBg1"/>
          <p:cNvSpPr>
            <a:spLocks noGrp="1"/>
          </p:cNvSpPr>
          <p:nvPr/>
        </p:nvSpPr>
        <p:spPr>
          <a:xfrm>
            <a:off x="4305300" y="1930400"/>
            <a:ext cx="3568700" cy="2362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lIns="1016" tIns="762" rIns="1016" bIns="762" anchor="t"/>
          <a:lstStyle/>
          <a:p>
            <a:endParaRPr/>
          </a:p>
        </p:txBody>
      </p:sp>
      <p:sp>
        <p:nvSpPr>
          <p:cNvPr id="209" name="CanLbl1"/>
          <p:cNvSpPr>
            <a:spLocks noGrp="1"/>
          </p:cNvSpPr>
          <p:nvPr/>
        </p:nvSpPr>
        <p:spPr>
          <a:xfrm>
            <a:off x="4305300" y="1930400"/>
            <a:ext cx="3568700" cy="279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lIns="1016" tIns="762" rIns="1016" bIns="762" anchor="t"/>
          <a:lstStyle/>
          <a:p>
            <a:pPr algn="l"/>
            <a:r>
              <a:rPr lang="de-DE" sz="1000" b="1" dirty="0">
                <a:solidFill>
                  <a:srgbClr val="FFFFFF"/>
                </a:solidFill>
                <a:latin typeface="Open Sans"/>
              </a:rPr>
              <a:t>✓  KI kann heute</a:t>
            </a:r>
          </a:p>
        </p:txBody>
      </p:sp>
      <p:sp>
        <p:nvSpPr>
          <p:cNvPr id="210" name="CanTx1"/>
          <p:cNvSpPr>
            <a:spLocks noGrp="1"/>
          </p:cNvSpPr>
          <p:nvPr/>
        </p:nvSpPr>
        <p:spPr>
          <a:xfrm>
            <a:off x="4406900" y="2235200"/>
            <a:ext cx="3365500" cy="1625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Konzepte erklären &amp; Optionen vergleichen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Stack-Entscheidungen mit Pros/Cons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Fehler analysieren wenn Kontext gegeben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Bekannte Patterns &amp; Best Practices nennen</a:t>
            </a:r>
          </a:p>
        </p:txBody>
      </p:sp>
      <p:sp>
        <p:nvSpPr>
          <p:cNvPr id="211" name="NotBg1"/>
          <p:cNvSpPr>
            <a:spLocks noGrp="1"/>
          </p:cNvSpPr>
          <p:nvPr/>
        </p:nvSpPr>
        <p:spPr>
          <a:xfrm>
            <a:off x="4305300" y="4394200"/>
            <a:ext cx="3568700" cy="1600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wrap="square" lIns="1016" tIns="762" rIns="1016" bIns="762" anchor="t"/>
          <a:lstStyle/>
          <a:p>
            <a:endParaRPr/>
          </a:p>
        </p:txBody>
      </p:sp>
      <p:sp>
        <p:nvSpPr>
          <p:cNvPr id="212" name="NotLbl1"/>
          <p:cNvSpPr>
            <a:spLocks noGrp="1"/>
          </p:cNvSpPr>
          <p:nvPr/>
        </p:nvSpPr>
        <p:spPr>
          <a:xfrm>
            <a:off x="4305300" y="4394200"/>
            <a:ext cx="3568700" cy="279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/>
            <a:r>
              <a:rPr lang="de-DE" sz="1000" b="1" dirty="0">
                <a:solidFill>
                  <a:srgbClr val="FFFFFF"/>
                </a:solidFill>
                <a:latin typeface="Open Sans"/>
              </a:rPr>
              <a:t>✗  KI kann (noch) nicht</a:t>
            </a:r>
          </a:p>
        </p:txBody>
      </p:sp>
      <p:sp>
        <p:nvSpPr>
          <p:cNvPr id="213" name="NotTx1"/>
          <p:cNvSpPr>
            <a:spLocks noGrp="1"/>
          </p:cNvSpPr>
          <p:nvPr/>
        </p:nvSpPr>
        <p:spPr>
          <a:xfrm>
            <a:off x="4406900" y="4699000"/>
            <a:ext cx="3365500" cy="12446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6B1A1A"/>
                </a:solidFill>
                <a:latin typeface="Open Sans"/>
              </a:rPr>
              <a:t>· Aktuelle Infos nach Training-Cutoff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6B1A1A"/>
                </a:solidFill>
                <a:latin typeface="Open Sans"/>
              </a:rPr>
              <a:t>· Euren Business-Kontext kennen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6B1A1A"/>
                </a:solidFill>
                <a:latin typeface="Open Sans"/>
              </a:rPr>
              <a:t>· Garantieren, dass Fakten korrekt sind</a:t>
            </a:r>
          </a:p>
        </p:txBody>
      </p:sp>
      <p:sp>
        <p:nvSpPr>
          <p:cNvPr id="214" name="ColHdr2"/>
          <p:cNvSpPr>
            <a:spLocks noGrp="1"/>
          </p:cNvSpPr>
          <p:nvPr/>
        </p:nvSpPr>
        <p:spPr>
          <a:xfrm>
            <a:off x="8229600" y="1549400"/>
            <a:ext cx="35687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Open Sans"/>
              </a:rPr>
              <a:t>Kommunikation &amp; Docs</a:t>
            </a:r>
          </a:p>
        </p:txBody>
      </p:sp>
      <p:sp>
        <p:nvSpPr>
          <p:cNvPr id="215" name="CanBg2"/>
          <p:cNvSpPr>
            <a:spLocks noGrp="1"/>
          </p:cNvSpPr>
          <p:nvPr/>
        </p:nvSpPr>
        <p:spPr>
          <a:xfrm>
            <a:off x="8229600" y="1930400"/>
            <a:ext cx="3568700" cy="2362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lIns="1016" tIns="762" rIns="1016" bIns="762" anchor="t"/>
          <a:lstStyle/>
          <a:p>
            <a:endParaRPr/>
          </a:p>
        </p:txBody>
      </p:sp>
      <p:sp>
        <p:nvSpPr>
          <p:cNvPr id="216" name="CanLbl2"/>
          <p:cNvSpPr>
            <a:spLocks noGrp="1"/>
          </p:cNvSpPr>
          <p:nvPr/>
        </p:nvSpPr>
        <p:spPr>
          <a:xfrm>
            <a:off x="8229600" y="1930400"/>
            <a:ext cx="3568700" cy="279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lIns="1016" tIns="762" rIns="1016" bIns="762" anchor="t"/>
          <a:lstStyle/>
          <a:p>
            <a:pPr algn="l"/>
            <a:r>
              <a:rPr lang="de-DE" sz="1000" b="1" dirty="0">
                <a:solidFill>
                  <a:srgbClr val="FFFFFF"/>
                </a:solidFill>
                <a:latin typeface="Open Sans"/>
              </a:rPr>
              <a:t>✓  KI kann heute</a:t>
            </a:r>
          </a:p>
        </p:txBody>
      </p:sp>
      <p:sp>
        <p:nvSpPr>
          <p:cNvPr id="217" name="CanTx2"/>
          <p:cNvSpPr>
            <a:spLocks noGrp="1"/>
          </p:cNvSpPr>
          <p:nvPr/>
        </p:nvSpPr>
        <p:spPr>
          <a:xfrm>
            <a:off x="8331200" y="2235200"/>
            <a:ext cx="3365500" cy="1625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Technische Texte formulieren &amp; strukturieren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Ticket-Beschreibungen &amp; READMEs schreiben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Komplexe Themen vereinfacht erklären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1A4A2A"/>
                </a:solidFill>
                <a:latin typeface="Open Sans"/>
              </a:rPr>
              <a:t>· Verschiedene Tonalitäten anpassen</a:t>
            </a:r>
          </a:p>
        </p:txBody>
      </p:sp>
      <p:sp>
        <p:nvSpPr>
          <p:cNvPr id="218" name="NotBg2"/>
          <p:cNvSpPr>
            <a:spLocks noGrp="1"/>
          </p:cNvSpPr>
          <p:nvPr/>
        </p:nvSpPr>
        <p:spPr>
          <a:xfrm>
            <a:off x="8229600" y="4394200"/>
            <a:ext cx="3568700" cy="1600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wrap="square" lIns="1016" tIns="762" rIns="1016" bIns="762" anchor="t"/>
          <a:lstStyle/>
          <a:p>
            <a:endParaRPr/>
          </a:p>
        </p:txBody>
      </p:sp>
      <p:sp>
        <p:nvSpPr>
          <p:cNvPr id="219" name="NotLbl2"/>
          <p:cNvSpPr>
            <a:spLocks noGrp="1"/>
          </p:cNvSpPr>
          <p:nvPr/>
        </p:nvSpPr>
        <p:spPr>
          <a:xfrm>
            <a:off x="8229600" y="4394200"/>
            <a:ext cx="3568700" cy="279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/>
            <a:r>
              <a:rPr lang="de-DE" sz="1000" b="1" dirty="0">
                <a:solidFill>
                  <a:srgbClr val="FFFFFF"/>
                </a:solidFill>
                <a:latin typeface="Open Sans"/>
              </a:rPr>
              <a:t>✗  KI kann (noch) nicht</a:t>
            </a:r>
          </a:p>
        </p:txBody>
      </p:sp>
      <p:sp>
        <p:nvSpPr>
          <p:cNvPr id="220" name="NotTx2"/>
          <p:cNvSpPr>
            <a:spLocks noGrp="1"/>
          </p:cNvSpPr>
          <p:nvPr/>
        </p:nvSpPr>
        <p:spPr>
          <a:xfrm>
            <a:off x="8331200" y="4699000"/>
            <a:ext cx="3365500" cy="12446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6B1A1A"/>
                </a:solidFill>
                <a:latin typeface="Open Sans"/>
              </a:rPr>
              <a:t>· Euer Unternehmen &amp; Produkt kennen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6B1A1A"/>
                </a:solidFill>
                <a:latin typeface="Open Sans"/>
              </a:rPr>
              <a:t>· Strategische Einschätzungen treffen</a:t>
            </a:r>
          </a:p>
          <a:p>
            <a:pPr algn="l">
              <a:spcAft>
                <a:spcPts val="160"/>
              </a:spcAft>
            </a:pPr>
            <a:r>
              <a:rPr lang="de-DE" sz="1150" dirty="0">
                <a:solidFill>
                  <a:srgbClr val="6B1A1A"/>
                </a:solidFill>
                <a:latin typeface="Open Sans"/>
              </a:rPr>
              <a:t>· Interne Informationen kennen</a:t>
            </a:r>
          </a:p>
        </p:txBody>
      </p:sp>
      <p:sp>
        <p:nvSpPr>
          <p:cNvPr id="221" name="QuoteBg"/>
          <p:cNvSpPr>
            <a:spLocks noGrp="1"/>
          </p:cNvSpPr>
          <p:nvPr/>
        </p:nvSpPr>
        <p:spPr>
          <a:xfrm>
            <a:off x="381000" y="61214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1016" tIns="762" rIns="1016" bIns="762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  <a:latin typeface="Open Sans"/>
              </a:rPr>
              <a:t>KI ersetzt keine Expertise — sie multipliziert sie. </a:t>
            </a:r>
            <a:r>
              <a:rPr lang="de-DE" sz="1200" b="1" dirty="0">
                <a:solidFill>
                  <a:schemeClr val="tx2"/>
                </a:solidFill>
                <a:latin typeface="Open Sans"/>
              </a:rPr>
              <a:t>Der Entwickler mit KI-Skills gewinnt, nicht die KI allein.</a:t>
            </a:r>
          </a:p>
        </p:txBody>
      </p:sp>
    </p:spTree>
    <p:extLst>
      <p:ext uri="{BB962C8B-B14F-4D97-AF65-F5344CB8AC3E}">
        <p14:creationId xmlns:p14="http://schemas.microsoft.com/office/powerpoint/2010/main" val="2038052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dirty="0">
                <a:ea typeface="Open Sans"/>
                <a:cs typeface="Open Sans"/>
              </a:rPr>
              <a:t>KI-Ausbaustufen im Unternehmen</a:t>
            </a:r>
          </a:p>
        </p:txBody>
      </p:sp>
      <p:sp>
        <p:nvSpPr>
          <p:cNvPr id="3" name="StageCard0">
            <a:extLst>
              <a:ext uri="{FF2B5EF4-FFF2-40B4-BE49-F238E27FC236}">
                <a16:creationId xmlns:a16="http://schemas.microsoft.com/office/drawing/2014/main" id="{5450BA1D-C0A1-B84E-B8B1-BBA0D8B0F467}"/>
              </a:ext>
            </a:extLst>
          </p:cNvPr>
          <p:cNvSpPr/>
          <p:nvPr/>
        </p:nvSpPr>
        <p:spPr>
          <a:xfrm>
            <a:off x="228600" y="1498600"/>
            <a:ext cx="2489200" cy="4191000"/>
          </a:xfrm>
          <a:prstGeom prst="roundRect">
            <a:avLst/>
          </a:prstGeom>
          <a:solidFill>
            <a:srgbClr val="E8F0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StageLabel0">
            <a:extLst>
              <a:ext uri="{FF2B5EF4-FFF2-40B4-BE49-F238E27FC236}">
                <a16:creationId xmlns:a16="http://schemas.microsoft.com/office/drawing/2014/main" id="{0FEDB13E-1C35-444A-AECF-C1B8578933D3}"/>
              </a:ext>
            </a:extLst>
          </p:cNvPr>
          <p:cNvSpPr txBox="1"/>
          <p:nvPr/>
        </p:nvSpPr>
        <p:spPr>
          <a:xfrm>
            <a:off x="355600" y="1676400"/>
            <a:ext cx="223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b="1">
                <a:solidFill>
                  <a:srgbClr val="3F59FF"/>
                </a:solidFill>
                <a:latin typeface="Open Sans"/>
                <a:ea typeface="Open Sans"/>
                <a:cs typeface="Open Sans"/>
              </a:rPr>
              <a:t>STUFE 1</a:t>
            </a:r>
          </a:p>
        </p:txBody>
      </p:sp>
      <p:sp>
        <p:nvSpPr>
          <p:cNvPr id="5" name="StageTitle0">
            <a:extLst>
              <a:ext uri="{FF2B5EF4-FFF2-40B4-BE49-F238E27FC236}">
                <a16:creationId xmlns:a16="http://schemas.microsoft.com/office/drawing/2014/main" id="{7BC2E016-7C1B-0340-8C08-F38BA3EBB9BE}"/>
              </a:ext>
            </a:extLst>
          </p:cNvPr>
          <p:cNvSpPr txBox="1"/>
          <p:nvPr/>
        </p:nvSpPr>
        <p:spPr>
          <a:xfrm>
            <a:off x="355600" y="19812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  <a:latin typeface="Open Sans"/>
                <a:ea typeface="Open Sans"/>
                <a:cs typeface="Open Sans"/>
              </a:rPr>
              <a:t>Ad-hoc Chat</a:t>
            </a:r>
          </a:p>
        </p:txBody>
      </p:sp>
      <p:sp>
        <p:nvSpPr>
          <p:cNvPr id="6" name="StageDivider0">
            <a:extLst>
              <a:ext uri="{FF2B5EF4-FFF2-40B4-BE49-F238E27FC236}">
                <a16:creationId xmlns:a16="http://schemas.microsoft.com/office/drawing/2014/main" id="{953F3C1D-3BB2-6246-BDB5-75A5121ED15F}"/>
              </a:ext>
            </a:extLst>
          </p:cNvPr>
          <p:cNvSpPr/>
          <p:nvPr/>
        </p:nvSpPr>
        <p:spPr>
          <a:xfrm>
            <a:off x="482600" y="2514600"/>
            <a:ext cx="1981200" cy="254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StageDesc0">
            <a:extLst>
              <a:ext uri="{FF2B5EF4-FFF2-40B4-BE49-F238E27FC236}">
                <a16:creationId xmlns:a16="http://schemas.microsoft.com/office/drawing/2014/main" id="{E37FD7AD-E4F3-2248-B616-32026C266AF0}"/>
              </a:ext>
            </a:extLst>
          </p:cNvPr>
          <p:cNvSpPr txBox="1"/>
          <p:nvPr/>
        </p:nvSpPr>
        <p:spPr>
          <a:xfrm>
            <a:off x="381000" y="2667000"/>
            <a:ext cx="2184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4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Bei Bedarf eine Frage stellen — wie eine smarte Suchmaschine. Kein Setup, kein Commitment.</a:t>
            </a:r>
          </a:p>
        </p:txBody>
      </p:sp>
      <p:sp>
        <p:nvSpPr>
          <p:cNvPr id="8" name="StageEx0">
            <a:extLst>
              <a:ext uri="{FF2B5EF4-FFF2-40B4-BE49-F238E27FC236}">
                <a16:creationId xmlns:a16="http://schemas.microsoft.com/office/drawing/2014/main" id="{5CE8D6EF-47BC-7748-B2D9-E5589AB239F7}"/>
              </a:ext>
            </a:extLst>
          </p:cNvPr>
          <p:cNvSpPr txBox="1"/>
          <p:nvPr/>
        </p:nvSpPr>
        <p:spPr>
          <a:xfrm>
            <a:off x="381000" y="4572000"/>
            <a:ext cx="2184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3F59FF"/>
                </a:solidFill>
                <a:latin typeface="Open Sans"/>
                <a:ea typeface="Open Sans"/>
                <a:cs typeface="Open Sans"/>
              </a:rPr>
              <a:t>„Wie funktioniert JWT?“</a:t>
            </a:r>
          </a:p>
        </p:txBody>
      </p:sp>
      <p:sp>
        <p:nvSpPr>
          <p:cNvPr id="9" name="StageArrow0">
            <a:extLst>
              <a:ext uri="{FF2B5EF4-FFF2-40B4-BE49-F238E27FC236}">
                <a16:creationId xmlns:a16="http://schemas.microsoft.com/office/drawing/2014/main" id="{EFC519BC-3A64-4F4F-ADD9-25CE1E741FC0}"/>
              </a:ext>
            </a:extLst>
          </p:cNvPr>
          <p:cNvSpPr/>
          <p:nvPr/>
        </p:nvSpPr>
        <p:spPr>
          <a:xfrm>
            <a:off x="2870200" y="3441700"/>
            <a:ext cx="279400" cy="304800"/>
          </a:xfrm>
          <a:prstGeom prst="rightArrow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StageCard1">
            <a:extLst>
              <a:ext uri="{FF2B5EF4-FFF2-40B4-BE49-F238E27FC236}">
                <a16:creationId xmlns:a16="http://schemas.microsoft.com/office/drawing/2014/main" id="{9B642F77-592E-4745-AC07-D3C19FBEE112}"/>
              </a:ext>
            </a:extLst>
          </p:cNvPr>
          <p:cNvSpPr/>
          <p:nvPr/>
        </p:nvSpPr>
        <p:spPr>
          <a:xfrm>
            <a:off x="3302000" y="1498600"/>
            <a:ext cx="2489200" cy="4191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StageLabel1">
            <a:extLst>
              <a:ext uri="{FF2B5EF4-FFF2-40B4-BE49-F238E27FC236}">
                <a16:creationId xmlns:a16="http://schemas.microsoft.com/office/drawing/2014/main" id="{5750DFAB-ED28-714D-8BD8-884349C5F195}"/>
              </a:ext>
            </a:extLst>
          </p:cNvPr>
          <p:cNvSpPr txBox="1"/>
          <p:nvPr/>
        </p:nvSpPr>
        <p:spPr>
          <a:xfrm>
            <a:off x="3429000" y="1676400"/>
            <a:ext cx="223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b="1">
                <a:solidFill>
                  <a:srgbClr val="7BA7FF"/>
                </a:solidFill>
                <a:latin typeface="Open Sans"/>
                <a:ea typeface="Open Sans"/>
                <a:cs typeface="Open Sans"/>
              </a:rPr>
              <a:t>STUFE 2</a:t>
            </a:r>
          </a:p>
        </p:txBody>
      </p:sp>
      <p:sp>
        <p:nvSpPr>
          <p:cNvPr id="12" name="StageTitle1">
            <a:extLst>
              <a:ext uri="{FF2B5EF4-FFF2-40B4-BE49-F238E27FC236}">
                <a16:creationId xmlns:a16="http://schemas.microsoft.com/office/drawing/2014/main" id="{A9189C2E-7A86-7C4E-840B-DDC7ABE67D8B}"/>
              </a:ext>
            </a:extLst>
          </p:cNvPr>
          <p:cNvSpPr txBox="1"/>
          <p:nvPr/>
        </p:nvSpPr>
        <p:spPr>
          <a:xfrm>
            <a:off x="3429000" y="19812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Coding-Support</a:t>
            </a:r>
          </a:p>
        </p:txBody>
      </p:sp>
      <p:sp>
        <p:nvSpPr>
          <p:cNvPr id="13" name="StageDivider1">
            <a:extLst>
              <a:ext uri="{FF2B5EF4-FFF2-40B4-BE49-F238E27FC236}">
                <a16:creationId xmlns:a16="http://schemas.microsoft.com/office/drawing/2014/main" id="{0B4948BE-F84B-1144-98DB-9201DD88FC20}"/>
              </a:ext>
            </a:extLst>
          </p:cNvPr>
          <p:cNvSpPr/>
          <p:nvPr/>
        </p:nvSpPr>
        <p:spPr>
          <a:xfrm>
            <a:off x="3556000" y="2514600"/>
            <a:ext cx="1981200" cy="25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StageDesc1">
            <a:extLst>
              <a:ext uri="{FF2B5EF4-FFF2-40B4-BE49-F238E27FC236}">
                <a16:creationId xmlns:a16="http://schemas.microsoft.com/office/drawing/2014/main" id="{D71ED42E-3A9A-D446-9FFF-662C73D06AB6}"/>
              </a:ext>
            </a:extLst>
          </p:cNvPr>
          <p:cNvSpPr txBox="1"/>
          <p:nvPr/>
        </p:nvSpPr>
        <p:spPr>
          <a:xfrm>
            <a:off x="3454400" y="2667000"/>
            <a:ext cx="2184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400">
                <a:solidFill>
                  <a:srgbClr val="BFD9FF"/>
                </a:solidFill>
                <a:latin typeface="Open Sans"/>
                <a:ea typeface="Open Sans"/>
                <a:cs typeface="Open Sans"/>
              </a:rPr>
              <a:t>Autocomplete, einzelne Features, Code-Reviews. KI als ständiger Co-Pilot im Editor.</a:t>
            </a:r>
          </a:p>
        </p:txBody>
      </p:sp>
      <p:sp>
        <p:nvSpPr>
          <p:cNvPr id="15" name="StageEx1">
            <a:extLst>
              <a:ext uri="{FF2B5EF4-FFF2-40B4-BE49-F238E27FC236}">
                <a16:creationId xmlns:a16="http://schemas.microsoft.com/office/drawing/2014/main" id="{24FE1440-447B-094E-91D8-BB7D109D766D}"/>
              </a:ext>
            </a:extLst>
          </p:cNvPr>
          <p:cNvSpPr txBox="1"/>
          <p:nvPr/>
        </p:nvSpPr>
        <p:spPr>
          <a:xfrm>
            <a:off x="3454400" y="4572000"/>
            <a:ext cx="2184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 dirty="0">
                <a:solidFill>
                  <a:srgbClr val="E0ECFF"/>
                </a:solidFill>
                <a:latin typeface="Open Sans"/>
                <a:ea typeface="Open Sans"/>
                <a:cs typeface="Open Sans"/>
              </a:rPr>
              <a:t>IDE Integration, CLI Tool</a:t>
            </a:r>
          </a:p>
        </p:txBody>
      </p:sp>
      <p:sp>
        <p:nvSpPr>
          <p:cNvPr id="16" name="StageArrow1">
            <a:extLst>
              <a:ext uri="{FF2B5EF4-FFF2-40B4-BE49-F238E27FC236}">
                <a16:creationId xmlns:a16="http://schemas.microsoft.com/office/drawing/2014/main" id="{CDCD93FF-D1EE-5A40-8D41-C7AA490E9E15}"/>
              </a:ext>
            </a:extLst>
          </p:cNvPr>
          <p:cNvSpPr/>
          <p:nvPr/>
        </p:nvSpPr>
        <p:spPr>
          <a:xfrm>
            <a:off x="5943600" y="3441700"/>
            <a:ext cx="279400" cy="304800"/>
          </a:xfrm>
          <a:prstGeom prst="rightArrow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StageCard2">
            <a:extLst>
              <a:ext uri="{FF2B5EF4-FFF2-40B4-BE49-F238E27FC236}">
                <a16:creationId xmlns:a16="http://schemas.microsoft.com/office/drawing/2014/main" id="{FF636000-454B-AA42-8829-EDB7F9E3B1FA}"/>
              </a:ext>
            </a:extLst>
          </p:cNvPr>
          <p:cNvSpPr/>
          <p:nvPr/>
        </p:nvSpPr>
        <p:spPr>
          <a:xfrm>
            <a:off x="6375400" y="1498600"/>
            <a:ext cx="2489200" cy="4191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StageLabel2">
            <a:extLst>
              <a:ext uri="{FF2B5EF4-FFF2-40B4-BE49-F238E27FC236}">
                <a16:creationId xmlns:a16="http://schemas.microsoft.com/office/drawing/2014/main" id="{44A052E5-9358-CE4F-915A-17AA7351CD9B}"/>
              </a:ext>
            </a:extLst>
          </p:cNvPr>
          <p:cNvSpPr txBox="1"/>
          <p:nvPr/>
        </p:nvSpPr>
        <p:spPr>
          <a:xfrm>
            <a:off x="6502400" y="1676400"/>
            <a:ext cx="223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b="1">
                <a:solidFill>
                  <a:srgbClr val="7BAEFF"/>
                </a:solidFill>
                <a:latin typeface="Open Sans"/>
                <a:ea typeface="Open Sans"/>
                <a:cs typeface="Open Sans"/>
              </a:rPr>
              <a:t>STUFE 3</a:t>
            </a:r>
          </a:p>
        </p:txBody>
      </p:sp>
      <p:sp>
        <p:nvSpPr>
          <p:cNvPr id="19" name="StageTitle2">
            <a:extLst>
              <a:ext uri="{FF2B5EF4-FFF2-40B4-BE49-F238E27FC236}">
                <a16:creationId xmlns:a16="http://schemas.microsoft.com/office/drawing/2014/main" id="{D5FDC6EC-AB7E-AF44-B2C0-39DA96A0ED04}"/>
              </a:ext>
            </a:extLst>
          </p:cNvPr>
          <p:cNvSpPr txBox="1"/>
          <p:nvPr/>
        </p:nvSpPr>
        <p:spPr>
          <a:xfrm>
            <a:off x="6502400" y="19812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KI-Agent</a:t>
            </a:r>
          </a:p>
        </p:txBody>
      </p:sp>
      <p:sp>
        <p:nvSpPr>
          <p:cNvPr id="20" name="StageDivider2">
            <a:extLst>
              <a:ext uri="{FF2B5EF4-FFF2-40B4-BE49-F238E27FC236}">
                <a16:creationId xmlns:a16="http://schemas.microsoft.com/office/drawing/2014/main" id="{AB03CD6B-A889-994D-AEE1-FF4C5AECB250}"/>
              </a:ext>
            </a:extLst>
          </p:cNvPr>
          <p:cNvSpPr/>
          <p:nvPr/>
        </p:nvSpPr>
        <p:spPr>
          <a:xfrm>
            <a:off x="6629400" y="2514600"/>
            <a:ext cx="1981200" cy="25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StageDesc2">
            <a:extLst>
              <a:ext uri="{FF2B5EF4-FFF2-40B4-BE49-F238E27FC236}">
                <a16:creationId xmlns:a16="http://schemas.microsoft.com/office/drawing/2014/main" id="{4B5C6421-F566-C543-833B-476FA419DD45}"/>
              </a:ext>
            </a:extLst>
          </p:cNvPr>
          <p:cNvSpPr txBox="1"/>
          <p:nvPr/>
        </p:nvSpPr>
        <p:spPr>
          <a:xfrm>
            <a:off x="6527800" y="2667000"/>
            <a:ext cx="2184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400">
                <a:solidFill>
                  <a:srgbClr val="9DBFFF"/>
                </a:solidFill>
                <a:latin typeface="Open Sans"/>
                <a:ea typeface="Open Sans"/>
                <a:cs typeface="Open Sans"/>
              </a:rPr>
              <a:t>Agent übernimmt repetitive Aufgaben autonom: Doku, Tests, Refactoring, PR-Reviews.</a:t>
            </a:r>
          </a:p>
        </p:txBody>
      </p:sp>
      <p:sp>
        <p:nvSpPr>
          <p:cNvPr id="22" name="StageEx2">
            <a:extLst>
              <a:ext uri="{FF2B5EF4-FFF2-40B4-BE49-F238E27FC236}">
                <a16:creationId xmlns:a16="http://schemas.microsoft.com/office/drawing/2014/main" id="{5D2F0FE1-99FA-B84D-B352-DEB67BBFF674}"/>
              </a:ext>
            </a:extLst>
          </p:cNvPr>
          <p:cNvSpPr txBox="1"/>
          <p:nvPr/>
        </p:nvSpPr>
        <p:spPr>
          <a:xfrm>
            <a:off x="6527800" y="4572000"/>
            <a:ext cx="2184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 dirty="0">
                <a:solidFill>
                  <a:srgbClr val="E0ECFF"/>
                </a:solidFill>
                <a:latin typeface="Open Sans"/>
                <a:ea typeface="Open Sans"/>
                <a:cs typeface="Open Sans"/>
              </a:rPr>
              <a:t>Plan Mode, AI </a:t>
            </a:r>
            <a:r>
              <a:rPr lang="de-DE" sz="1300" i="1" dirty="0" err="1">
                <a:solidFill>
                  <a:srgbClr val="E0ECFF"/>
                </a:solidFill>
                <a:latin typeface="Open Sans"/>
                <a:ea typeface="Open Sans"/>
                <a:cs typeface="Open Sans"/>
              </a:rPr>
              <a:t>Agents</a:t>
            </a:r>
            <a:endParaRPr lang="de-DE" sz="1300" i="1" dirty="0">
              <a:solidFill>
                <a:srgbClr val="E0EC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3" name="StageArrow2">
            <a:extLst>
              <a:ext uri="{FF2B5EF4-FFF2-40B4-BE49-F238E27FC236}">
                <a16:creationId xmlns:a16="http://schemas.microsoft.com/office/drawing/2014/main" id="{73E654A9-EC9D-D548-B429-D77C203D2D2E}"/>
              </a:ext>
            </a:extLst>
          </p:cNvPr>
          <p:cNvSpPr/>
          <p:nvPr/>
        </p:nvSpPr>
        <p:spPr>
          <a:xfrm>
            <a:off x="9017000" y="3441700"/>
            <a:ext cx="279400" cy="304800"/>
          </a:xfrm>
          <a:prstGeom prst="rightArrow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StageCard3">
            <a:extLst>
              <a:ext uri="{FF2B5EF4-FFF2-40B4-BE49-F238E27FC236}">
                <a16:creationId xmlns:a16="http://schemas.microsoft.com/office/drawing/2014/main" id="{020CB69E-3191-E048-A458-DD5CBC46E0FE}"/>
              </a:ext>
            </a:extLst>
          </p:cNvPr>
          <p:cNvSpPr/>
          <p:nvPr/>
        </p:nvSpPr>
        <p:spPr>
          <a:xfrm>
            <a:off x="9448800" y="1498600"/>
            <a:ext cx="2489200" cy="4191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5" name="StageLabel3">
            <a:extLst>
              <a:ext uri="{FF2B5EF4-FFF2-40B4-BE49-F238E27FC236}">
                <a16:creationId xmlns:a16="http://schemas.microsoft.com/office/drawing/2014/main" id="{B183590E-B71E-B74D-8B4F-430E3131B424}"/>
              </a:ext>
            </a:extLst>
          </p:cNvPr>
          <p:cNvSpPr txBox="1"/>
          <p:nvPr/>
        </p:nvSpPr>
        <p:spPr>
          <a:xfrm>
            <a:off x="9575800" y="1676400"/>
            <a:ext cx="223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 b="1">
                <a:solidFill>
                  <a:srgbClr val="5C4400"/>
                </a:solidFill>
                <a:latin typeface="Open Sans"/>
                <a:ea typeface="Open Sans"/>
                <a:cs typeface="Open Sans"/>
              </a:rPr>
              <a:t>STUFE 4</a:t>
            </a:r>
          </a:p>
        </p:txBody>
      </p:sp>
      <p:sp>
        <p:nvSpPr>
          <p:cNvPr id="26" name="StageTitle3">
            <a:extLst>
              <a:ext uri="{FF2B5EF4-FFF2-40B4-BE49-F238E27FC236}">
                <a16:creationId xmlns:a16="http://schemas.microsoft.com/office/drawing/2014/main" id="{61030290-9542-8749-B3B7-A2EC36E5C518}"/>
              </a:ext>
            </a:extLst>
          </p:cNvPr>
          <p:cNvSpPr txBox="1"/>
          <p:nvPr/>
        </p:nvSpPr>
        <p:spPr>
          <a:xfrm>
            <a:off x="9575800" y="19812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2000" b="1">
                <a:solidFill>
                  <a:srgbClr val="1A1A2E"/>
                </a:solidFill>
                <a:latin typeface="Open Sans"/>
                <a:ea typeface="Open Sans"/>
                <a:cs typeface="Open Sans"/>
              </a:rPr>
              <a:t>Full Vibe Coding</a:t>
            </a:r>
          </a:p>
        </p:txBody>
      </p:sp>
      <p:sp>
        <p:nvSpPr>
          <p:cNvPr id="27" name="StageDivider3">
            <a:extLst>
              <a:ext uri="{FF2B5EF4-FFF2-40B4-BE49-F238E27FC236}">
                <a16:creationId xmlns:a16="http://schemas.microsoft.com/office/drawing/2014/main" id="{C32F2142-D7D6-CD43-A08B-CAEC327E53DA}"/>
              </a:ext>
            </a:extLst>
          </p:cNvPr>
          <p:cNvSpPr/>
          <p:nvPr/>
        </p:nvSpPr>
        <p:spPr>
          <a:xfrm>
            <a:off x="9702800" y="2514600"/>
            <a:ext cx="1981200" cy="25400"/>
          </a:xfrm>
          <a:prstGeom prst="rect">
            <a:avLst/>
          </a:prstGeom>
          <a:solidFill>
            <a:srgbClr val="85640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StageDesc3">
            <a:extLst>
              <a:ext uri="{FF2B5EF4-FFF2-40B4-BE49-F238E27FC236}">
                <a16:creationId xmlns:a16="http://schemas.microsoft.com/office/drawing/2014/main" id="{17D9497E-AD7E-0646-842C-51C46F45823E}"/>
              </a:ext>
            </a:extLst>
          </p:cNvPr>
          <p:cNvSpPr txBox="1"/>
          <p:nvPr/>
        </p:nvSpPr>
        <p:spPr>
          <a:xfrm>
            <a:off x="9601200" y="2667000"/>
            <a:ext cx="2184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400">
                <a:solidFill>
                  <a:srgbClr val="3D3D5C"/>
                </a:solidFill>
                <a:latin typeface="Open Sans"/>
                <a:ea typeface="Open Sans"/>
                <a:cs typeface="Open Sans"/>
              </a:rPr>
              <a:t>Du beschreibst, KI baut. Entwickler = Architekt &amp; Verifikator.
Maximale Geschwindigkeit.</a:t>
            </a:r>
          </a:p>
        </p:txBody>
      </p:sp>
      <p:sp>
        <p:nvSpPr>
          <p:cNvPr id="29" name="StageEx3">
            <a:extLst>
              <a:ext uri="{FF2B5EF4-FFF2-40B4-BE49-F238E27FC236}">
                <a16:creationId xmlns:a16="http://schemas.microsoft.com/office/drawing/2014/main" id="{09BD6FB4-8C8D-EF46-A980-0CFF462DACC2}"/>
              </a:ext>
            </a:extLst>
          </p:cNvPr>
          <p:cNvSpPr txBox="1"/>
          <p:nvPr/>
        </p:nvSpPr>
        <p:spPr>
          <a:xfrm>
            <a:off x="9601200" y="4572000"/>
            <a:ext cx="2184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300" i="1">
                <a:solidFill>
                  <a:srgbClr val="856404"/>
                </a:solidFill>
                <a:latin typeface="Open Sans"/>
                <a:ea typeface="Open Sans"/>
                <a:cs typeface="Open Sans"/>
              </a:rPr>
              <a:t>Full-on-vibes, baby 🚀</a:t>
            </a:r>
          </a:p>
        </p:txBody>
      </p:sp>
      <p:sp>
        <p:nvSpPr>
          <p:cNvPr id="30" name="KeyMsg">
            <a:extLst>
              <a:ext uri="{FF2B5EF4-FFF2-40B4-BE49-F238E27FC236}">
                <a16:creationId xmlns:a16="http://schemas.microsoft.com/office/drawing/2014/main" id="{405CDA6F-59D3-364D-B068-6E22DD4E68B6}"/>
              </a:ext>
            </a:extLst>
          </p:cNvPr>
          <p:cNvSpPr txBox="1"/>
          <p:nvPr/>
        </p:nvSpPr>
        <p:spPr>
          <a:xfrm>
            <a:off x="228600" y="5867400"/>
            <a:ext cx="1173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500" i="1" dirty="0">
                <a:solidFill>
                  <a:srgbClr val="374151"/>
                </a:solidFill>
                <a:latin typeface="Open Sans"/>
                <a:ea typeface="Open Sans"/>
                <a:cs typeface="Open Sans"/>
              </a:rPr>
              <a:t>Jede Stufe bringt Mehrwert — auch ohne die nächste</a:t>
            </a:r>
          </a:p>
        </p:txBody>
      </p:sp>
      <p:pic>
        <p:nvPicPr>
          <p:cNvPr id="31" name="Graphic 31" descr="Chat icon für Stuf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600" y="5118100"/>
            <a:ext cx="457200" cy="457200"/>
          </a:xfrm>
          <a:prstGeom prst="rect">
            <a:avLst/>
          </a:prstGeom>
        </p:spPr>
      </p:pic>
      <p:pic>
        <p:nvPicPr>
          <p:cNvPr id="32" name="Graphic 32" descr="Lightning icon für Stufe 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8000" y="5118100"/>
            <a:ext cx="457200" cy="457200"/>
          </a:xfrm>
          <a:prstGeom prst="rect">
            <a:avLst/>
          </a:prstGeom>
        </p:spPr>
      </p:pic>
      <p:pic>
        <p:nvPicPr>
          <p:cNvPr id="33" name="Graphic 33" descr="AI icon für Stufe 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91400" y="5118100"/>
            <a:ext cx="457200" cy="457200"/>
          </a:xfrm>
          <a:prstGeom prst="rect">
            <a:avLst/>
          </a:prstGeom>
        </p:spPr>
      </p:pic>
      <p:pic>
        <p:nvPicPr>
          <p:cNvPr id="34" name="Graphic 34" descr="Rocket icon für Stufe 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64800" y="51181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87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FD022-B998-E52B-139D-3FB9A4832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Was das fürs Unternehmen heißt</a:t>
            </a:r>
          </a:p>
        </p:txBody>
      </p:sp>
      <p:pic>
        <p:nvPicPr>
          <p:cNvPr id="3" name="Graphic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609600" cy="609600"/>
          </a:xfrm>
          <a:prstGeom prst="rect">
            <a:avLst/>
          </a:prstGeom>
        </p:spPr>
      </p:pic>
      <p:pic>
        <p:nvPicPr>
          <p:cNvPr id="4" name="Graphic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857500"/>
            <a:ext cx="609600" cy="609600"/>
          </a:xfrm>
          <a:prstGeom prst="rect">
            <a:avLst/>
          </a:prstGeom>
        </p:spPr>
      </p:pic>
      <p:pic>
        <p:nvPicPr>
          <p:cNvPr id="5" name="Graphic 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00500"/>
            <a:ext cx="609600" cy="609600"/>
          </a:xfrm>
          <a:prstGeom prst="rect">
            <a:avLst/>
          </a:prstGeom>
        </p:spPr>
      </p:pic>
      <p:pic>
        <p:nvPicPr>
          <p:cNvPr id="6" name="Graphic 6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143500"/>
            <a:ext cx="609600" cy="609600"/>
          </a:xfrm>
          <a:prstGeom prst="rect">
            <a:avLst/>
          </a:prstGeom>
        </p:spPr>
      </p:pic>
      <p:sp>
        <p:nvSpPr>
          <p:cNvPr id="90" name="Item90"/>
          <p:cNvSpPr/>
          <p:nvPr/>
        </p:nvSpPr>
        <p:spPr>
          <a:xfrm>
            <a:off x="2000000" y="1714500"/>
            <a:ext cx="95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ctr"/>
          <a:lstStyle/>
          <a:p>
            <a:pPr>
              <a:spcAft>
                <a:spcPts val="200"/>
              </a:spcAft>
            </a:pPr>
            <a:r>
              <a:rPr lang="de-DE" sz="2200" b="1" dirty="0">
                <a:solidFill>
                  <a:srgbClr val="212B80"/>
                </a:solidFill>
                <a:latin typeface="Open Sans"/>
              </a:rPr>
              <a:t>Hiring</a:t>
            </a:r>
          </a:p>
          <a:p>
            <a:r>
              <a:rPr lang="de-DE" sz="1800" dirty="0">
                <a:solidFill>
                  <a:srgbClr val="666666"/>
                </a:solidFill>
                <a:latin typeface="Open Sans"/>
              </a:rPr>
              <a:t>Problemlöser suchen, nicht nur Programmierer</a:t>
            </a:r>
          </a:p>
        </p:txBody>
      </p:sp>
      <p:sp>
        <p:nvSpPr>
          <p:cNvPr id="91" name="Item91"/>
          <p:cNvSpPr/>
          <p:nvPr/>
        </p:nvSpPr>
        <p:spPr>
          <a:xfrm>
            <a:off x="2000000" y="2857500"/>
            <a:ext cx="95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ctr"/>
          <a:lstStyle/>
          <a:p>
            <a:pPr>
              <a:spcAft>
                <a:spcPts val="200"/>
              </a:spcAft>
            </a:pPr>
            <a:r>
              <a:rPr lang="de-DE" sz="2200" b="1" dirty="0">
                <a:solidFill>
                  <a:srgbClr val="212B80"/>
                </a:solidFill>
                <a:latin typeface="Open Sans"/>
              </a:rPr>
              <a:t>Training</a:t>
            </a:r>
          </a:p>
          <a:p>
            <a:r>
              <a:rPr lang="de-DE" sz="1800" dirty="0">
                <a:solidFill>
                  <a:srgbClr val="666666"/>
                </a:solidFill>
                <a:latin typeface="Open Sans"/>
              </a:rPr>
              <a:t>Prompt Engineering als Pflicht-Skill</a:t>
            </a:r>
          </a:p>
        </p:txBody>
      </p:sp>
      <p:sp>
        <p:nvSpPr>
          <p:cNvPr id="92" name="Item92"/>
          <p:cNvSpPr/>
          <p:nvPr/>
        </p:nvSpPr>
        <p:spPr>
          <a:xfrm>
            <a:off x="2000000" y="4000500"/>
            <a:ext cx="95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ctr"/>
          <a:lstStyle/>
          <a:p>
            <a:pPr>
              <a:spcAft>
                <a:spcPts val="200"/>
              </a:spcAft>
            </a:pPr>
            <a:r>
              <a:rPr lang="de-DE" sz="2200" b="1" dirty="0">
                <a:solidFill>
                  <a:srgbClr val="212B80"/>
                </a:solidFill>
                <a:latin typeface="Open Sans"/>
              </a:rPr>
              <a:t>Reviews</a:t>
            </a:r>
          </a:p>
          <a:p>
            <a:r>
              <a:rPr lang="de-DE" sz="1800" dirty="0">
                <a:solidFill>
                  <a:srgbClr val="666666"/>
                </a:solidFill>
                <a:latin typeface="Open Sans"/>
              </a:rPr>
              <a:t>Lösungs-Qualität statt nur Code-Qualität</a:t>
            </a:r>
          </a:p>
        </p:txBody>
      </p:sp>
      <p:sp>
        <p:nvSpPr>
          <p:cNvPr id="93" name="Item93"/>
          <p:cNvSpPr/>
          <p:nvPr/>
        </p:nvSpPr>
        <p:spPr>
          <a:xfrm>
            <a:off x="2000000" y="5143500"/>
            <a:ext cx="95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ctr"/>
          <a:lstStyle/>
          <a:p>
            <a:pPr>
              <a:spcAft>
                <a:spcPts val="200"/>
              </a:spcAft>
            </a:pPr>
            <a:r>
              <a:rPr lang="de-DE" sz="2200" b="1" dirty="0">
                <a:solidFill>
                  <a:srgbClr val="212B80"/>
                </a:solidFill>
                <a:latin typeface="Open Sans"/>
              </a:rPr>
              <a:t>Kultur</a:t>
            </a:r>
          </a:p>
          <a:p>
            <a:r>
              <a:rPr lang="de-DE" sz="1800" dirty="0">
                <a:solidFill>
                  <a:srgbClr val="666666"/>
                </a:solidFill>
                <a:latin typeface="Open Sans"/>
              </a:rPr>
              <a:t>Safe-to-Fail-Umgebung für KI-Experimente</a:t>
            </a:r>
          </a:p>
        </p:txBody>
      </p:sp>
    </p:spTree>
    <p:extLst>
      <p:ext uri="{BB962C8B-B14F-4D97-AF65-F5344CB8AC3E}">
        <p14:creationId xmlns:p14="http://schemas.microsoft.com/office/powerpoint/2010/main" val="2747450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6E98A0-18DA-6DD9-6830-E5F15408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Vibe Coding — Was ist das?</a:t>
            </a:r>
          </a:p>
        </p:txBody>
      </p:sp>
      <p:sp>
        <p:nvSpPr>
          <p:cNvPr id="100" name="Circle0"/>
          <p:cNvSpPr/>
          <p:nvPr/>
        </p:nvSpPr>
        <p:spPr>
          <a:xfrm>
            <a:off x="1000000" y="2000000"/>
            <a:ext cx="600000" cy="60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01" name="Label0"/>
          <p:cNvSpPr/>
          <p:nvPr/>
        </p:nvSpPr>
        <p:spPr>
          <a:xfrm>
            <a:off x="400000" y="2750000"/>
            <a:ext cx="1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600" b="1" dirty="0">
                <a:solidFill>
                  <a:srgbClr val="212121"/>
                </a:solidFill>
                <a:latin typeface="Open Sans"/>
              </a:rPr>
              <a:t>Idee
beschreiben</a:t>
            </a:r>
          </a:p>
        </p:txBody>
      </p:sp>
      <p:sp>
        <p:nvSpPr>
          <p:cNvPr id="120" name="Arrow0"/>
          <p:cNvSpPr/>
          <p:nvPr/>
        </p:nvSpPr>
        <p:spPr>
          <a:xfrm>
            <a:off x="2200000" y="2150000"/>
            <a:ext cx="350000" cy="300000"/>
          </a:xfrm>
          <a:prstGeom prst="rightArrow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2" name="Circle1"/>
          <p:cNvSpPr/>
          <p:nvPr/>
        </p:nvSpPr>
        <p:spPr>
          <a:xfrm>
            <a:off x="3300000" y="2000000"/>
            <a:ext cx="600000" cy="60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03" name="Label1"/>
          <p:cNvSpPr/>
          <p:nvPr/>
        </p:nvSpPr>
        <p:spPr>
          <a:xfrm>
            <a:off x="2700000" y="2750000"/>
            <a:ext cx="1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600" b="1" dirty="0">
                <a:solidFill>
                  <a:srgbClr val="212121"/>
                </a:solidFill>
                <a:latin typeface="Open Sans"/>
              </a:rPr>
              <a:t>KI plant
Architektur</a:t>
            </a:r>
          </a:p>
        </p:txBody>
      </p:sp>
      <p:sp>
        <p:nvSpPr>
          <p:cNvPr id="121" name="Arrow1"/>
          <p:cNvSpPr/>
          <p:nvPr/>
        </p:nvSpPr>
        <p:spPr>
          <a:xfrm>
            <a:off x="4500000" y="2150000"/>
            <a:ext cx="350000" cy="300000"/>
          </a:xfrm>
          <a:prstGeom prst="rightArrow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4" name="Circle2"/>
          <p:cNvSpPr/>
          <p:nvPr/>
        </p:nvSpPr>
        <p:spPr>
          <a:xfrm>
            <a:off x="5600000" y="2000000"/>
            <a:ext cx="600000" cy="60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105" name="Label2"/>
          <p:cNvSpPr/>
          <p:nvPr/>
        </p:nvSpPr>
        <p:spPr>
          <a:xfrm>
            <a:off x="5000000" y="2750000"/>
            <a:ext cx="1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600" b="1" dirty="0">
                <a:solidFill>
                  <a:srgbClr val="212121"/>
                </a:solidFill>
                <a:latin typeface="Open Sans"/>
              </a:rPr>
              <a:t>KI
implementiert</a:t>
            </a:r>
          </a:p>
        </p:txBody>
      </p:sp>
      <p:sp>
        <p:nvSpPr>
          <p:cNvPr id="122" name="Arrow2"/>
          <p:cNvSpPr/>
          <p:nvPr/>
        </p:nvSpPr>
        <p:spPr>
          <a:xfrm>
            <a:off x="6800000" y="2150000"/>
            <a:ext cx="350000" cy="300000"/>
          </a:xfrm>
          <a:prstGeom prst="rightArrow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6" name="Circle3"/>
          <p:cNvSpPr/>
          <p:nvPr/>
        </p:nvSpPr>
        <p:spPr>
          <a:xfrm>
            <a:off x="7900000" y="2000000"/>
            <a:ext cx="600000" cy="60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107" name="Label3"/>
          <p:cNvSpPr/>
          <p:nvPr/>
        </p:nvSpPr>
        <p:spPr>
          <a:xfrm>
            <a:off x="7300000" y="2750000"/>
            <a:ext cx="1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600" b="1" dirty="0">
                <a:solidFill>
                  <a:srgbClr val="212121"/>
                </a:solidFill>
                <a:latin typeface="Open Sans"/>
              </a:rPr>
              <a:t>Du
verifizierst</a:t>
            </a:r>
          </a:p>
        </p:txBody>
      </p:sp>
      <p:sp>
        <p:nvSpPr>
          <p:cNvPr id="123" name="Arrow3"/>
          <p:cNvSpPr/>
          <p:nvPr/>
        </p:nvSpPr>
        <p:spPr>
          <a:xfrm>
            <a:off x="9100000" y="2150000"/>
            <a:ext cx="350000" cy="300000"/>
          </a:xfrm>
          <a:prstGeom prst="rightArrow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8" name="Circle4"/>
          <p:cNvSpPr/>
          <p:nvPr/>
        </p:nvSpPr>
        <p:spPr>
          <a:xfrm>
            <a:off x="10200000" y="2000000"/>
            <a:ext cx="600000" cy="600000"/>
          </a:xfrm>
          <a:prstGeom prst="ellipse">
            <a:avLst/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  <a:latin typeface="Open Sans"/>
              </a:rPr>
              <a:t>5</a:t>
            </a:r>
          </a:p>
        </p:txBody>
      </p:sp>
      <p:sp>
        <p:nvSpPr>
          <p:cNvPr id="109" name="Label4"/>
          <p:cNvSpPr/>
          <p:nvPr/>
        </p:nvSpPr>
        <p:spPr>
          <a:xfrm>
            <a:off x="9600000" y="2750000"/>
            <a:ext cx="18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600" b="1" dirty="0">
                <a:solidFill>
                  <a:srgbClr val="212121"/>
                </a:solidFill>
                <a:latin typeface="Open Sans"/>
              </a:rPr>
              <a:t>KI
iteriert</a:t>
            </a:r>
          </a:p>
        </p:txBody>
      </p:sp>
      <p:sp>
        <p:nvSpPr>
          <p:cNvPr id="130" name="KeyMsg"/>
          <p:cNvSpPr/>
          <p:nvPr/>
        </p:nvSpPr>
        <p:spPr>
          <a:xfrm>
            <a:off x="1500000" y="4800000"/>
            <a:ext cx="9000000" cy="600000"/>
          </a:xfrm>
          <a:prstGeom prst="roundRect">
            <a:avLst/>
          </a:prstGeom>
          <a:solidFill>
            <a:srgbClr val="212B80"/>
          </a:solidFill>
          <a:ln>
            <a:noFill/>
          </a:ln>
        </p:spPr>
        <p:txBody>
          <a:bodyPr lIns="91440" rIns="91440" anchor="ctr"/>
          <a:lstStyle/>
          <a:p>
            <a:pPr algn="ctr"/>
            <a:r>
              <a:rPr lang="de-DE" sz="2000" b="1" dirty="0">
                <a:solidFill>
                  <a:srgbClr val="FFFFFF"/>
                </a:solidFill>
                <a:latin typeface="Open Sans"/>
              </a:rPr>
              <a:t>Du bist Architekt und Verifikator, KI ist Umsetzer.</a:t>
            </a:r>
          </a:p>
        </p:txBody>
      </p:sp>
    </p:spTree>
    <p:extLst>
      <p:ext uri="{BB962C8B-B14F-4D97-AF65-F5344CB8AC3E}">
        <p14:creationId xmlns:p14="http://schemas.microsoft.com/office/powerpoint/2010/main" val="3473962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AD8361-5381-F412-EA48-5B815292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>
                <a:ea typeface="Open Sans"/>
                <a:cs typeface="Open Sans"/>
              </a:rPr>
              <a:t>Vibe Coding — Der Unterschied</a:t>
            </a:r>
          </a:p>
        </p:txBody>
      </p:sp>
      <p:sp>
        <p:nvSpPr>
          <p:cNvPr id="140" name="VageH"/>
          <p:cNvSpPr/>
          <p:nvPr/>
        </p:nvSpPr>
        <p:spPr>
          <a:xfrm>
            <a:off x="400000" y="1500000"/>
            <a:ext cx="5300000" cy="5000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txBody>
          <a:bodyPr lIns="91440" anchor="ctr"/>
          <a:lstStyle/>
          <a:p>
            <a:pPr algn="ctr"/>
            <a:r>
              <a:rPr lang="de-DE" sz="2200" b="1" dirty="0">
                <a:solidFill>
                  <a:srgbClr val="C53030"/>
                </a:solidFill>
                <a:latin typeface="Open Sans"/>
              </a:rPr>
              <a:t>VAGE</a:t>
            </a:r>
          </a:p>
        </p:txBody>
      </p:sp>
      <p:sp>
        <p:nvSpPr>
          <p:cNvPr id="141" name="VageC"/>
          <p:cNvSpPr/>
          <p:nvPr/>
        </p:nvSpPr>
        <p:spPr>
          <a:xfrm>
            <a:off x="400000" y="2100000"/>
            <a:ext cx="5300000" cy="28000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>
            <a:noFill/>
          </a:ln>
        </p:spPr>
        <p:txBody>
          <a:bodyPr wrap="square" lIns="137160" tIns="137160" rIns="91440" anchor="t"/>
          <a:lstStyle/>
          <a:p>
            <a:pPr>
              <a:spcAft>
                <a:spcPts val="800"/>
              </a:spcAft>
            </a:pPr>
            <a:r>
              <a:rPr lang="de-DE" sz="1600" dirty="0">
                <a:solidFill>
                  <a:srgbClr val="A0AEC0"/>
                </a:solidFill>
                <a:latin typeface="Consolas"/>
              </a:rPr>
              <a:t>"Baue eine Login-Funktion"</a:t>
            </a:r>
          </a:p>
          <a:p>
            <a:pPr>
              <a:spcBef>
                <a:spcPts val="600"/>
              </a:spcBef>
            </a:pPr>
            <a:r>
              <a:rPr lang="de-DE" sz="1600" dirty="0">
                <a:solidFill>
                  <a:srgbClr val="FC8181"/>
                </a:solidFill>
                <a:latin typeface="Open Sans"/>
              </a:rPr>
              <a:t>→ KI fragt 5x nach</a:t>
            </a:r>
          </a:p>
          <a:p>
            <a:r>
              <a:rPr lang="de-DE" sz="1600" dirty="0">
                <a:solidFill>
                  <a:srgbClr val="FC8181"/>
                </a:solidFill>
                <a:latin typeface="Open Sans"/>
              </a:rPr>
              <a:t>→ stoppt</a:t>
            </a:r>
          </a:p>
          <a:p>
            <a:r>
              <a:rPr lang="de-DE" sz="1600" dirty="0">
                <a:solidFill>
                  <a:srgbClr val="FC8181"/>
                </a:solidFill>
                <a:latin typeface="Open Sans"/>
              </a:rPr>
              <a:t>→ rät Details</a:t>
            </a:r>
          </a:p>
        </p:txBody>
      </p:sp>
      <p:sp>
        <p:nvSpPr>
          <p:cNvPr id="142" name="KonkretH"/>
          <p:cNvSpPr/>
          <p:nvPr/>
        </p:nvSpPr>
        <p:spPr>
          <a:xfrm>
            <a:off x="6300000" y="1500000"/>
            <a:ext cx="5300000" cy="50000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>
            <a:noFill/>
          </a:ln>
        </p:spPr>
        <p:txBody>
          <a:bodyPr lIns="91440" anchor="ctr"/>
          <a:lstStyle/>
          <a:p>
            <a:pPr algn="ctr"/>
            <a:r>
              <a:rPr lang="de-DE" sz="2200" b="1" dirty="0">
                <a:solidFill>
                  <a:srgbClr val="276749"/>
                </a:solidFill>
                <a:latin typeface="Open Sans"/>
              </a:rPr>
              <a:t>KONKRET</a:t>
            </a:r>
          </a:p>
        </p:txBody>
      </p:sp>
      <p:sp>
        <p:nvSpPr>
          <p:cNvPr id="143" name="KonkretC"/>
          <p:cNvSpPr/>
          <p:nvPr/>
        </p:nvSpPr>
        <p:spPr>
          <a:xfrm>
            <a:off x="6300000" y="2100000"/>
            <a:ext cx="5300000" cy="28000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>
            <a:noFill/>
          </a:ln>
        </p:spPr>
        <p:txBody>
          <a:bodyPr wrap="square" lIns="137160" tIns="137160" r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A0AEC0"/>
                </a:solidFill>
                <a:latin typeface="Consolas"/>
              </a:rPr>
              <a:t>"Baue eine Login-Funktion die folgende Spezifikation hat:</a:t>
            </a:r>
            <a:endParaRPr lang="de-DE" sz="1400" dirty="0">
              <a:solidFill>
                <a:srgbClr val="68D391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endParaRPr lang="de-DE" sz="1400" dirty="0">
              <a:solidFill>
                <a:srgbClr val="68D391"/>
              </a:solidFill>
              <a:latin typeface="Consolas"/>
            </a:endParaRP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68D391"/>
                </a:solidFill>
                <a:latin typeface="Consolas"/>
              </a:rPr>
              <a:t>POST /api/v1/auth/login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A0AEC0"/>
                </a:solidFill>
                <a:latin typeface="Consolas"/>
              </a:rPr>
              <a:t>Body: { email, password }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A0AEC0"/>
                </a:solidFill>
                <a:latin typeface="Consolas"/>
              </a:rPr>
              <a:t>Response: { token, expiresIn }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A0AEC0"/>
                </a:solidFill>
                <a:latin typeface="Consolas"/>
              </a:rPr>
              <a:t>Fehler: 401 </a:t>
            </a:r>
            <a:r>
              <a:rPr lang="de-DE" sz="1400" dirty="0" err="1">
                <a:solidFill>
                  <a:srgbClr val="A0AEC0"/>
                </a:solidFill>
                <a:latin typeface="Consolas"/>
              </a:rPr>
              <a:t>Unauthorized</a:t>
            </a:r>
            <a:r>
              <a:rPr lang="de-DE" sz="1400" dirty="0">
                <a:solidFill>
                  <a:srgbClr val="A0AEC0"/>
                </a:solidFill>
                <a:latin typeface="Consolas"/>
              </a:rPr>
              <a:t>"</a:t>
            </a:r>
          </a:p>
          <a:p>
            <a:pPr>
              <a:spcBef>
                <a:spcPts val="600"/>
              </a:spcBef>
            </a:pPr>
            <a:r>
              <a:rPr lang="de-DE" sz="1600" dirty="0">
                <a:solidFill>
                  <a:srgbClr val="68D391"/>
                </a:solidFill>
                <a:latin typeface="Open Sans"/>
              </a:rPr>
              <a:t>→ KI baut durch ohne Rückfrage</a:t>
            </a:r>
          </a:p>
        </p:txBody>
      </p:sp>
      <p:sp>
        <p:nvSpPr>
          <p:cNvPr id="144" name="VS"/>
          <p:cNvSpPr/>
          <p:nvPr/>
        </p:nvSpPr>
        <p:spPr>
          <a:xfrm>
            <a:off x="5700000" y="2800000"/>
            <a:ext cx="600000" cy="60000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2400" b="1" dirty="0">
                <a:solidFill>
                  <a:srgbClr val="3F59FF"/>
                </a:solidFill>
                <a:latin typeface="Open Sans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79771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07C926-EFCD-85BE-EE91-027FEB5F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KERNEL-Framework — Übersicht</a:t>
            </a:r>
          </a:p>
        </p:txBody>
      </p:sp>
      <p:sp>
        <p:nvSpPr>
          <p:cNvPr id="150" name="Letter0"/>
          <p:cNvSpPr/>
          <p:nvPr/>
        </p:nvSpPr>
        <p:spPr>
          <a:xfrm>
            <a:off x="30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K</a:t>
            </a:r>
          </a:p>
        </p:txBody>
      </p:sp>
      <p:sp>
        <p:nvSpPr>
          <p:cNvPr id="151" name="Desc0"/>
          <p:cNvSpPr/>
          <p:nvPr/>
        </p:nvSpPr>
        <p:spPr>
          <a:xfrm>
            <a:off x="30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Keep it simple</a:t>
            </a:r>
          </a:p>
        </p:txBody>
      </p:sp>
      <p:sp>
        <p:nvSpPr>
          <p:cNvPr id="152" name="Letter1"/>
          <p:cNvSpPr/>
          <p:nvPr/>
        </p:nvSpPr>
        <p:spPr>
          <a:xfrm>
            <a:off x="225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E</a:t>
            </a:r>
          </a:p>
        </p:txBody>
      </p:sp>
      <p:sp>
        <p:nvSpPr>
          <p:cNvPr id="153" name="Desc1"/>
          <p:cNvSpPr/>
          <p:nvPr/>
        </p:nvSpPr>
        <p:spPr>
          <a:xfrm>
            <a:off x="225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Explicit constraints</a:t>
            </a:r>
          </a:p>
        </p:txBody>
      </p:sp>
      <p:sp>
        <p:nvSpPr>
          <p:cNvPr id="154" name="Letter2"/>
          <p:cNvSpPr/>
          <p:nvPr/>
        </p:nvSpPr>
        <p:spPr>
          <a:xfrm>
            <a:off x="420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R</a:t>
            </a:r>
          </a:p>
        </p:txBody>
      </p:sp>
      <p:sp>
        <p:nvSpPr>
          <p:cNvPr id="155" name="Desc2"/>
          <p:cNvSpPr/>
          <p:nvPr/>
        </p:nvSpPr>
        <p:spPr>
          <a:xfrm>
            <a:off x="420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Reproducible results</a:t>
            </a:r>
          </a:p>
        </p:txBody>
      </p:sp>
      <p:sp>
        <p:nvSpPr>
          <p:cNvPr id="156" name="Letter3"/>
          <p:cNvSpPr/>
          <p:nvPr/>
        </p:nvSpPr>
        <p:spPr>
          <a:xfrm>
            <a:off x="615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N</a:t>
            </a:r>
          </a:p>
        </p:txBody>
      </p:sp>
      <p:sp>
        <p:nvSpPr>
          <p:cNvPr id="157" name="Desc3"/>
          <p:cNvSpPr/>
          <p:nvPr/>
        </p:nvSpPr>
        <p:spPr>
          <a:xfrm>
            <a:off x="615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Narrow scope</a:t>
            </a:r>
          </a:p>
        </p:txBody>
      </p:sp>
      <p:sp>
        <p:nvSpPr>
          <p:cNvPr id="158" name="Letter4"/>
          <p:cNvSpPr/>
          <p:nvPr/>
        </p:nvSpPr>
        <p:spPr>
          <a:xfrm>
            <a:off x="810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E</a:t>
            </a:r>
          </a:p>
        </p:txBody>
      </p:sp>
      <p:sp>
        <p:nvSpPr>
          <p:cNvPr id="159" name="Desc4"/>
          <p:cNvSpPr/>
          <p:nvPr/>
        </p:nvSpPr>
        <p:spPr>
          <a:xfrm>
            <a:off x="810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Easy to verify</a:t>
            </a:r>
          </a:p>
        </p:txBody>
      </p:sp>
      <p:sp>
        <p:nvSpPr>
          <p:cNvPr id="160" name="Letter5"/>
          <p:cNvSpPr/>
          <p:nvPr/>
        </p:nvSpPr>
        <p:spPr>
          <a:xfrm>
            <a:off x="10050000" y="1700000"/>
            <a:ext cx="1800000" cy="9000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4800" b="1" dirty="0">
                <a:solidFill>
                  <a:srgbClr val="FFFFFF"/>
                </a:solidFill>
                <a:latin typeface="Open Sans"/>
              </a:rPr>
              <a:t>L</a:t>
            </a:r>
          </a:p>
        </p:txBody>
      </p:sp>
      <p:sp>
        <p:nvSpPr>
          <p:cNvPr id="161" name="Desc5"/>
          <p:cNvSpPr/>
          <p:nvPr/>
        </p:nvSpPr>
        <p:spPr>
          <a:xfrm>
            <a:off x="10050000" y="280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anchor="t"/>
          <a:lstStyle/>
          <a:p>
            <a:pPr algn="ctr"/>
            <a:r>
              <a:rPr lang="de-DE" sz="1400" b="1" dirty="0">
                <a:solidFill>
                  <a:srgbClr val="212121"/>
                </a:solidFill>
                <a:latin typeface="Open Sans"/>
              </a:rPr>
              <a:t>Logical structure</a:t>
            </a:r>
          </a:p>
        </p:txBody>
      </p:sp>
      <p:sp>
        <p:nvSpPr>
          <p:cNvPr id="170" name="Sub"/>
          <p:cNvSpPr/>
          <p:nvPr/>
        </p:nvSpPr>
        <p:spPr>
          <a:xfrm>
            <a:off x="1000000" y="480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de-DE" sz="1800" i="1" dirty="0">
                <a:solidFill>
                  <a:srgbClr val="666666"/>
                </a:solidFill>
                <a:latin typeface="Open Sans"/>
              </a:rPr>
              <a:t>6 Prinzipien für Prompts die beim ersten Versuch funktionieren</a:t>
            </a:r>
          </a:p>
        </p:txBody>
      </p:sp>
    </p:spTree>
    <p:extLst>
      <p:ext uri="{BB962C8B-B14F-4D97-AF65-F5344CB8AC3E}">
        <p14:creationId xmlns:p14="http://schemas.microsoft.com/office/powerpoint/2010/main" val="432401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DC2E5-A38A-B229-7FAB-748FCA7A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K — Keep it simple</a:t>
            </a:r>
          </a:p>
        </p:txBody>
      </p:sp>
      <p:sp>
        <p:nvSpPr>
          <p:cNvPr id="180" name="Rule"/>
          <p:cNvSpPr/>
          <p:nvPr/>
        </p:nvSpPr>
        <p:spPr>
          <a:xfrm>
            <a:off x="600000" y="1500000"/>
            <a:ext cx="10800000" cy="600000"/>
          </a:xfrm>
          <a:prstGeom prst="roundRect">
            <a:avLst/>
          </a:prstGeom>
          <a:solidFill>
            <a:srgbClr val="212B80"/>
          </a:solidFill>
          <a:ln w="25400">
            <a:solidFill>
              <a:srgbClr val="3F59FF"/>
            </a:solidFill>
          </a:ln>
        </p:spPr>
        <p:txBody>
          <a:bodyPr lIns="137160" anchor="ctr"/>
          <a:lstStyle/>
          <a:p>
            <a:r>
              <a:rPr lang="de-DE" sz="2200" b="1" dirty="0">
                <a:solidFill>
                  <a:srgbClr val="FFFFFF"/>
                </a:solidFill>
                <a:latin typeface="Open Sans"/>
              </a:rPr>
              <a:t>Regel: "Ein Prompt = ein Ziel"</a:t>
            </a:r>
          </a:p>
        </p:txBody>
      </p:sp>
      <p:sp>
        <p:nvSpPr>
          <p:cNvPr id="181" name="Bad"/>
          <p:cNvSpPr/>
          <p:nvPr/>
        </p:nvSpPr>
        <p:spPr>
          <a:xfrm>
            <a:off x="600000" y="2400000"/>
            <a:ext cx="10800000" cy="1200000"/>
          </a:xfrm>
          <a:prstGeom prst="roundRect">
            <a:avLst>
              <a:gd name="adj" fmla="val 5000"/>
            </a:avLst>
          </a:prstGeom>
          <a:solidFill>
            <a:srgbClr val="FED7D7"/>
          </a:solidFill>
          <a:ln>
            <a:solidFill>
              <a:srgbClr val="FF6B6B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C53030"/>
                </a:solidFill>
                <a:latin typeface="Open Sans"/>
              </a:rPr>
              <a:t>Schlecht:</a:t>
            </a:r>
          </a:p>
          <a:p>
            <a:r>
              <a:rPr lang="de-DE" sz="1600" dirty="0">
                <a:solidFill>
                  <a:srgbClr val="212121"/>
                </a:solidFill>
                <a:latin typeface="Consolas"/>
              </a:rPr>
              <a:t>"Erstelle User-API mit Login, Registrierung, Passwort-Reset und Tests"</a:t>
            </a:r>
          </a:p>
        </p:txBody>
      </p:sp>
      <p:sp>
        <p:nvSpPr>
          <p:cNvPr id="182" name="Good"/>
          <p:cNvSpPr/>
          <p:nvPr/>
        </p:nvSpPr>
        <p:spPr>
          <a:xfrm>
            <a:off x="600000" y="3900000"/>
            <a:ext cx="10800000" cy="2159000"/>
          </a:xfrm>
          <a:prstGeom prst="roundRect">
            <a:avLst>
              <a:gd name="adj" fmla="val 5000"/>
            </a:avLst>
          </a:prstGeom>
          <a:solidFill>
            <a:srgbClr val="C6F6D5"/>
          </a:solidFill>
          <a:ln>
            <a:solidFill>
              <a:srgbClr val="34D399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276749"/>
                </a:solidFill>
                <a:latin typeface="Open Sans"/>
              </a:rPr>
              <a:t>Gut:</a:t>
            </a:r>
          </a:p>
          <a:p>
            <a:r>
              <a:rPr lang="de-DE" sz="1600" dirty="0">
                <a:solidFill>
                  <a:srgbClr val="212121"/>
                </a:solidFill>
                <a:latin typeface="Consolas"/>
              </a:rPr>
              <a:t>"Erstelle POST /api/users Endpoint für User-Registrierung"</a:t>
            </a:r>
          </a:p>
        </p:txBody>
      </p:sp>
    </p:spTree>
    <p:extLst>
      <p:ext uri="{BB962C8B-B14F-4D97-AF65-F5344CB8AC3E}">
        <p14:creationId xmlns:p14="http://schemas.microsoft.com/office/powerpoint/2010/main" val="2658801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A3C9BD-18A8-EE95-6A41-4E85967F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E — Explicit constraints</a:t>
            </a:r>
          </a:p>
        </p:txBody>
      </p:sp>
      <p:sp>
        <p:nvSpPr>
          <p:cNvPr id="190" name="Rule"/>
          <p:cNvSpPr/>
          <p:nvPr/>
        </p:nvSpPr>
        <p:spPr>
          <a:xfrm>
            <a:off x="600000" y="1500000"/>
            <a:ext cx="10800000" cy="600000"/>
          </a:xfrm>
          <a:prstGeom prst="roundRect">
            <a:avLst/>
          </a:prstGeom>
          <a:solidFill>
            <a:srgbClr val="212B80"/>
          </a:solidFill>
          <a:ln w="25400">
            <a:solidFill>
              <a:srgbClr val="3F59FF"/>
            </a:solidFill>
          </a:ln>
        </p:spPr>
        <p:txBody>
          <a:bodyPr lIns="137160" anchor="ctr"/>
          <a:lstStyle/>
          <a:p>
            <a:r>
              <a:rPr lang="de-DE" sz="2200" b="1" dirty="0">
                <a:solidFill>
                  <a:srgbClr val="FFFFFF"/>
                </a:solidFill>
                <a:latin typeface="Open Sans"/>
              </a:rPr>
              <a:t>Regel: "Sag der KI was sie NICHT tun soll"</a:t>
            </a:r>
          </a:p>
        </p:txBody>
      </p:sp>
      <p:sp>
        <p:nvSpPr>
          <p:cNvPr id="191" name="Example"/>
          <p:cNvSpPr/>
          <p:nvPr/>
        </p:nvSpPr>
        <p:spPr>
          <a:xfrm>
            <a:off x="600000" y="2500000"/>
            <a:ext cx="10800000" cy="34290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>
            <a:noFill/>
          </a:ln>
        </p:spPr>
        <p:txBody>
          <a:bodyPr wrap="square" lIns="182880" tIns="137160" anchor="t"/>
          <a:lstStyle/>
          <a:p>
            <a:pPr>
              <a:spcAft>
                <a:spcPts val="600"/>
              </a:spcAft>
            </a:pPr>
            <a:r>
              <a:rPr lang="de-DE" sz="1600" b="1" dirty="0">
                <a:solidFill>
                  <a:srgbClr val="FFD440"/>
                </a:solidFill>
                <a:latin typeface="Open Sans"/>
              </a:rPr>
              <a:t>Beispiel:</a:t>
            </a:r>
          </a:p>
          <a:p>
            <a:pPr>
              <a:spcAft>
                <a:spcPts val="600"/>
              </a:spcAft>
            </a:pPr>
            <a:r>
              <a:rPr lang="de-DE" sz="1800" dirty="0">
                <a:solidFill>
                  <a:srgbClr val="68D391"/>
                </a:solidFill>
                <a:latin typeface="Consolas"/>
              </a:rPr>
              <a:t>Java Spring Boot.</a:t>
            </a:r>
          </a:p>
          <a:p>
            <a:pPr>
              <a:spcAft>
                <a:spcPts val="600"/>
              </a:spcAft>
            </a:pPr>
            <a:r>
              <a:rPr lang="de-DE" sz="1800" dirty="0">
                <a:solidFill>
                  <a:srgbClr val="FC8181"/>
                </a:solidFill>
                <a:latin typeface="Consolas"/>
              </a:rPr>
              <a:t>Keine externe Auth-Library.</a:t>
            </a:r>
          </a:p>
          <a:p>
            <a:r>
              <a:rPr lang="de-DE" sz="1800" dirty="0">
                <a:solidFill>
                  <a:srgbClr val="FC8181"/>
                </a:solidFill>
                <a:latin typeface="Consolas"/>
              </a:rPr>
              <a:t>Keine Methoden über 30 Zeilen.</a:t>
            </a:r>
          </a:p>
        </p:txBody>
      </p:sp>
    </p:spTree>
    <p:extLst>
      <p:ext uri="{BB962C8B-B14F-4D97-AF65-F5344CB8AC3E}">
        <p14:creationId xmlns:p14="http://schemas.microsoft.com/office/powerpoint/2010/main" val="109388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BDC9E-C3CF-D3F7-7EB0-CDF3EFB3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R — Reproducible results</a:t>
            </a:r>
          </a:p>
        </p:txBody>
      </p:sp>
      <p:sp>
        <p:nvSpPr>
          <p:cNvPr id="200" name="Rule"/>
          <p:cNvSpPr/>
          <p:nvPr/>
        </p:nvSpPr>
        <p:spPr>
          <a:xfrm>
            <a:off x="600000" y="1500000"/>
            <a:ext cx="10800000" cy="600000"/>
          </a:xfrm>
          <a:prstGeom prst="roundRect">
            <a:avLst/>
          </a:prstGeom>
          <a:solidFill>
            <a:srgbClr val="212B80"/>
          </a:solidFill>
          <a:ln w="25400">
            <a:solidFill>
              <a:srgbClr val="3F59FF"/>
            </a:solidFill>
          </a:ln>
        </p:spPr>
        <p:txBody>
          <a:bodyPr lIns="137160" anchor="ctr"/>
          <a:lstStyle/>
          <a:p>
            <a:r>
              <a:rPr lang="de-DE" sz="2200" b="1" dirty="0">
                <a:solidFill>
                  <a:srgbClr val="FFFFFF"/>
                </a:solidFill>
                <a:latin typeface="Open Sans"/>
              </a:rPr>
              <a:t>Regel: "Keine vagen Referenzen — konkrete Versionen"</a:t>
            </a:r>
          </a:p>
        </p:txBody>
      </p:sp>
      <p:sp>
        <p:nvSpPr>
          <p:cNvPr id="201" name="Bad"/>
          <p:cNvSpPr/>
          <p:nvPr/>
        </p:nvSpPr>
        <p:spPr>
          <a:xfrm>
            <a:off x="600000" y="2400000"/>
            <a:ext cx="10800000" cy="1100000"/>
          </a:xfrm>
          <a:prstGeom prst="roundRect">
            <a:avLst>
              <a:gd name="adj" fmla="val 5000"/>
            </a:avLst>
          </a:prstGeom>
          <a:solidFill>
            <a:srgbClr val="FED7D7"/>
          </a:solidFill>
          <a:ln>
            <a:solidFill>
              <a:srgbClr val="FF6B6B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C53030"/>
                </a:solidFill>
                <a:latin typeface="Open Sans"/>
              </a:rPr>
              <a:t>Schlecht:</a:t>
            </a:r>
          </a:p>
          <a:p>
            <a:r>
              <a:rPr lang="de-DE" sz="1600" dirty="0">
                <a:solidFill>
                  <a:srgbClr val="212121"/>
                </a:solidFill>
                <a:latin typeface="Consolas"/>
              </a:rPr>
              <a:t>"Nutze aktuelle Best Practices"</a:t>
            </a:r>
          </a:p>
        </p:txBody>
      </p:sp>
      <p:sp>
        <p:nvSpPr>
          <p:cNvPr id="202" name="Good"/>
          <p:cNvSpPr/>
          <p:nvPr/>
        </p:nvSpPr>
        <p:spPr>
          <a:xfrm>
            <a:off x="600000" y="3800000"/>
            <a:ext cx="10800000" cy="2159000"/>
          </a:xfrm>
          <a:prstGeom prst="roundRect">
            <a:avLst>
              <a:gd name="adj" fmla="val 5000"/>
            </a:avLst>
          </a:prstGeom>
          <a:solidFill>
            <a:srgbClr val="C6F6D5"/>
          </a:solidFill>
          <a:ln>
            <a:solidFill>
              <a:srgbClr val="34D399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276749"/>
                </a:solidFill>
                <a:latin typeface="Open Sans"/>
              </a:rPr>
              <a:t>Gut:</a:t>
            </a:r>
          </a:p>
          <a:p>
            <a:r>
              <a:rPr lang="de-DE" sz="1600" dirty="0">
                <a:solidFill>
                  <a:srgbClr val="212121"/>
                </a:solidFill>
                <a:latin typeface="Consolas"/>
              </a:rPr>
              <a:t>"Java 17, Spring Boot 3.2, JPA/Hibernate, PostgreSQL 15"</a:t>
            </a:r>
          </a:p>
        </p:txBody>
      </p:sp>
    </p:spTree>
    <p:extLst>
      <p:ext uri="{BB962C8B-B14F-4D97-AF65-F5344CB8AC3E}">
        <p14:creationId xmlns:p14="http://schemas.microsoft.com/office/powerpoint/2010/main" val="3569961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6E610-0475-2061-92B8-203AF0FD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N — Narrow scope</a:t>
            </a:r>
          </a:p>
        </p:txBody>
      </p:sp>
      <p:sp>
        <p:nvSpPr>
          <p:cNvPr id="210" name="Rule"/>
          <p:cNvSpPr/>
          <p:nvPr/>
        </p:nvSpPr>
        <p:spPr>
          <a:xfrm>
            <a:off x="600000" y="1500000"/>
            <a:ext cx="10800000" cy="600000"/>
          </a:xfrm>
          <a:prstGeom prst="roundRect">
            <a:avLst/>
          </a:prstGeom>
          <a:solidFill>
            <a:srgbClr val="212B80"/>
          </a:solidFill>
          <a:ln w="25400">
            <a:solidFill>
              <a:srgbClr val="3F59FF"/>
            </a:solidFill>
          </a:ln>
        </p:spPr>
        <p:txBody>
          <a:bodyPr lIns="137160" anchor="ctr"/>
          <a:lstStyle/>
          <a:p>
            <a:r>
              <a:rPr lang="de-DE" sz="2200" b="1" dirty="0">
                <a:solidFill>
                  <a:srgbClr val="FFFFFF"/>
                </a:solidFill>
                <a:latin typeface="Open Sans"/>
              </a:rPr>
              <a:t>Regel: "Ein Prompt, ein Ziel"</a:t>
            </a:r>
          </a:p>
        </p:txBody>
      </p:sp>
      <p:sp>
        <p:nvSpPr>
          <p:cNvPr id="211" name="Bad"/>
          <p:cNvSpPr/>
          <p:nvPr/>
        </p:nvSpPr>
        <p:spPr>
          <a:xfrm>
            <a:off x="600000" y="2400000"/>
            <a:ext cx="10800000" cy="1100000"/>
          </a:xfrm>
          <a:prstGeom prst="roundRect">
            <a:avLst>
              <a:gd name="adj" fmla="val 5000"/>
            </a:avLst>
          </a:prstGeom>
          <a:solidFill>
            <a:srgbClr val="FED7D7"/>
          </a:solidFill>
          <a:ln>
            <a:solidFill>
              <a:srgbClr val="FF6B6B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C53030"/>
                </a:solidFill>
                <a:latin typeface="Open Sans"/>
              </a:rPr>
              <a:t>Schlecht:</a:t>
            </a:r>
          </a:p>
          <a:p>
            <a:r>
              <a:rPr lang="de-DE" sz="1600" dirty="0">
                <a:solidFill>
                  <a:srgbClr val="212121"/>
                </a:solidFill>
                <a:latin typeface="Open Sans"/>
              </a:rPr>
              <a:t>Code + Tests + Dokumentation in einem Prompt</a:t>
            </a:r>
          </a:p>
        </p:txBody>
      </p:sp>
      <p:sp>
        <p:nvSpPr>
          <p:cNvPr id="212" name="Good"/>
          <p:cNvSpPr/>
          <p:nvPr/>
        </p:nvSpPr>
        <p:spPr>
          <a:xfrm>
            <a:off x="600000" y="3800000"/>
            <a:ext cx="10800000" cy="2159000"/>
          </a:xfrm>
          <a:prstGeom prst="roundRect">
            <a:avLst>
              <a:gd name="adj" fmla="val 5000"/>
            </a:avLst>
          </a:prstGeom>
          <a:solidFill>
            <a:srgbClr val="C6F6D5"/>
          </a:solidFill>
          <a:ln>
            <a:solidFill>
              <a:srgbClr val="34D399"/>
            </a:solidFill>
          </a:ln>
        </p:spPr>
        <p:txBody>
          <a:bodyPr wrap="square" lIns="137160" tIns="91440" anchor="t"/>
          <a:lstStyle/>
          <a:p>
            <a:pPr>
              <a:spcAft>
                <a:spcPts val="400"/>
              </a:spcAft>
            </a:pPr>
            <a:r>
              <a:rPr lang="de-DE" sz="1600" b="1" dirty="0">
                <a:solidFill>
                  <a:srgbClr val="276749"/>
                </a:solidFill>
                <a:latin typeface="Open Sans"/>
              </a:rPr>
              <a:t>Gut: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212121"/>
                </a:solidFill>
                <a:latin typeface="Open Sans"/>
              </a:rPr>
              <a:t>Prompt 1: Code implementieren</a:t>
            </a:r>
          </a:p>
          <a:p>
            <a:pPr>
              <a:spcAft>
                <a:spcPts val="400"/>
              </a:spcAft>
            </a:pPr>
            <a:r>
              <a:rPr lang="de-DE" sz="1600" dirty="0">
                <a:solidFill>
                  <a:srgbClr val="212121"/>
                </a:solidFill>
                <a:latin typeface="Open Sans"/>
              </a:rPr>
              <a:t>Prompt 2: Tests schreiben (separater Prompt)</a:t>
            </a:r>
          </a:p>
          <a:p>
            <a:r>
              <a:rPr lang="de-DE" sz="1600" dirty="0">
                <a:solidFill>
                  <a:srgbClr val="212121"/>
                </a:solidFill>
                <a:latin typeface="Open Sans"/>
              </a:rPr>
              <a:t>Prompt 3: Dokumentation erstellen</a:t>
            </a:r>
          </a:p>
        </p:txBody>
      </p:sp>
    </p:spTree>
    <p:extLst>
      <p:ext uri="{BB962C8B-B14F-4D97-AF65-F5344CB8AC3E}">
        <p14:creationId xmlns:p14="http://schemas.microsoft.com/office/powerpoint/2010/main" val="3377464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4669-4445-8A8B-7BA6-0664ED7C4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E — Easy to verify</a:t>
            </a:r>
          </a:p>
        </p:txBody>
      </p:sp>
      <p:sp>
        <p:nvSpPr>
          <p:cNvPr id="220" name="Rule"/>
          <p:cNvSpPr/>
          <p:nvPr/>
        </p:nvSpPr>
        <p:spPr>
          <a:xfrm>
            <a:off x="600000" y="1500000"/>
            <a:ext cx="10800000" cy="600000"/>
          </a:xfrm>
          <a:prstGeom prst="roundRect">
            <a:avLst/>
          </a:prstGeom>
          <a:solidFill>
            <a:srgbClr val="212B80"/>
          </a:solidFill>
          <a:ln w="25400">
            <a:solidFill>
              <a:srgbClr val="3F59FF"/>
            </a:solidFill>
          </a:ln>
        </p:spPr>
        <p:txBody>
          <a:bodyPr lIns="137160" anchor="ctr"/>
          <a:lstStyle/>
          <a:p>
            <a:r>
              <a:rPr lang="de-DE" sz="2200" b="1" dirty="0">
                <a:solidFill>
                  <a:srgbClr val="FFFFFF"/>
                </a:solidFill>
                <a:latin typeface="Open Sans"/>
              </a:rPr>
              <a:t>Regel: "Klare Erfolgskriterien definieren"</a:t>
            </a:r>
          </a:p>
        </p:txBody>
      </p:sp>
      <p:sp>
        <p:nvSpPr>
          <p:cNvPr id="221" name="Example"/>
          <p:cNvSpPr/>
          <p:nvPr/>
        </p:nvSpPr>
        <p:spPr>
          <a:xfrm>
            <a:off x="600000" y="2500000"/>
            <a:ext cx="10800000" cy="3429000"/>
          </a:xfrm>
          <a:prstGeom prst="roundRect">
            <a:avLst>
              <a:gd name="adj" fmla="val 5000"/>
            </a:avLst>
          </a:prstGeom>
          <a:solidFill>
            <a:srgbClr val="C6F6D5"/>
          </a:solidFill>
          <a:ln>
            <a:noFill/>
          </a:ln>
        </p:spPr>
        <p:txBody>
          <a:bodyPr wrap="square" lIns="182880" tIns="137160" anchor="t"/>
          <a:lstStyle/>
          <a:p>
            <a:pPr>
              <a:spcAft>
                <a:spcPts val="600"/>
              </a:spcAft>
            </a:pPr>
            <a:r>
              <a:rPr lang="de-DE" sz="1600" b="1" dirty="0">
                <a:solidFill>
                  <a:srgbClr val="276749"/>
                </a:solidFill>
                <a:latin typeface="Open Sans"/>
              </a:rPr>
              <a:t>Beispiel:</a:t>
            </a:r>
          </a:p>
          <a:p>
            <a:pPr>
              <a:spcAft>
                <a:spcPts val="600"/>
              </a:spcAft>
            </a:pPr>
            <a:r>
              <a:rPr lang="de-DE" sz="1800" dirty="0">
                <a:solidFill>
                  <a:srgbClr val="212121"/>
                </a:solidFill>
                <a:latin typeface="Consolas"/>
              </a:rPr>
              <a:t>"Schreib einen Test:</a:t>
            </a:r>
          </a:p>
          <a:p>
            <a:pPr>
              <a:spcAft>
                <a:spcPts val="400"/>
              </a:spcAft>
            </a:pPr>
            <a:r>
              <a:rPr lang="de-DE" sz="1800" dirty="0">
                <a:solidFill>
                  <a:srgbClr val="212121"/>
                </a:solidFill>
                <a:latin typeface="Consolas"/>
              </a:rPr>
              <a:t>  POST /api/users mit gültigem Body</a:t>
            </a:r>
          </a:p>
          <a:p>
            <a:r>
              <a:rPr lang="de-DE" sz="1800" dirty="0">
                <a:solidFill>
                  <a:srgbClr val="212121"/>
                </a:solidFill>
                <a:latin typeface="Consolas"/>
              </a:rPr>
              <a:t>  → 201 Created"</a:t>
            </a:r>
          </a:p>
        </p:txBody>
      </p:sp>
    </p:spTree>
    <p:extLst>
      <p:ext uri="{BB962C8B-B14F-4D97-AF65-F5344CB8AC3E}">
        <p14:creationId xmlns:p14="http://schemas.microsoft.com/office/powerpoint/2010/main" val="1376058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277C4F-0576-E2BF-68CA-AC6BBC35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>
                <a:ea typeface="Open Sans"/>
                <a:cs typeface="Open Sans"/>
              </a:rPr>
              <a:t>L — Logical structure + KERNEL-Gesamtbeispiel</a:t>
            </a:r>
          </a:p>
        </p:txBody>
      </p:sp>
      <p:sp>
        <p:nvSpPr>
          <p:cNvPr id="230" name="WoH"/>
          <p:cNvSpPr/>
          <p:nvPr/>
        </p:nvSpPr>
        <p:spPr>
          <a:xfrm>
            <a:off x="300000" y="1400000"/>
            <a:ext cx="5500000" cy="40000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</p:spPr>
        <p:txBody>
          <a:bodyPr lIns="137160" anchor="ctr"/>
          <a:lstStyle/>
          <a:p>
            <a:pPr algn="ctr"/>
            <a:r>
              <a:rPr lang="de-DE" sz="1600" b="1" dirty="0">
                <a:solidFill>
                  <a:srgbClr val="C53030"/>
                </a:solidFill>
                <a:latin typeface="Open Sans"/>
              </a:rPr>
              <a:t>OHNE KERNEL</a:t>
            </a:r>
          </a:p>
        </p:txBody>
      </p:sp>
      <p:sp>
        <p:nvSpPr>
          <p:cNvPr id="231" name="WoC"/>
          <p:cNvSpPr/>
          <p:nvPr/>
        </p:nvSpPr>
        <p:spPr>
          <a:xfrm>
            <a:off x="300000" y="1900000"/>
            <a:ext cx="5500000" cy="3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txBody>
          <a:bodyPr wrap="square" lIns="137160" tIns="91440" r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9CA3AF"/>
                </a:solidFill>
                <a:latin typeface="Open Sans"/>
              </a:rPr>
              <a:t>Prompt:</a:t>
            </a:r>
          </a:p>
          <a:p>
            <a:pPr>
              <a:spcAft>
                <a:spcPts val="600"/>
              </a:spcAft>
            </a:pPr>
            <a:r>
              <a:rPr lang="de-DE" sz="1400" dirty="0">
                <a:solidFill>
                  <a:srgbClr val="FC8181"/>
                </a:solidFill>
                <a:latin typeface="Consolas"/>
              </a:rPr>
              <a:t>"Hilf mir eine Spring-App zu bauen"</a:t>
            </a:r>
          </a:p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9CA3AF"/>
                </a:solidFill>
                <a:latin typeface="Open Sans"/>
              </a:rPr>
              <a:t>Ergebnis: generisches Hello-World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68D391"/>
                </a:solidFill>
                <a:latin typeface="Consolas"/>
              </a:rPr>
              <a:t>@RestController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FFFFFF"/>
                </a:solidFill>
                <a:latin typeface="Consolas"/>
              </a:rPr>
              <a:t>class HelloController {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FFFFFF"/>
                </a:solidFill>
                <a:latin typeface="Consolas"/>
              </a:rPr>
              <a:t>  @GetMapping("/")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FFFFFF"/>
                </a:solidFill>
                <a:latin typeface="Consolas"/>
              </a:rPr>
              <a:t>  String hello() {</a:t>
            </a:r>
          </a:p>
          <a:p>
            <a:r>
              <a:rPr lang="de-DE" sz="1200" dirty="0">
                <a:solidFill>
                  <a:srgbClr val="FFFFFF"/>
                </a:solidFill>
                <a:latin typeface="Consolas"/>
              </a:rPr>
              <a:t>    return "Hello World"; }</a:t>
            </a:r>
          </a:p>
        </p:txBody>
      </p:sp>
      <p:sp>
        <p:nvSpPr>
          <p:cNvPr id="232" name="MitH"/>
          <p:cNvSpPr/>
          <p:nvPr/>
        </p:nvSpPr>
        <p:spPr>
          <a:xfrm>
            <a:off x="6200000" y="1400000"/>
            <a:ext cx="5500000" cy="40000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txBody>
          <a:bodyPr lIns="137160" anchor="ctr"/>
          <a:lstStyle/>
          <a:p>
            <a:pPr algn="ctr"/>
            <a:r>
              <a:rPr lang="de-DE" sz="1600" b="1" dirty="0">
                <a:solidFill>
                  <a:srgbClr val="276749"/>
                </a:solidFill>
                <a:latin typeface="Open Sans"/>
              </a:rPr>
              <a:t>MIT KERNEL</a:t>
            </a:r>
          </a:p>
        </p:txBody>
      </p:sp>
      <p:sp>
        <p:nvSpPr>
          <p:cNvPr id="233" name="MitC"/>
          <p:cNvSpPr/>
          <p:nvPr/>
        </p:nvSpPr>
        <p:spPr>
          <a:xfrm>
            <a:off x="6200000" y="1900000"/>
            <a:ext cx="5500000" cy="3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txBody>
          <a:bodyPr wrap="square" lIns="137160" tIns="91440" rIns="91440" anchor="t"/>
          <a:lstStyle/>
          <a:p>
            <a:pPr>
              <a:spcAft>
                <a:spcPts val="400"/>
              </a:spcAft>
            </a:pPr>
            <a:r>
              <a:rPr lang="de-DE" sz="1400" dirty="0">
                <a:solidFill>
                  <a:srgbClr val="9CA3AF"/>
                </a:solidFill>
                <a:latin typeface="Open Sans"/>
              </a:rPr>
              <a:t>Prompt: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86EFAC"/>
                </a:solidFill>
                <a:latin typeface="Consolas"/>
              </a:rPr>
              <a:t>"Du bist Senior Java-Entwickler.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86EFAC"/>
                </a:solidFill>
                <a:latin typeface="Consolas"/>
              </a:rPr>
              <a:t>Stack: Java 17, Spring Boot 3.2.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86EFAC"/>
                </a:solidFill>
                <a:latin typeface="Consolas"/>
              </a:rPr>
              <a:t>Erstelle POST /api/users. Kein Lombok.</a:t>
            </a:r>
          </a:p>
          <a:p>
            <a:pPr>
              <a:spcAft>
                <a:spcPts val="200"/>
              </a:spcAft>
            </a:pPr>
            <a:r>
              <a:rPr lang="de-DE" sz="1200" dirty="0">
                <a:solidFill>
                  <a:srgbClr val="86EFAC"/>
                </a:solidFill>
                <a:latin typeface="Consolas"/>
              </a:rPr>
              <a:t>Max 30 Zeilen. Nur Controller."</a:t>
            </a:r>
          </a:p>
          <a:p>
            <a:pPr>
              <a:spcAft>
                <a:spcPts val="500"/>
              </a:spcAft>
            </a:pPr>
            <a:r>
              <a:rPr lang="de-DE" sz="1200" dirty="0">
                <a:solidFill>
                  <a:srgbClr val="9CA3AF"/>
                </a:solidFill>
                <a:latin typeface="Open Sans"/>
              </a:rPr>
              <a:t>Ergebnis: gezielter, produktionsreifer Code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68D391"/>
                </a:solidFill>
                <a:latin typeface="Consolas"/>
              </a:rPr>
              <a:t>@RestController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class UserController {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  private final UserService svc;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68D391"/>
                </a:solidFill>
                <a:latin typeface="Consolas"/>
              </a:rPr>
              <a:t>  @PostMapping("/api/users")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  ResponseEntity&lt;UserDTO&gt; create(</a:t>
            </a:r>
          </a:p>
          <a:p>
            <a:pPr>
              <a:spcAft>
                <a:spcPts val="200"/>
              </a:spcAft>
            </a:pPr>
            <a:r>
              <a:rPr lang="de-DE" sz="1100" dirty="0">
                <a:solidFill>
                  <a:srgbClr val="FFFFFF"/>
                </a:solidFill>
                <a:latin typeface="Consolas"/>
              </a:rPr>
              <a:t>    @Valid @RequestBody req) {</a:t>
            </a:r>
          </a:p>
          <a:p>
            <a:r>
              <a:rPr lang="de-DE" sz="1100" dirty="0">
                <a:solidFill>
                  <a:srgbClr val="FFFFFF"/>
                </a:solidFill>
                <a:latin typeface="Consolas"/>
              </a:rPr>
              <a:t>    return ResponseEntity.created(uri)</a:t>
            </a:r>
          </a:p>
        </p:txBody>
      </p:sp>
    </p:spTree>
    <p:extLst>
      <p:ext uri="{BB962C8B-B14F-4D97-AF65-F5344CB8AC3E}">
        <p14:creationId xmlns:p14="http://schemas.microsoft.com/office/powerpoint/2010/main" val="3036354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tl"/>
          <p:cNvSpPr/>
          <p:nvPr/>
        </p:nvSpPr>
        <p:spPr>
          <a:xfrm>
            <a:off x="609600" y="279400"/>
            <a:ext cx="110490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" anchor="ctr"/>
          <a:lstStyle/>
          <a:p>
            <a:pPr algn="l">
              <a:spcBef>
                <a:spcPts val="0"/>
              </a:spcBef>
            </a:pPr>
            <a:r>
              <a:rPr lang="de-DE" sz="2800" dirty="0">
                <a:solidFill>
                  <a:srgbClr val="212B80"/>
                </a:solidFill>
                <a:latin typeface="Open Sans"/>
              </a:rPr>
              <a:t>Erweiterte Prompting-Techniken (1/2)</a:t>
            </a:r>
          </a:p>
        </p:txBody>
      </p:sp>
      <p:sp>
        <p:nvSpPr>
          <p:cNvPr id="200" name="B1"/>
          <p:cNvSpPr/>
          <p:nvPr/>
        </p:nvSpPr>
        <p:spPr>
          <a:xfrm>
            <a:off x="609600" y="1244600"/>
            <a:ext cx="482600" cy="482600"/>
          </a:xfrm>
          <a:prstGeom prst="roundRect">
            <a:avLst>
              <a:gd name="adj" fmla="val 5000"/>
            </a:avLst>
          </a:prstGeom>
          <a:solidFill>
            <a:srgbClr val="3F59FF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</a:pPr>
            <a:r>
              <a:rPr lang="de-DE" sz="1800" b="1" dirty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201" name="H1"/>
          <p:cNvSpPr/>
          <p:nvPr/>
        </p:nvSpPr>
        <p:spPr>
          <a:xfrm>
            <a:off x="1168400" y="1244600"/>
            <a:ext cx="49022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016" anchor="ctr"/>
          <a:lstStyle/>
          <a:p>
            <a:pPr algn="l">
              <a:spcBef>
                <a:spcPts val="0"/>
              </a:spcBef>
            </a:pPr>
            <a:r>
              <a:rPr lang="de-DE" sz="1800" b="1" dirty="0">
                <a:solidFill>
                  <a:srgbClr val="212B80"/>
                </a:solidFill>
                <a:latin typeface="Open Sans"/>
              </a:rPr>
              <a:t>Kontext + Motivation</a:t>
            </a:r>
          </a:p>
        </p:txBody>
      </p:sp>
      <p:sp>
        <p:nvSpPr>
          <p:cNvPr id="202" name="D1"/>
          <p:cNvSpPr/>
          <p:nvPr/>
        </p:nvSpPr>
        <p:spPr>
          <a:xfrm>
            <a:off x="609600" y="1803400"/>
            <a:ext cx="5461000" cy="104140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>
            <a:noFill/>
          </a:ln>
        </p:spPr>
        <p:txBody>
          <a:bodyPr wrap="square" lIns="1524" tIns="1016" rIns="1016" bIns="762" anchor="t"/>
          <a:lstStyle/>
          <a:p>
            <a:pPr algn="l">
              <a:spcBef>
                <a:spcPts val="0"/>
              </a:spcBef>
            </a:pPr>
            <a:r>
              <a:rPr lang="de-DE" sz="1400" dirty="0">
                <a:solidFill>
                  <a:srgbClr val="374151"/>
                </a:solidFill>
                <a:latin typeface="Open Sans"/>
              </a:rPr>
              <a:t>Erkläre der KI WARUM, nicht nur WAS.</a:t>
            </a:r>
          </a:p>
          <a:p>
            <a:pPr algn="l">
              <a:spcBef>
                <a:spcPts val="60"/>
              </a:spcBef>
            </a:pPr>
            <a:r>
              <a:rPr lang="de-DE" sz="1400" dirty="0">
                <a:solidFill>
                  <a:srgbClr val="374151"/>
                </a:solidFill>
                <a:latin typeface="Open Sans"/>
              </a:rPr>
              <a:t>Hintergrund führt zu besseren Architektur-Entscheidungen.</a:t>
            </a:r>
          </a:p>
        </p:txBody>
      </p:sp>
      <p:sp>
        <p:nvSpPr>
          <p:cNvPr id="210" name="EH1"/>
          <p:cNvSpPr/>
          <p:nvPr/>
        </p:nvSpPr>
        <p:spPr>
          <a:xfrm>
            <a:off x="609600" y="2921000"/>
            <a:ext cx="5461000" cy="3556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lIns="1270" anchor="ctr"/>
          <a:lstStyle/>
          <a:p>
            <a:pPr algn="l">
              <a:spcBef>
                <a:spcPts val="0"/>
              </a:spcBef>
            </a:pPr>
            <a:r>
              <a:rPr lang="de-DE" sz="1400" b="1" dirty="0">
                <a:solidFill>
                  <a:srgbClr val="FFFFFF"/>
                </a:solidFill>
                <a:latin typeface="Open Sans"/>
              </a:rPr>
              <a:t>Beispiel</a:t>
            </a:r>
          </a:p>
        </p:txBody>
      </p:sp>
      <p:sp>
        <p:nvSpPr>
          <p:cNvPr id="211" name="E1"/>
          <p:cNvSpPr/>
          <p:nvPr/>
        </p:nvSpPr>
        <p:spPr>
          <a:xfrm>
            <a:off x="609600" y="3276600"/>
            <a:ext cx="5461000" cy="24410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1778" tIns="1270" rIns="1016" bIns="762" anchor="t"/>
          <a:lstStyle/>
          <a:p>
            <a:pPr algn="l">
              <a:spcBef>
                <a:spcPts val="0"/>
              </a:spcBef>
            </a:pPr>
            <a:r>
              <a:rPr lang="de-DE" sz="1400" b="1" dirty="0">
                <a:solidFill>
                  <a:srgbClr val="FF8A80"/>
                </a:solidFill>
                <a:latin typeface="Open Sans"/>
              </a:rPr>
              <a:t>❌ Ohne Kontext:</a:t>
            </a:r>
          </a:p>
          <a:p>
            <a:pPr algn="l">
              <a:spcBef>
                <a:spcPts val="60"/>
              </a:spcBef>
            </a:pPr>
            <a:r>
              <a:rPr lang="de-DE" sz="1400" dirty="0">
                <a:solidFill>
                  <a:srgbClr val="9CA3AF"/>
                </a:solidFill>
                <a:latin typeface="Consolas"/>
              </a:rPr>
              <a:t>"Schreib einen Login-Endpoint"</a:t>
            </a:r>
          </a:p>
          <a:p>
            <a:pPr algn="l">
              <a:spcBef>
                <a:spcPts val="200"/>
              </a:spcBef>
            </a:pPr>
            <a:r>
              <a:rPr lang="de-DE" sz="1400" b="1" dirty="0">
                <a:solidFill>
                  <a:srgbClr val="68D391"/>
                </a:solidFill>
                <a:latin typeface="Open Sans"/>
              </a:rPr>
              <a:t>✅ Mit Kontext:</a:t>
            </a:r>
          </a:p>
          <a:p>
            <a:pPr algn="l">
              <a:spcBef>
                <a:spcPts val="6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"Wir migrieren auf JWT-Auth.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 Schreib POST /auth/login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 → gibt JWT zurück."</a:t>
            </a:r>
          </a:p>
          <a:p>
            <a:pPr algn="l">
              <a:spcBef>
                <a:spcPts val="160"/>
              </a:spcBef>
            </a:pPr>
            <a:r>
              <a:rPr lang="de-DE" sz="1400" b="1" dirty="0">
                <a:solidFill>
                  <a:srgbClr val="68D391"/>
                </a:solidFill>
                <a:latin typeface="Open Sans"/>
              </a:rPr>
              <a:t>→ Bessere Architektur-Entscheidungen</a:t>
            </a:r>
          </a:p>
        </p:txBody>
      </p:sp>
      <p:sp>
        <p:nvSpPr>
          <p:cNvPr id="300" name="B2"/>
          <p:cNvSpPr/>
          <p:nvPr/>
        </p:nvSpPr>
        <p:spPr>
          <a:xfrm>
            <a:off x="6223000" y="1244600"/>
            <a:ext cx="482600" cy="482600"/>
          </a:xfrm>
          <a:prstGeom prst="roundRect">
            <a:avLst>
              <a:gd name="adj" fmla="val 5000"/>
            </a:avLst>
          </a:prstGeom>
          <a:solidFill>
            <a:srgbClr val="212B8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</a:pPr>
            <a:r>
              <a:rPr lang="de-DE" sz="1800" b="1" dirty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301" name="H2"/>
          <p:cNvSpPr/>
          <p:nvPr/>
        </p:nvSpPr>
        <p:spPr>
          <a:xfrm>
            <a:off x="6781800" y="1244600"/>
            <a:ext cx="49022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016" anchor="ctr"/>
          <a:lstStyle/>
          <a:p>
            <a:pPr algn="l">
              <a:spcBef>
                <a:spcPts val="0"/>
              </a:spcBef>
            </a:pPr>
            <a:r>
              <a:rPr lang="de-DE" sz="1800" b="1" dirty="0">
                <a:solidFill>
                  <a:srgbClr val="212B80"/>
                </a:solidFill>
                <a:latin typeface="Open Sans"/>
              </a:rPr>
              <a:t>Few-Shot Beispiele</a:t>
            </a:r>
          </a:p>
        </p:txBody>
      </p:sp>
      <p:sp>
        <p:nvSpPr>
          <p:cNvPr id="302" name="D2"/>
          <p:cNvSpPr/>
          <p:nvPr/>
        </p:nvSpPr>
        <p:spPr>
          <a:xfrm>
            <a:off x="6223000" y="1803400"/>
            <a:ext cx="5461000" cy="104140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>
            <a:noFill/>
          </a:ln>
        </p:spPr>
        <p:txBody>
          <a:bodyPr wrap="square" lIns="1524" tIns="1016" rIns="1016" bIns="762" anchor="t"/>
          <a:lstStyle/>
          <a:p>
            <a:pPr algn="l">
              <a:spcBef>
                <a:spcPts val="0"/>
              </a:spcBef>
            </a:pPr>
            <a:r>
              <a:rPr lang="de-DE" sz="1400" dirty="0">
                <a:solidFill>
                  <a:srgbClr val="374151"/>
                </a:solidFill>
                <a:latin typeface="Open Sans"/>
              </a:rPr>
              <a:t>3-5 Beispiele verdoppeln die Treffsicherheit.</a:t>
            </a:r>
          </a:p>
          <a:p>
            <a:pPr algn="l">
              <a:spcBef>
                <a:spcPts val="60"/>
              </a:spcBef>
            </a:pPr>
            <a:r>
              <a:rPr lang="de-DE" sz="1400" dirty="0">
                <a:solidFill>
                  <a:srgbClr val="374151"/>
                </a:solidFill>
                <a:latin typeface="Open Sans"/>
              </a:rPr>
              <a:t>Zeige das Format — KI übernimmt Pattern exakt.</a:t>
            </a:r>
          </a:p>
        </p:txBody>
      </p:sp>
      <p:sp>
        <p:nvSpPr>
          <p:cNvPr id="310" name="EH2"/>
          <p:cNvSpPr/>
          <p:nvPr/>
        </p:nvSpPr>
        <p:spPr>
          <a:xfrm>
            <a:off x="6223000" y="2921000"/>
            <a:ext cx="5461000" cy="3556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lIns="1270" anchor="ctr"/>
          <a:lstStyle/>
          <a:p>
            <a:pPr algn="l">
              <a:spcBef>
                <a:spcPts val="0"/>
              </a:spcBef>
            </a:pPr>
            <a:r>
              <a:rPr lang="de-DE" sz="1400" b="1" dirty="0">
                <a:solidFill>
                  <a:srgbClr val="FFFFFF"/>
                </a:solidFill>
                <a:latin typeface="Open Sans"/>
              </a:rPr>
              <a:t>Beispiel</a:t>
            </a:r>
          </a:p>
        </p:txBody>
      </p:sp>
      <p:sp>
        <p:nvSpPr>
          <p:cNvPr id="311" name="E2"/>
          <p:cNvSpPr/>
          <p:nvPr/>
        </p:nvSpPr>
        <p:spPr>
          <a:xfrm>
            <a:off x="6223000" y="3276600"/>
            <a:ext cx="5461000" cy="24410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1778" tIns="1270" rIns="1016" bIns="762" anchor="t"/>
          <a:lstStyle/>
          <a:p>
            <a:pPr algn="l">
              <a:spcBef>
                <a:spcPts val="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"Schreib Fehlermeldungen in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 diesem Stil:</a:t>
            </a:r>
          </a:p>
          <a:p>
            <a:pPr algn="l">
              <a:spcBef>
                <a:spcPts val="80"/>
              </a:spcBef>
            </a:pPr>
            <a:r>
              <a:rPr lang="de-DE" sz="1400" dirty="0">
                <a:solidFill>
                  <a:srgbClr val="68D391"/>
                </a:solidFill>
                <a:latin typeface="Consolas"/>
              </a:rPr>
              <a:t> ERR-001: E-Mail vergeben.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68D391"/>
                </a:solidFill>
                <a:latin typeface="Consolas"/>
              </a:rPr>
              <a:t> ERR-002: Passwort zu kurz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68D391"/>
                </a:solidFill>
                <a:latin typeface="Consolas"/>
              </a:rPr>
              <a:t>  (min. 8 Zeichen).</a:t>
            </a:r>
          </a:p>
          <a:p>
            <a:pPr algn="l">
              <a:spcBef>
                <a:spcPts val="8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 Jetzt: Fehler für fehlendes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  Pflichtfeld."</a:t>
            </a:r>
          </a:p>
          <a:p>
            <a:pPr algn="l">
              <a:spcBef>
                <a:spcPts val="160"/>
              </a:spcBef>
            </a:pPr>
            <a:r>
              <a:rPr lang="de-DE" sz="1400" b="1" dirty="0">
                <a:solidFill>
                  <a:srgbClr val="68D391"/>
                </a:solidFill>
                <a:latin typeface="Open Sans"/>
              </a:rPr>
              <a:t>→ Format + Nummerierung exakt</a:t>
            </a:r>
          </a:p>
        </p:txBody>
      </p:sp>
    </p:spTree>
    <p:extLst>
      <p:ext uri="{BB962C8B-B14F-4D97-AF65-F5344CB8AC3E}">
        <p14:creationId xmlns:p14="http://schemas.microsoft.com/office/powerpoint/2010/main" val="2890318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tl"/>
          <p:cNvSpPr/>
          <p:nvPr/>
        </p:nvSpPr>
        <p:spPr>
          <a:xfrm>
            <a:off x="609600" y="279400"/>
            <a:ext cx="110490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524" anchor="ctr"/>
          <a:lstStyle/>
          <a:p>
            <a:pPr algn="l">
              <a:spcBef>
                <a:spcPts val="0"/>
              </a:spcBef>
            </a:pPr>
            <a:r>
              <a:rPr lang="de-DE" sz="2800" dirty="0">
                <a:solidFill>
                  <a:srgbClr val="212B80"/>
                </a:solidFill>
                <a:latin typeface="Open Sans"/>
              </a:rPr>
              <a:t>Erweiterte Prompting-Techniken (2/2)</a:t>
            </a:r>
          </a:p>
        </p:txBody>
      </p:sp>
      <p:sp>
        <p:nvSpPr>
          <p:cNvPr id="200" name="B3"/>
          <p:cNvSpPr/>
          <p:nvPr/>
        </p:nvSpPr>
        <p:spPr>
          <a:xfrm>
            <a:off x="609600" y="1244600"/>
            <a:ext cx="482600" cy="482600"/>
          </a:xfrm>
          <a:prstGeom prst="roundRect">
            <a:avLst>
              <a:gd name="adj" fmla="val 5000"/>
            </a:avLst>
          </a:prstGeom>
          <a:solidFill>
            <a:srgbClr val="FFD44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</a:pPr>
            <a:r>
              <a:rPr lang="de-DE" sz="1800" b="1" dirty="0">
                <a:solidFill>
                  <a:srgbClr val="212B80"/>
                </a:solidFill>
                <a:latin typeface="Open Sans"/>
              </a:rPr>
              <a:t>3</a:t>
            </a:r>
          </a:p>
        </p:txBody>
      </p:sp>
      <p:sp>
        <p:nvSpPr>
          <p:cNvPr id="201" name="H3"/>
          <p:cNvSpPr/>
          <p:nvPr/>
        </p:nvSpPr>
        <p:spPr>
          <a:xfrm>
            <a:off x="1168400" y="1244600"/>
            <a:ext cx="49022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016" anchor="ctr"/>
          <a:lstStyle/>
          <a:p>
            <a:pPr algn="l">
              <a:spcBef>
                <a:spcPts val="0"/>
              </a:spcBef>
            </a:pPr>
            <a:r>
              <a:rPr lang="de-DE" sz="1800" b="1" dirty="0">
                <a:solidFill>
                  <a:srgbClr val="212B80"/>
                </a:solidFill>
                <a:latin typeface="Open Sans"/>
              </a:rPr>
              <a:t>XML-Tags nutzen</a:t>
            </a:r>
          </a:p>
        </p:txBody>
      </p:sp>
      <p:sp>
        <p:nvSpPr>
          <p:cNvPr id="202" name="D3"/>
          <p:cNvSpPr/>
          <p:nvPr/>
        </p:nvSpPr>
        <p:spPr>
          <a:xfrm>
            <a:off x="609600" y="1803400"/>
            <a:ext cx="5461000" cy="104140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>
            <a:noFill/>
          </a:ln>
        </p:spPr>
        <p:txBody>
          <a:bodyPr wrap="square" lIns="1524" tIns="1016" rIns="1016" bIns="762" anchor="t"/>
          <a:lstStyle/>
          <a:p>
            <a:pPr algn="l">
              <a:spcBef>
                <a:spcPts val="0"/>
              </a:spcBef>
            </a:pPr>
            <a:r>
              <a:rPr lang="de-DE" sz="1400" dirty="0">
                <a:solidFill>
                  <a:srgbClr val="374151"/>
                </a:solidFill>
                <a:latin typeface="Open Sans"/>
              </a:rPr>
              <a:t>Strukturiere komplexe Prompts mit XML-Tags.</a:t>
            </a:r>
          </a:p>
          <a:p>
            <a:pPr algn="l">
              <a:spcBef>
                <a:spcPts val="60"/>
              </a:spcBef>
            </a:pPr>
            <a:r>
              <a:rPr lang="de-DE" sz="1400" dirty="0">
                <a:solidFill>
                  <a:srgbClr val="374151"/>
                </a:solidFill>
                <a:latin typeface="Open Sans"/>
              </a:rPr>
              <a:t>Trenne Aufgabe, Constraints und Format klar.</a:t>
            </a:r>
          </a:p>
        </p:txBody>
      </p:sp>
      <p:sp>
        <p:nvSpPr>
          <p:cNvPr id="210" name="EH3"/>
          <p:cNvSpPr/>
          <p:nvPr/>
        </p:nvSpPr>
        <p:spPr>
          <a:xfrm>
            <a:off x="609600" y="2921000"/>
            <a:ext cx="5461000" cy="3556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lIns="1270" anchor="ctr"/>
          <a:lstStyle/>
          <a:p>
            <a:pPr algn="l">
              <a:spcBef>
                <a:spcPts val="0"/>
              </a:spcBef>
            </a:pPr>
            <a:r>
              <a:rPr lang="de-DE" sz="1400" b="1" dirty="0">
                <a:solidFill>
                  <a:srgbClr val="FFFFFF"/>
                </a:solidFill>
                <a:latin typeface="Open Sans"/>
              </a:rPr>
              <a:t>Beispiel</a:t>
            </a:r>
          </a:p>
        </p:txBody>
      </p:sp>
      <p:sp>
        <p:nvSpPr>
          <p:cNvPr id="211" name="E3"/>
          <p:cNvSpPr/>
          <p:nvPr/>
        </p:nvSpPr>
        <p:spPr>
          <a:xfrm>
            <a:off x="609600" y="3276600"/>
            <a:ext cx="5461000" cy="3327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1778" tIns="1270" rIns="1016" bIns="762" anchor="t"/>
          <a:lstStyle/>
          <a:p>
            <a:pPr algn="l">
              <a:spcBef>
                <a:spcPts val="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&lt;task&gt;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C8D0DA"/>
                </a:solidFill>
                <a:latin typeface="Consolas"/>
              </a:rPr>
              <a:t>  Erstelle einen UserService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&lt;/task&gt;</a:t>
            </a:r>
          </a:p>
          <a:p>
            <a:pPr algn="l">
              <a:spcBef>
                <a:spcPts val="120"/>
              </a:spcBef>
            </a:pPr>
            <a:r>
              <a:rPr lang="de-DE" sz="1400" dirty="0">
                <a:solidFill>
                  <a:srgbClr val="68D391"/>
                </a:solidFill>
                <a:latin typeface="Consolas"/>
              </a:rPr>
              <a:t>&lt;constraints&gt;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C8D0DA"/>
                </a:solidFill>
                <a:latin typeface="Consolas"/>
              </a:rPr>
              <a:t>  Kein Lombok. Max 30 Zeilen.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68D391"/>
                </a:solidFill>
                <a:latin typeface="Consolas"/>
              </a:rPr>
              <a:t>&lt;/constraints&gt;</a:t>
            </a:r>
          </a:p>
          <a:p>
            <a:pPr algn="l">
              <a:spcBef>
                <a:spcPts val="120"/>
              </a:spcBef>
            </a:pPr>
            <a:r>
              <a:rPr lang="de-DE" sz="1400" dirty="0">
                <a:solidFill>
                  <a:srgbClr val="9BB3FF"/>
                </a:solidFill>
                <a:latin typeface="Consolas"/>
              </a:rPr>
              <a:t>&lt;format&gt;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C8D0DA"/>
                </a:solidFill>
                <a:latin typeface="Consolas"/>
              </a:rPr>
              <a:t>  Nur Service, kein Controller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9BB3FF"/>
                </a:solidFill>
                <a:latin typeface="Consolas"/>
              </a:rPr>
              <a:t>&lt;/format&gt;</a:t>
            </a:r>
          </a:p>
        </p:txBody>
      </p:sp>
      <p:sp>
        <p:nvSpPr>
          <p:cNvPr id="300" name="B4"/>
          <p:cNvSpPr/>
          <p:nvPr/>
        </p:nvSpPr>
        <p:spPr>
          <a:xfrm>
            <a:off x="6223000" y="1244600"/>
            <a:ext cx="482600" cy="482600"/>
          </a:xfrm>
          <a:prstGeom prst="roundRect">
            <a:avLst>
              <a:gd name="adj" fmla="val 5000"/>
            </a:avLst>
          </a:prstGeom>
          <a:solidFill>
            <a:srgbClr val="374151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</a:pPr>
            <a:r>
              <a:rPr lang="de-DE" sz="1800" b="1" dirty="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301" name="H4"/>
          <p:cNvSpPr/>
          <p:nvPr/>
        </p:nvSpPr>
        <p:spPr>
          <a:xfrm>
            <a:off x="6781800" y="1244600"/>
            <a:ext cx="49022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016" anchor="ctr"/>
          <a:lstStyle/>
          <a:p>
            <a:pPr algn="l">
              <a:spcBef>
                <a:spcPts val="0"/>
              </a:spcBef>
            </a:pPr>
            <a:r>
              <a:rPr lang="de-DE" sz="1800" b="1" dirty="0">
                <a:solidFill>
                  <a:srgbClr val="212B80"/>
                </a:solidFill>
                <a:latin typeface="Open Sans"/>
              </a:rPr>
              <a:t>Schrittweise denken</a:t>
            </a:r>
          </a:p>
        </p:txBody>
      </p:sp>
      <p:sp>
        <p:nvSpPr>
          <p:cNvPr id="302" name="D4"/>
          <p:cNvSpPr/>
          <p:nvPr/>
        </p:nvSpPr>
        <p:spPr>
          <a:xfrm>
            <a:off x="6223000" y="1803400"/>
            <a:ext cx="5461000" cy="104140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>
            <a:noFill/>
          </a:ln>
        </p:spPr>
        <p:txBody>
          <a:bodyPr wrap="square" lIns="1524" tIns="1016" rIns="1016" bIns="762" anchor="t"/>
          <a:lstStyle/>
          <a:p>
            <a:pPr algn="l">
              <a:spcBef>
                <a:spcPts val="0"/>
              </a:spcBef>
            </a:pPr>
            <a:r>
              <a:rPr lang="de-DE" sz="1400" dirty="0">
                <a:solidFill>
                  <a:srgbClr val="374151"/>
                </a:solidFill>
                <a:latin typeface="Open Sans"/>
              </a:rPr>
              <a:t>"Denk Schritt für Schritt" verbessert Logik.</a:t>
            </a:r>
          </a:p>
          <a:p>
            <a:pPr algn="l">
              <a:spcBef>
                <a:spcPts val="60"/>
              </a:spcBef>
            </a:pPr>
            <a:r>
              <a:rPr lang="de-DE" sz="1400" dirty="0">
                <a:solidFill>
                  <a:srgbClr val="374151"/>
                </a:solidFill>
                <a:latin typeface="Open Sans"/>
              </a:rPr>
              <a:t>Explizite Schritte als Denk-Framework für die KI.</a:t>
            </a:r>
          </a:p>
        </p:txBody>
      </p:sp>
      <p:sp>
        <p:nvSpPr>
          <p:cNvPr id="310" name="EH4"/>
          <p:cNvSpPr/>
          <p:nvPr/>
        </p:nvSpPr>
        <p:spPr>
          <a:xfrm>
            <a:off x="6223000" y="2921000"/>
            <a:ext cx="5461000" cy="3556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lIns="1270" anchor="ctr"/>
          <a:lstStyle/>
          <a:p>
            <a:pPr algn="l">
              <a:spcBef>
                <a:spcPts val="0"/>
              </a:spcBef>
            </a:pPr>
            <a:r>
              <a:rPr lang="de-DE" sz="1400" b="1" dirty="0">
                <a:solidFill>
                  <a:srgbClr val="FFFFFF"/>
                </a:solidFill>
                <a:latin typeface="Open Sans"/>
              </a:rPr>
              <a:t>Beispiel</a:t>
            </a:r>
          </a:p>
        </p:txBody>
      </p:sp>
      <p:sp>
        <p:nvSpPr>
          <p:cNvPr id="311" name="E4"/>
          <p:cNvSpPr/>
          <p:nvPr/>
        </p:nvSpPr>
        <p:spPr>
          <a:xfrm>
            <a:off x="6223000" y="3276600"/>
            <a:ext cx="5461000" cy="3327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1778" tIns="1270" rIns="1016" bIns="762" anchor="t"/>
          <a:lstStyle/>
          <a:p>
            <a:pPr algn="l">
              <a:spcBef>
                <a:spcPts val="0"/>
              </a:spcBef>
            </a:pPr>
            <a:r>
              <a:rPr lang="de-DE" sz="1400" b="1" dirty="0">
                <a:solidFill>
                  <a:srgbClr val="FF8A80"/>
                </a:solidFill>
                <a:latin typeface="Open Sans"/>
              </a:rPr>
              <a:t>❌ Ohne Schritte:</a:t>
            </a:r>
          </a:p>
          <a:p>
            <a:pPr algn="l">
              <a:spcBef>
                <a:spcPts val="60"/>
              </a:spcBef>
            </a:pPr>
            <a:r>
              <a:rPr lang="de-DE" sz="1400" dirty="0">
                <a:solidFill>
                  <a:srgbClr val="9CA3AF"/>
                </a:solidFill>
                <a:latin typeface="Consolas"/>
              </a:rPr>
              <a:t>"Warum schlägt mein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9CA3AF"/>
                </a:solidFill>
                <a:latin typeface="Consolas"/>
              </a:rPr>
              <a:t> SQL-Join fehl?"</a:t>
            </a:r>
          </a:p>
          <a:p>
            <a:pPr algn="l">
              <a:spcBef>
                <a:spcPts val="180"/>
              </a:spcBef>
            </a:pPr>
            <a:r>
              <a:rPr lang="de-DE" sz="1400" b="1" dirty="0">
                <a:solidFill>
                  <a:srgbClr val="68D391"/>
                </a:solidFill>
                <a:latin typeface="Open Sans"/>
              </a:rPr>
              <a:t>✅ Mit Schritten:</a:t>
            </a:r>
          </a:p>
          <a:p>
            <a:pPr algn="l">
              <a:spcBef>
                <a:spcPts val="6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"Analysiere Schritt für Schritt: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 1) Schema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 2) Join-Bedingung</a:t>
            </a:r>
          </a:p>
          <a:p>
            <a:pPr algn="l">
              <a:spcBef>
                <a:spcPts val="20"/>
              </a:spcBef>
            </a:pPr>
            <a:r>
              <a:rPr lang="de-DE" sz="1400" dirty="0">
                <a:solidFill>
                  <a:srgbClr val="FFD440"/>
                </a:solidFill>
                <a:latin typeface="Consolas"/>
              </a:rPr>
              <a:t> 3) Datenverlust?"</a:t>
            </a:r>
          </a:p>
          <a:p>
            <a:pPr algn="l">
              <a:spcBef>
                <a:spcPts val="160"/>
              </a:spcBef>
            </a:pPr>
            <a:r>
              <a:rPr lang="de-DE" sz="1400" b="1" dirty="0">
                <a:solidFill>
                  <a:srgbClr val="68D391"/>
                </a:solidFill>
                <a:latin typeface="Open Sans"/>
              </a:rPr>
              <a:t>→ Präzisere Diagnose</a:t>
            </a:r>
          </a:p>
        </p:txBody>
      </p:sp>
    </p:spTree>
    <p:extLst>
      <p:ext uri="{BB962C8B-B14F-4D97-AF65-F5344CB8AC3E}">
        <p14:creationId xmlns:p14="http://schemas.microsoft.com/office/powerpoint/2010/main" val="4146059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6D1BD-B238-DDD6-F42B-C5EF5E23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latin typeface="Open Sans"/>
              </a:rPr>
              <a:t>Die KI-Projektstruktur</a:t>
            </a:r>
          </a:p>
        </p:txBody>
      </p:sp>
      <p:sp>
        <p:nvSpPr>
          <p:cNvPr id="300" name="TreeBg"/>
          <p:cNvSpPr>
            <a:spLocks noGrp="1"/>
          </p:cNvSpPr>
          <p:nvPr/>
        </p:nvSpPr>
        <p:spPr>
          <a:xfrm>
            <a:off x="393700" y="1422400"/>
            <a:ext cx="4064000" cy="4622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2286" tIns="1778" rIns="1270" bIns="1270" anchor="t"/>
          <a:lstStyle/>
          <a:p>
            <a:pPr algn="l">
              <a:spcBef>
                <a:spcPts val="0"/>
              </a:spcBef>
            </a:pPr>
            <a:r>
              <a:rPr lang="de-DE" sz="1200" b="1" dirty="0">
                <a:solidFill>
                  <a:srgbClr val="E8F0FF"/>
                </a:solidFill>
                <a:latin typeface="Consolas"/>
              </a:rPr>
              <a:t>📁 dev-setup-template/</a:t>
            </a:r>
          </a:p>
          <a:p>
            <a:pPr algn="l">
              <a:spcBef>
                <a:spcPts val="160"/>
              </a:spcBef>
            </a:pPr>
            <a:r>
              <a:rPr lang="de-DE" sz="1150" b="1" dirty="0">
                <a:solidFill>
                  <a:srgbClr val="3F59FF"/>
                </a:solidFill>
                <a:latin typeface="Consolas"/>
              </a:rPr>
              <a:t>  📂 .claude/</a:t>
            </a:r>
          </a:p>
          <a:p>
            <a:pPr algn="l">
              <a:spcBef>
                <a:spcPts val="60"/>
              </a:spcBef>
            </a:pPr>
            <a:r>
              <a:rPr lang="de-DE" sz="1100" dirty="0">
                <a:solidFill>
                  <a:srgbClr val="9CA3AF"/>
                </a:solidFill>
                <a:latin typeface="Consolas"/>
              </a:rPr>
              <a:t>      📁 agents/</a:t>
            </a:r>
          </a:p>
          <a:p>
            <a:pPr algn="l">
              <a:spcBef>
                <a:spcPts val="40"/>
              </a:spcBef>
            </a:pPr>
            <a:r>
              <a:rPr lang="de-DE" sz="1100" dirty="0">
                <a:solidFill>
                  <a:srgbClr val="9CA3AF"/>
                </a:solidFill>
                <a:latin typeface="Consolas"/>
              </a:rPr>
              <a:t>      📁 commands/</a:t>
            </a:r>
          </a:p>
          <a:p>
            <a:pPr algn="l">
              <a:spcBef>
                <a:spcPts val="40"/>
              </a:spcBef>
            </a:pPr>
            <a:r>
              <a:rPr lang="de-DE" sz="1100" dirty="0">
                <a:solidFill>
                  <a:srgbClr val="9CA3AF"/>
                </a:solidFill>
                <a:latin typeface="Consolas"/>
              </a:rPr>
              <a:t>      📁 rules/</a:t>
            </a:r>
          </a:p>
          <a:p>
            <a:pPr algn="l">
              <a:spcBef>
                <a:spcPts val="40"/>
              </a:spcBef>
            </a:pPr>
            <a:r>
              <a:rPr lang="de-DE" sz="1100" dirty="0">
                <a:solidFill>
                  <a:srgbClr val="9CA3AF"/>
                </a:solidFill>
                <a:latin typeface="Consolas"/>
              </a:rPr>
              <a:t>      📁 skills/</a:t>
            </a:r>
          </a:p>
          <a:p>
            <a:pPr algn="l">
              <a:spcBef>
                <a:spcPts val="40"/>
              </a:spcBef>
            </a:pPr>
            <a:r>
              <a:rPr lang="de-DE" sz="1100" dirty="0">
                <a:solidFill>
                  <a:srgbClr val="9CA3AF"/>
                </a:solidFill>
                <a:latin typeface="Consolas"/>
              </a:rPr>
              <a:t>      ⚙  settings.json</a:t>
            </a:r>
          </a:p>
          <a:p>
            <a:pPr algn="l">
              <a:spcBef>
                <a:spcPts val="160"/>
              </a:spcBef>
            </a:pPr>
            <a:r>
              <a:rPr lang="de-DE" sz="1150" b="1" dirty="0">
                <a:solidFill>
                  <a:srgbClr val="FFD440"/>
                </a:solidFill>
                <a:latin typeface="Consolas"/>
              </a:rPr>
              <a:t>  📂 .vibe/</a:t>
            </a:r>
          </a:p>
          <a:p>
            <a:pPr algn="l">
              <a:spcBef>
                <a:spcPts val="60"/>
              </a:spcBef>
            </a:pPr>
            <a:r>
              <a:rPr lang="de-DE" sz="1150" dirty="0">
                <a:solidFill>
                  <a:srgbClr val="9CA3AF"/>
                </a:solidFill>
                <a:latin typeface="Consolas"/>
              </a:rPr>
              <a:t>  📂 .github/</a:t>
            </a:r>
          </a:p>
          <a:p>
            <a:pPr algn="l">
              <a:spcBef>
                <a:spcPts val="40"/>
              </a:spcBef>
            </a:pPr>
            <a:r>
              <a:rPr lang="de-DE" sz="1150" dirty="0">
                <a:solidFill>
                  <a:srgbClr val="9CA3AF"/>
                </a:solidFill>
                <a:latin typeface="Consolas"/>
              </a:rPr>
              <a:t>  📂 .vscode/</a:t>
            </a:r>
          </a:p>
          <a:p>
            <a:pPr algn="l">
              <a:spcBef>
                <a:spcPts val="40"/>
              </a:spcBef>
            </a:pPr>
            <a:r>
              <a:rPr lang="de-DE" sz="1150" dirty="0">
                <a:solidFill>
                  <a:srgbClr val="9CA3AF"/>
                </a:solidFill>
                <a:latin typeface="Consolas"/>
              </a:rPr>
              <a:t>  📂 tasks/</a:t>
            </a:r>
          </a:p>
          <a:p>
            <a:pPr algn="l">
              <a:spcBef>
                <a:spcPts val="160"/>
              </a:spcBef>
            </a:pPr>
            <a:r>
              <a:rPr lang="de-DE" sz="1100" dirty="0">
                <a:solidFill>
                  <a:srgbClr val="BFD9FF"/>
                </a:solidFill>
                <a:latin typeface="Consolas"/>
              </a:rPr>
              <a:t>  📋 .mcp.json</a:t>
            </a:r>
          </a:p>
          <a:p>
            <a:pPr algn="l">
              <a:spcBef>
                <a:spcPts val="50"/>
              </a:spcBef>
            </a:pPr>
            <a:r>
              <a:rPr lang="de-DE" sz="1100" dirty="0">
                <a:solidFill>
                  <a:srgbClr val="BFD9FF"/>
                </a:solidFill>
                <a:latin typeface="Consolas"/>
              </a:rPr>
              <a:t>  📝 AGENTS.md</a:t>
            </a:r>
          </a:p>
          <a:p>
            <a:pPr algn="l">
              <a:spcBef>
                <a:spcPts val="50"/>
              </a:spcBef>
            </a:pPr>
            <a:r>
              <a:rPr lang="de-DE" sz="1100" b="1" dirty="0">
                <a:solidFill>
                  <a:srgbClr val="3F59FF"/>
                </a:solidFill>
                <a:latin typeface="Consolas"/>
              </a:rPr>
              <a:t>  📝 CLAUDE.md</a:t>
            </a:r>
          </a:p>
          <a:p>
            <a:pPr algn="l">
              <a:spcBef>
                <a:spcPts val="50"/>
              </a:spcBef>
            </a:pPr>
            <a:r>
              <a:rPr lang="de-DE" sz="1100" b="1" dirty="0">
                <a:solidFill>
                  <a:srgbClr val="3F59FF"/>
                </a:solidFill>
                <a:latin typeface="Consolas"/>
              </a:rPr>
              <a:t>  📝 MEMORY.md</a:t>
            </a:r>
          </a:p>
          <a:p>
            <a:pPr algn="l">
              <a:spcBef>
                <a:spcPts val="50"/>
              </a:spcBef>
            </a:pPr>
            <a:r>
              <a:rPr lang="de-DE" sz="1100" dirty="0">
                <a:solidFill>
                  <a:srgbClr val="9CA3AF"/>
                </a:solidFill>
                <a:latin typeface="Consolas"/>
              </a:rPr>
              <a:t>  📖 README.md</a:t>
            </a:r>
          </a:p>
          <a:p>
            <a:pPr algn="l">
              <a:spcBef>
                <a:spcPts val="50"/>
              </a:spcBef>
            </a:pPr>
            <a:r>
              <a:rPr lang="de-DE" sz="1100" dirty="0">
                <a:solidFill>
                  <a:srgbClr val="9CA3AF"/>
                </a:solidFill>
                <a:latin typeface="Consolas"/>
              </a:rPr>
              <a:t>  🔧 setup.sh</a:t>
            </a:r>
          </a:p>
        </p:txBody>
      </p:sp>
      <p:sp>
        <p:nvSpPr>
          <p:cNvPr id="310" name="Card1H"/>
          <p:cNvSpPr>
            <a:spLocks noGrp="1"/>
          </p:cNvSpPr>
          <p:nvPr/>
        </p:nvSpPr>
        <p:spPr>
          <a:xfrm>
            <a:off x="4635500" y="1422400"/>
            <a:ext cx="7162800" cy="4064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lIns="1524" tIns="508" rIns="1270" bIns="508" anchor="ctr"/>
          <a:lstStyle/>
          <a:p>
            <a:pPr algn="l">
              <a:spcBef>
                <a:spcPts val="0"/>
              </a:spcBef>
            </a:pPr>
            <a:r>
              <a:rPr lang="de-DE" sz="1300" b="1" dirty="0">
                <a:solidFill>
                  <a:srgbClr val="FFFFFF"/>
                </a:solidFill>
                <a:latin typeface="Open Sans"/>
              </a:rPr>
              <a:t>📝  Die Kern-Dateien — Das Wissen der KI</a:t>
            </a:r>
          </a:p>
        </p:txBody>
      </p:sp>
      <p:sp>
        <p:nvSpPr>
          <p:cNvPr id="311" name="Card1C"/>
          <p:cNvSpPr>
            <a:spLocks noGrp="1"/>
          </p:cNvSpPr>
          <p:nvPr/>
        </p:nvSpPr>
        <p:spPr>
          <a:xfrm>
            <a:off x="4635500" y="1828800"/>
            <a:ext cx="7162800" cy="9906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txBody>
          <a:bodyPr lIns="1778" tIns="1016" rIns="1270" bIns="762" anchor="t"/>
          <a:lstStyle/>
          <a:p>
            <a:pPr algn="l">
              <a:spcBef>
                <a:spcPts val="0"/>
              </a:spcBef>
            </a:pPr>
            <a:r>
              <a:rPr lang="de-DE" sz="1200" b="1" dirty="0">
                <a:solidFill>
                  <a:srgbClr val="3F59FF"/>
                </a:solidFill>
                <a:latin typeface="Consolas"/>
              </a:rPr>
              <a:t>CLAUDE.md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— Projekt-DNA: Stack, Konventionen, Build-Commands, Regeln</a:t>
            </a:r>
          </a:p>
          <a:p>
            <a:pPr algn="l">
              <a:spcBef>
                <a:spcPts val="100"/>
              </a:spcBef>
            </a:pPr>
            <a:r>
              <a:rPr lang="de-DE" sz="1200" b="1" dirty="0">
                <a:solidFill>
                  <a:srgbClr val="3F59FF"/>
                </a:solidFill>
                <a:latin typeface="Consolas"/>
              </a:rPr>
              <a:t>MEMORY.md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— Laufendes Gedächtnis: Entscheidungen, Learnings, offene Punkte</a:t>
            </a:r>
          </a:p>
          <a:p>
            <a:pPr algn="l">
              <a:spcBef>
                <a:spcPts val="100"/>
              </a:spcBef>
            </a:pPr>
            <a:r>
              <a:rPr lang="de-DE" sz="1200" b="1" dirty="0">
                <a:solidFill>
                  <a:srgbClr val="3F59FF"/>
                </a:solidFill>
                <a:latin typeface="Consolas"/>
              </a:rPr>
              <a:t>AGENTS.md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— Multi-Agenten-Konfiguration: spezialisierte Rollen definieren</a:t>
            </a:r>
          </a:p>
        </p:txBody>
      </p:sp>
      <p:sp>
        <p:nvSpPr>
          <p:cNvPr id="320" name="Card2H"/>
          <p:cNvSpPr>
            <a:spLocks noGrp="1"/>
          </p:cNvSpPr>
          <p:nvPr/>
        </p:nvSpPr>
        <p:spPr>
          <a:xfrm>
            <a:off x="4635500" y="2921000"/>
            <a:ext cx="7162800" cy="4064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lIns="1524" tIns="508" rIns="1270" bIns="508" anchor="ctr"/>
          <a:lstStyle/>
          <a:p>
            <a:pPr algn="l">
              <a:spcBef>
                <a:spcPts val="0"/>
              </a:spcBef>
            </a:pPr>
            <a:r>
              <a:rPr lang="de-DE" sz="1300" b="1" dirty="0">
                <a:solidFill>
                  <a:srgbClr val="FFFFFF"/>
                </a:solidFill>
                <a:latin typeface="Open Sans"/>
              </a:rPr>
              <a:t>📂  .claude/ — Erweiterte Konfiguration</a:t>
            </a:r>
          </a:p>
        </p:txBody>
      </p:sp>
      <p:sp>
        <p:nvSpPr>
          <p:cNvPr id="321" name="Card2C"/>
          <p:cNvSpPr>
            <a:spLocks noGrp="1"/>
          </p:cNvSpPr>
          <p:nvPr/>
        </p:nvSpPr>
        <p:spPr>
          <a:xfrm>
            <a:off x="4635500" y="3327400"/>
            <a:ext cx="7162800" cy="9906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txBody>
          <a:bodyPr lIns="1778" tIns="1016" rIns="1270" bIns="762" anchor="t"/>
          <a:lstStyle/>
          <a:p>
            <a:pPr algn="l">
              <a:spcBef>
                <a:spcPts val="0"/>
              </a:spcBef>
            </a:pPr>
            <a:r>
              <a:rPr lang="de-DE" sz="1200" b="1" dirty="0">
                <a:solidFill>
                  <a:srgbClr val="212B80"/>
                </a:solidFill>
                <a:latin typeface="Consolas"/>
              </a:rPr>
              <a:t>agents/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 →  Spezialisierte KI-Rollen (z.B. Reviewer, Architekt, Tester)</a:t>
            </a:r>
          </a:p>
          <a:p>
            <a:pPr algn="l">
              <a:spcBef>
                <a:spcPts val="100"/>
              </a:spcBef>
            </a:pPr>
            <a:r>
              <a:rPr lang="de-DE" sz="1200" b="1" dirty="0">
                <a:solidFill>
                  <a:srgbClr val="212B80"/>
                </a:solidFill>
                <a:latin typeface="Consolas"/>
              </a:rPr>
              <a:t>commands/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 →  Eigene Slash-Commands für wiederkehrende Aufgaben</a:t>
            </a:r>
          </a:p>
          <a:p>
            <a:pPr algn="l">
              <a:spcBef>
                <a:spcPts val="100"/>
              </a:spcBef>
            </a:pPr>
            <a:r>
              <a:rPr lang="de-DE" sz="1200" b="1" dirty="0">
                <a:solidFill>
                  <a:srgbClr val="212B80"/>
                </a:solidFill>
                <a:latin typeface="Consolas"/>
              </a:rPr>
              <a:t>rules/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 →  Automatische Regeln die immer gelten (Code-Style, Security)</a:t>
            </a:r>
          </a:p>
          <a:p>
            <a:pPr algn="l">
              <a:spcBef>
                <a:spcPts val="100"/>
              </a:spcBef>
            </a:pPr>
            <a:r>
              <a:rPr lang="de-DE" sz="1200" b="1" dirty="0">
                <a:solidFill>
                  <a:srgbClr val="212B80"/>
                </a:solidFill>
                <a:latin typeface="Consolas"/>
              </a:rPr>
              <a:t>skills/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 →  Wiederverwendbare Prompt-Bausteine</a:t>
            </a:r>
          </a:p>
        </p:txBody>
      </p:sp>
      <p:sp>
        <p:nvSpPr>
          <p:cNvPr id="330" name="Card3H"/>
          <p:cNvSpPr>
            <a:spLocks noGrp="1"/>
          </p:cNvSpPr>
          <p:nvPr/>
        </p:nvSpPr>
        <p:spPr>
          <a:xfrm>
            <a:off x="4635500" y="4419600"/>
            <a:ext cx="7162800" cy="4064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lIns="1524" tIns="508" rIns="1270" bIns="508" anchor="ctr"/>
          <a:lstStyle/>
          <a:p>
            <a:pPr algn="l">
              <a:spcBef>
                <a:spcPts val="0"/>
              </a:spcBef>
            </a:pPr>
            <a:r>
              <a:rPr lang="de-DE" sz="1300" b="1" dirty="0">
                <a:solidFill>
                  <a:srgbClr val="FFFFFF"/>
                </a:solidFill>
                <a:latin typeface="Open Sans"/>
              </a:rPr>
              <a:t>⚙  Infrastruktur-Dateien</a:t>
            </a:r>
          </a:p>
        </p:txBody>
      </p:sp>
      <p:sp>
        <p:nvSpPr>
          <p:cNvPr id="331" name="Card3C"/>
          <p:cNvSpPr>
            <a:spLocks noGrp="1"/>
          </p:cNvSpPr>
          <p:nvPr/>
        </p:nvSpPr>
        <p:spPr>
          <a:xfrm>
            <a:off x="4635500" y="4826000"/>
            <a:ext cx="7162800" cy="124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lIns="1778" tIns="1016" rIns="1270" bIns="762" anchor="t"/>
          <a:lstStyle/>
          <a:p>
            <a:pPr algn="l">
              <a:spcBef>
                <a:spcPts val="0"/>
              </a:spcBef>
            </a:pPr>
            <a:r>
              <a:rPr lang="de-DE" sz="1200" b="1" dirty="0">
                <a:solidFill>
                  <a:srgbClr val="374151"/>
                </a:solidFill>
                <a:latin typeface="Consolas"/>
              </a:rPr>
              <a:t>.mcp.json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 →  Tool-Server Verbindungen (DB, API, Monitoring)</a:t>
            </a:r>
          </a:p>
          <a:p>
            <a:pPr algn="l">
              <a:spcBef>
                <a:spcPts val="100"/>
              </a:spcBef>
            </a:pPr>
            <a:r>
              <a:rPr lang="de-DE" sz="1200" b="1" dirty="0">
                <a:solidFill>
                  <a:srgbClr val="374151"/>
                </a:solidFill>
                <a:latin typeface="Consolas"/>
              </a:rPr>
              <a:t>settings.json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 →  Tool-Berechtigungen (welche Befehle erlaubt)</a:t>
            </a:r>
          </a:p>
          <a:p>
            <a:pPr algn="l">
              <a:spcBef>
                <a:spcPts val="100"/>
              </a:spcBef>
            </a:pPr>
            <a:r>
              <a:rPr lang="de-DE" sz="1200" b="1" dirty="0">
                <a:solidFill>
                  <a:srgbClr val="374151"/>
                </a:solidFill>
                <a:latin typeface="Consolas"/>
              </a:rPr>
              <a:t>tasks/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 →  Vordefinierte Aufgaben-Templates</a:t>
            </a:r>
          </a:p>
          <a:p>
            <a:pPr algn="l">
              <a:spcBef>
                <a:spcPts val="100"/>
              </a:spcBef>
            </a:pPr>
            <a:r>
              <a:rPr lang="de-DE" sz="1200" b="1" dirty="0">
                <a:solidFill>
                  <a:srgbClr val="374151"/>
                </a:solidFill>
                <a:latin typeface="Consolas"/>
              </a:rPr>
              <a:t>setup.sh</a:t>
            </a:r>
            <a:r>
              <a:rPr lang="de-DE" sz="1200" dirty="0">
                <a:solidFill>
                  <a:srgbClr val="374151"/>
                </a:solidFill>
                <a:latin typeface="Open Sans"/>
              </a:rPr>
              <a:t>  →  Automatisches Projekt-Setup für neue Teammitglieder</a:t>
            </a:r>
          </a:p>
        </p:txBody>
      </p:sp>
    </p:spTree>
    <p:extLst>
      <p:ext uri="{BB962C8B-B14F-4D97-AF65-F5344CB8AC3E}">
        <p14:creationId xmlns:p14="http://schemas.microsoft.com/office/powerpoint/2010/main" val="602406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A520F7-ACB6-4FE9-4D41-ED1A8C36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latin typeface="Open Sans"/>
              </a:rPr>
              <a:t>CLAUDE.md + MEMORY.md — Das Projekt-Gehirn</a:t>
            </a:r>
          </a:p>
        </p:txBody>
      </p:sp>
      <p:sp>
        <p:nvSpPr>
          <p:cNvPr id="300" name="Sub"/>
          <p:cNvSpPr>
            <a:spLocks noGrp="1"/>
          </p:cNvSpPr>
          <p:nvPr/>
        </p:nvSpPr>
        <p:spPr>
          <a:xfrm>
            <a:off x="393700" y="1422400"/>
            <a:ext cx="11201400" cy="3556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lIns="1524" tIns="508" rIns="1524" bIns="508" anchor="ctr"/>
          <a:lstStyle/>
          <a:p>
            <a:pPr algn="ctr">
              <a:spcBef>
                <a:spcPts val="0"/>
              </a:spcBef>
            </a:pPr>
            <a:r>
              <a:rPr lang="de-DE" sz="1200" dirty="0">
                <a:solidFill>
                  <a:srgbClr val="FFFFFF"/>
                </a:solidFill>
                <a:latin typeface="Open Sans"/>
              </a:rPr>
              <a:t>Diese zwei Dateien sind der wichtigste Hebel für Code-Qualität — sie definieren WAS die KI über euer Projekt weiß</a:t>
            </a:r>
          </a:p>
        </p:txBody>
      </p:sp>
      <p:sp>
        <p:nvSpPr>
          <p:cNvPr id="310" name="CL_Hdr"/>
          <p:cNvSpPr>
            <a:spLocks noGrp="1"/>
          </p:cNvSpPr>
          <p:nvPr/>
        </p:nvSpPr>
        <p:spPr>
          <a:xfrm>
            <a:off x="393700" y="1879600"/>
            <a:ext cx="5499100" cy="4572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lIns="1524" tIns="508" rIns="1270" bIns="508" anchor="ctr"/>
          <a:lstStyle/>
          <a:p>
            <a:pPr algn="l">
              <a:spcBef>
                <a:spcPts val="0"/>
              </a:spcBef>
            </a:pPr>
            <a:r>
              <a:rPr lang="de-DE" sz="1400" b="1" dirty="0">
                <a:solidFill>
                  <a:srgbClr val="FFFFFF"/>
                </a:solidFill>
                <a:latin typeface="Open Sans"/>
              </a:rPr>
              <a:t>📝  CLAUDE.md — Projekt-DNA</a:t>
            </a:r>
          </a:p>
        </p:txBody>
      </p:sp>
      <p:sp>
        <p:nvSpPr>
          <p:cNvPr id="311" name="CL_Code"/>
          <p:cNvSpPr>
            <a:spLocks noGrp="1"/>
          </p:cNvSpPr>
          <p:nvPr/>
        </p:nvSpPr>
        <p:spPr>
          <a:xfrm>
            <a:off x="393700" y="2336800"/>
            <a:ext cx="5499100" cy="3733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2032" tIns="1524" rIns="1270" bIns="1016" anchor="t"/>
          <a:lstStyle/>
          <a:p>
            <a:pPr algn="l">
              <a:spcBef>
                <a:spcPts val="0"/>
              </a:spcBef>
            </a:pPr>
            <a:r>
              <a:rPr lang="de-DE" sz="1150" b="1" dirty="0">
                <a:solidFill>
                  <a:srgbClr val="FFD440"/>
                </a:solidFill>
                <a:latin typeface="Consolas"/>
              </a:rPr>
              <a:t># CLAUDE.md</a:t>
            </a:r>
          </a:p>
          <a:p>
            <a:pPr algn="l">
              <a:spcBef>
                <a:spcPts val="100"/>
              </a:spcBef>
            </a:pPr>
            <a:endParaRPr lang="de-DE" sz="1150" b="1" dirty="0">
              <a:solidFill>
                <a:srgbClr val="FFD440"/>
              </a:solidFill>
              <a:latin typeface="Consolas"/>
            </a:endParaRPr>
          </a:p>
          <a:p>
            <a:pPr algn="l">
              <a:spcBef>
                <a:spcPts val="60"/>
              </a:spcBef>
            </a:pPr>
            <a:r>
              <a:rPr lang="de-DE" sz="1100" b="1" dirty="0">
                <a:solidFill>
                  <a:srgbClr val="3F59FF"/>
                </a:solidFill>
                <a:latin typeface="Consolas"/>
              </a:rPr>
              <a:t>## Stack</a:t>
            </a:r>
          </a:p>
          <a:p>
            <a:pPr algn="l">
              <a:spcBef>
                <a:spcPts val="5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Java 17, Spring Boot 3.2, PostgreSQL 15</a:t>
            </a:r>
          </a:p>
          <a:p>
            <a:pPr algn="l">
              <a:spcBef>
                <a:spcPts val="4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Frontend: Vue.js 3 + TypeScript</a:t>
            </a:r>
          </a:p>
          <a:p>
            <a:pPr algn="l">
              <a:spcBef>
                <a:spcPts val="80"/>
              </a:spcBef>
            </a:pPr>
            <a:endParaRPr lang="de-DE" sz="1050" dirty="0">
              <a:solidFill>
                <a:srgbClr val="9CA3AF"/>
              </a:solidFill>
              <a:latin typeface="Consolas"/>
            </a:endParaRPr>
          </a:p>
          <a:p>
            <a:pPr algn="l">
              <a:spcBef>
                <a:spcPts val="60"/>
              </a:spcBef>
            </a:pPr>
            <a:r>
              <a:rPr lang="de-DE" sz="1100" b="1" dirty="0">
                <a:solidFill>
                  <a:srgbClr val="3F59FF"/>
                </a:solidFill>
                <a:latin typeface="Consolas"/>
              </a:rPr>
              <a:t>## Build &amp; Test</a:t>
            </a:r>
          </a:p>
          <a:p>
            <a:pPr algn="l">
              <a:spcBef>
                <a:spcPts val="5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./gradlew build</a:t>
            </a:r>
          </a:p>
          <a:p>
            <a:pPr algn="l">
              <a:spcBef>
                <a:spcPts val="4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./gradlew test</a:t>
            </a:r>
          </a:p>
          <a:p>
            <a:pPr algn="l">
              <a:spcBef>
                <a:spcPts val="80"/>
              </a:spcBef>
            </a:pPr>
            <a:endParaRPr lang="de-DE" sz="1050" dirty="0">
              <a:solidFill>
                <a:srgbClr val="9CA3AF"/>
              </a:solidFill>
              <a:latin typeface="Consolas"/>
            </a:endParaRPr>
          </a:p>
          <a:p>
            <a:pPr algn="l">
              <a:spcBef>
                <a:spcPts val="60"/>
              </a:spcBef>
            </a:pPr>
            <a:r>
              <a:rPr lang="de-DE" sz="1100" b="1" dirty="0">
                <a:solidFill>
                  <a:srgbClr val="3F59FF"/>
                </a:solidFill>
                <a:latin typeface="Consolas"/>
              </a:rPr>
              <a:t>## Konventionen</a:t>
            </a:r>
          </a:p>
          <a:p>
            <a:pPr algn="l">
              <a:spcBef>
                <a:spcPts val="5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- REST-API mit DTOs, Service-Layer</a:t>
            </a:r>
          </a:p>
          <a:p>
            <a:pPr algn="l">
              <a:spcBef>
                <a:spcPts val="4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- Tests mit JUnit 5 + Testcontainers</a:t>
            </a:r>
          </a:p>
          <a:p>
            <a:pPr algn="l">
              <a:spcBef>
                <a:spcPts val="40"/>
              </a:spcBef>
            </a:pPr>
            <a:r>
              <a:rPr lang="de-DE" sz="1050" dirty="0">
                <a:solidFill>
                  <a:srgbClr val="FC8181"/>
                </a:solidFill>
                <a:latin typeface="Consolas"/>
              </a:rPr>
              <a:t>- Keine: Lombok, externe Auth-Libs</a:t>
            </a:r>
          </a:p>
          <a:p>
            <a:pPr algn="l">
              <a:spcBef>
                <a:spcPts val="80"/>
              </a:spcBef>
            </a:pPr>
            <a:endParaRPr lang="de-DE" sz="1050" dirty="0">
              <a:solidFill>
                <a:srgbClr val="FC8181"/>
              </a:solidFill>
              <a:latin typeface="Consolas"/>
            </a:endParaRPr>
          </a:p>
          <a:p>
            <a:pPr algn="l">
              <a:spcBef>
                <a:spcPts val="60"/>
              </a:spcBef>
            </a:pPr>
            <a:r>
              <a:rPr lang="de-DE" sz="1100" b="1" dirty="0">
                <a:solidFill>
                  <a:srgbClr val="3F59FF"/>
                </a:solidFill>
                <a:latin typeface="Consolas"/>
              </a:rPr>
              <a:t>## Architektur</a:t>
            </a:r>
          </a:p>
          <a:p>
            <a:pPr algn="l">
              <a:spcBef>
                <a:spcPts val="5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Hexagonal Architecture mit Ports/Adapters</a:t>
            </a:r>
          </a:p>
        </p:txBody>
      </p:sp>
      <p:sp>
        <p:nvSpPr>
          <p:cNvPr id="320" name="ME_Hdr"/>
          <p:cNvSpPr>
            <a:spLocks noGrp="1"/>
          </p:cNvSpPr>
          <p:nvPr/>
        </p:nvSpPr>
        <p:spPr>
          <a:xfrm>
            <a:off x="6299200" y="1879600"/>
            <a:ext cx="5499100" cy="4572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lIns="1524" tIns="508" rIns="1270" bIns="508" anchor="ctr"/>
          <a:lstStyle/>
          <a:p>
            <a:pPr algn="l">
              <a:spcBef>
                <a:spcPts val="0"/>
              </a:spcBef>
            </a:pPr>
            <a:r>
              <a:rPr lang="de-DE" sz="1400" b="1" dirty="0">
                <a:solidFill>
                  <a:srgbClr val="FFFFFF"/>
                </a:solidFill>
                <a:latin typeface="Open Sans"/>
              </a:rPr>
              <a:t>🧠  MEMORY.md — Laufendes Gedächtnis</a:t>
            </a:r>
          </a:p>
        </p:txBody>
      </p:sp>
      <p:sp>
        <p:nvSpPr>
          <p:cNvPr id="321" name="ME_Code"/>
          <p:cNvSpPr>
            <a:spLocks noGrp="1"/>
          </p:cNvSpPr>
          <p:nvPr/>
        </p:nvSpPr>
        <p:spPr>
          <a:xfrm>
            <a:off x="6299200" y="2336800"/>
            <a:ext cx="5499100" cy="3733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wrap="square" lIns="2032" tIns="1524" rIns="1270" bIns="1016" anchor="t"/>
          <a:lstStyle/>
          <a:p>
            <a:pPr algn="l">
              <a:spcBef>
                <a:spcPts val="0"/>
              </a:spcBef>
            </a:pPr>
            <a:r>
              <a:rPr lang="de-DE" sz="1150" b="1" dirty="0">
                <a:solidFill>
                  <a:srgbClr val="FFD440"/>
                </a:solidFill>
                <a:latin typeface="Consolas"/>
              </a:rPr>
              <a:t># MEMORY.md</a:t>
            </a:r>
          </a:p>
          <a:p>
            <a:pPr algn="l">
              <a:spcBef>
                <a:spcPts val="100"/>
              </a:spcBef>
            </a:pPr>
            <a:endParaRPr lang="de-DE" sz="1150" b="1" dirty="0">
              <a:solidFill>
                <a:srgbClr val="FFD440"/>
              </a:solidFill>
              <a:latin typeface="Consolas"/>
            </a:endParaRPr>
          </a:p>
          <a:p>
            <a:pPr algn="l">
              <a:spcBef>
                <a:spcPts val="60"/>
              </a:spcBef>
            </a:pPr>
            <a:r>
              <a:rPr lang="de-DE" sz="1100" b="1" dirty="0">
                <a:solidFill>
                  <a:srgbClr val="3F59FF"/>
                </a:solidFill>
                <a:latin typeface="Consolas"/>
              </a:rPr>
              <a:t>## Architektur-Entscheidungen</a:t>
            </a:r>
          </a:p>
          <a:p>
            <a:pPr algn="l">
              <a:spcBef>
                <a:spcPts val="5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- PostgreSQL statt MongoDB (Team-Entscheidung)</a:t>
            </a:r>
          </a:p>
          <a:p>
            <a:pPr algn="l">
              <a:spcBef>
                <a:spcPts val="4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- JWT Auth selbst implementiert (kein Keycloak)</a:t>
            </a:r>
          </a:p>
          <a:p>
            <a:pPr algn="l">
              <a:spcBef>
                <a:spcPts val="80"/>
              </a:spcBef>
            </a:pPr>
            <a:endParaRPr lang="de-DE" sz="1050" dirty="0">
              <a:solidFill>
                <a:srgbClr val="9CA3AF"/>
              </a:solidFill>
              <a:latin typeface="Consolas"/>
            </a:endParaRPr>
          </a:p>
          <a:p>
            <a:pPr algn="l">
              <a:spcBef>
                <a:spcPts val="60"/>
              </a:spcBef>
            </a:pPr>
            <a:r>
              <a:rPr lang="de-DE" sz="1100" b="1" dirty="0">
                <a:solidFill>
                  <a:srgbClr val="3F59FF"/>
                </a:solidFill>
                <a:latin typeface="Consolas"/>
              </a:rPr>
              <a:t>## Lessons Learned</a:t>
            </a:r>
          </a:p>
          <a:p>
            <a:pPr algn="l">
              <a:spcBef>
                <a:spcPts val="5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- Vue Composables statt Mixins verwenden</a:t>
            </a:r>
          </a:p>
          <a:p>
            <a:pPr algn="l">
              <a:spcBef>
                <a:spcPts val="4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- Testcontainers brauchen Docker-Socket</a:t>
            </a:r>
          </a:p>
          <a:p>
            <a:pPr algn="l">
              <a:spcBef>
                <a:spcPts val="80"/>
              </a:spcBef>
            </a:pPr>
            <a:endParaRPr lang="de-DE" sz="1050" dirty="0">
              <a:solidFill>
                <a:srgbClr val="9CA3AF"/>
              </a:solidFill>
              <a:latin typeface="Consolas"/>
            </a:endParaRPr>
          </a:p>
          <a:p>
            <a:pPr algn="l">
              <a:spcBef>
                <a:spcPts val="60"/>
              </a:spcBef>
            </a:pPr>
            <a:r>
              <a:rPr lang="de-DE" sz="1100" b="1" dirty="0">
                <a:solidFill>
                  <a:srgbClr val="FC8181"/>
                </a:solidFill>
                <a:latin typeface="Consolas"/>
              </a:rPr>
              <a:t>## Offene Punkte</a:t>
            </a:r>
          </a:p>
          <a:p>
            <a:pPr algn="l">
              <a:spcBef>
                <a:spcPts val="5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- [ ] Caching-Strategie noch offen</a:t>
            </a:r>
          </a:p>
          <a:p>
            <a:pPr algn="l">
              <a:spcBef>
                <a:spcPts val="4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- [ ] E2E-Tests fehlen komplett</a:t>
            </a:r>
          </a:p>
          <a:p>
            <a:pPr algn="l">
              <a:spcBef>
                <a:spcPts val="80"/>
              </a:spcBef>
            </a:pPr>
            <a:endParaRPr lang="de-DE" sz="1050" dirty="0">
              <a:solidFill>
                <a:srgbClr val="9CA3AF"/>
              </a:solidFill>
              <a:latin typeface="Consolas"/>
            </a:endParaRPr>
          </a:p>
          <a:p>
            <a:pPr algn="l">
              <a:spcBef>
                <a:spcPts val="60"/>
              </a:spcBef>
            </a:pPr>
            <a:r>
              <a:rPr lang="de-DE" sz="1100" b="1" dirty="0">
                <a:solidFill>
                  <a:srgbClr val="FC8181"/>
                </a:solidFill>
                <a:latin typeface="Consolas"/>
              </a:rPr>
              <a:t>## Bekannte Bugs</a:t>
            </a:r>
          </a:p>
          <a:p>
            <a:pPr algn="l">
              <a:spcBef>
                <a:spcPts val="50"/>
              </a:spcBef>
            </a:pPr>
            <a:r>
              <a:rPr lang="de-DE" sz="1050" dirty="0">
                <a:solidFill>
                  <a:srgbClr val="9CA3AF"/>
                </a:solidFill>
                <a:latin typeface="Consolas"/>
              </a:rPr>
              <a:t>- Login-Redirect nach Timeout broken</a:t>
            </a:r>
          </a:p>
        </p:txBody>
      </p:sp>
      <p:sp>
        <p:nvSpPr>
          <p:cNvPr id="340" name="CompBar"/>
          <p:cNvSpPr>
            <a:spLocks noGrp="1"/>
          </p:cNvSpPr>
          <p:nvPr/>
        </p:nvSpPr>
        <p:spPr>
          <a:xfrm>
            <a:off x="393700" y="6146800"/>
            <a:ext cx="11201400" cy="508000"/>
          </a:xfrm>
          <a:prstGeom prst="rect">
            <a:avLst/>
          </a:prstGeom>
          <a:noFill/>
          <a:ln>
            <a:noFill/>
          </a:ln>
        </p:spPr>
        <p:txBody>
          <a:bodyPr lIns="1905" tIns="508" rIns="1905" bIns="508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  <a:latin typeface="Open Sans"/>
              </a:rPr>
              <a:t>💡  CLAUDE.md = statisch (ändert sich selten)  ·  MEMORY.md = dynamisch (wächst mit dem Projekt)</a:t>
            </a:r>
          </a:p>
        </p:txBody>
      </p:sp>
    </p:spTree>
    <p:extLst>
      <p:ext uri="{BB962C8B-B14F-4D97-AF65-F5344CB8AC3E}">
        <p14:creationId xmlns:p14="http://schemas.microsoft.com/office/powerpoint/2010/main" val="1915577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F34BC-A055-755A-3C40-6571E661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latin typeface="Open Sans"/>
              </a:rPr>
              <a:t>.claude/ — Agents, Rules, Commands, Skills</a:t>
            </a:r>
          </a:p>
        </p:txBody>
      </p:sp>
      <p:sp>
        <p:nvSpPr>
          <p:cNvPr id="300" name="Ag_H"/>
          <p:cNvSpPr>
            <a:spLocks noGrp="1"/>
          </p:cNvSpPr>
          <p:nvPr/>
        </p:nvSpPr>
        <p:spPr>
          <a:xfrm>
            <a:off x="393700" y="1422400"/>
            <a:ext cx="5588000" cy="4064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lIns="1524" tIns="508" bIns="508" anchor="ctr"/>
          <a:lstStyle/>
          <a:p>
            <a:pPr algn="l">
              <a:spcBef>
                <a:spcPts val="0"/>
              </a:spcBef>
            </a:pPr>
            <a:r>
              <a:rPr lang="de-DE" sz="1300" b="1" dirty="0">
                <a:solidFill>
                  <a:srgbClr val="FFFFFF"/>
                </a:solidFill>
                <a:latin typeface="Open Sans"/>
              </a:rPr>
              <a:t>🤖  agents/ — Spezialisierte KI-Rollen</a:t>
            </a:r>
          </a:p>
        </p:txBody>
      </p:sp>
      <p:sp>
        <p:nvSpPr>
          <p:cNvPr id="301" name="Ag_C"/>
          <p:cNvSpPr>
            <a:spLocks noGrp="1"/>
          </p:cNvSpPr>
          <p:nvPr/>
        </p:nvSpPr>
        <p:spPr>
          <a:xfrm>
            <a:off x="393700" y="1828800"/>
            <a:ext cx="5588000" cy="18796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txBody>
          <a:bodyPr lIns="1778" tIns="1270" rIns="1270" bIns="762" anchor="t"/>
          <a:lstStyle/>
          <a:p>
            <a:pPr algn="l">
              <a:spcBef>
                <a:spcPts val="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Verschiedene Agenten für verschiedene Aufgaben:</a:t>
            </a:r>
          </a:p>
          <a:p>
            <a:pPr algn="l">
              <a:spcBef>
                <a:spcPts val="80"/>
              </a:spcBef>
            </a:pPr>
            <a:endParaRPr lang="de-DE" sz="1200" dirty="0">
              <a:solidFill>
                <a:srgbClr val="374151"/>
              </a:solidFill>
              <a:latin typeface="Open Sans"/>
            </a:endParaRP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3F59FF"/>
                </a:solidFill>
                <a:latin typeface="Consolas"/>
              </a:rPr>
              <a:t>reviewer.md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Prüft Code auf Architektur-Verstöße</a:t>
            </a: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3F59FF"/>
                </a:solidFill>
                <a:latin typeface="Consolas"/>
              </a:rPr>
              <a:t>tester.md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Generiert Tests mit Coverage-Fokus</a:t>
            </a: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3F59FF"/>
                </a:solidFill>
                <a:latin typeface="Consolas"/>
              </a:rPr>
              <a:t>architect.md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Plant Features auf System-Ebene</a:t>
            </a:r>
          </a:p>
          <a:p>
            <a:pPr algn="l">
              <a:spcBef>
                <a:spcPts val="60"/>
              </a:spcBef>
            </a:pPr>
            <a:endParaRPr lang="de-DE" sz="1150" dirty="0">
              <a:solidFill>
                <a:srgbClr val="374151"/>
              </a:solidFill>
              <a:latin typeface="Open Sans"/>
            </a:endParaRPr>
          </a:p>
          <a:p>
            <a:pPr algn="l">
              <a:spcBef>
                <a:spcPts val="40"/>
              </a:spcBef>
            </a:pPr>
            <a:r>
              <a:rPr lang="de-DE" sz="1150" i="1" dirty="0">
                <a:solidFill>
                  <a:srgbClr val="212B80"/>
                </a:solidFill>
                <a:latin typeface="Open Sans"/>
              </a:rPr>
              <a:t>→ Jeder Agent hat eigenen Kontext + Regeln</a:t>
            </a:r>
          </a:p>
        </p:txBody>
      </p:sp>
      <p:sp>
        <p:nvSpPr>
          <p:cNvPr id="310" name="Ru_H"/>
          <p:cNvSpPr>
            <a:spLocks noGrp="1"/>
          </p:cNvSpPr>
          <p:nvPr/>
        </p:nvSpPr>
        <p:spPr>
          <a:xfrm>
            <a:off x="6210300" y="1422400"/>
            <a:ext cx="5588000" cy="4064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lIns="1524" tIns="508" bIns="508" anchor="ctr"/>
          <a:lstStyle/>
          <a:p>
            <a:pPr algn="l">
              <a:spcBef>
                <a:spcPts val="0"/>
              </a:spcBef>
            </a:pPr>
            <a:r>
              <a:rPr lang="de-DE" sz="1300" b="1" dirty="0">
                <a:solidFill>
                  <a:srgbClr val="FFFFFF"/>
                </a:solidFill>
                <a:latin typeface="Open Sans"/>
              </a:rPr>
              <a:t>📏  rules/ — Automatische Regeln</a:t>
            </a:r>
          </a:p>
        </p:txBody>
      </p:sp>
      <p:sp>
        <p:nvSpPr>
          <p:cNvPr id="311" name="Ru_C"/>
          <p:cNvSpPr>
            <a:spLocks noGrp="1"/>
          </p:cNvSpPr>
          <p:nvPr/>
        </p:nvSpPr>
        <p:spPr>
          <a:xfrm>
            <a:off x="6210300" y="1828800"/>
            <a:ext cx="5588000" cy="18796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txBody>
          <a:bodyPr lIns="1778" tIns="1270" rIns="1270" bIns="762" anchor="t"/>
          <a:lstStyle/>
          <a:p>
            <a:pPr algn="l">
              <a:spcBef>
                <a:spcPts val="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Regeln die IMMER gelten — ohne dass man sie jedes Mal prompten muss:</a:t>
            </a:r>
          </a:p>
          <a:p>
            <a:pPr algn="l">
              <a:spcBef>
                <a:spcPts val="80"/>
              </a:spcBef>
            </a:pPr>
            <a:endParaRPr lang="de-DE" sz="1200" dirty="0">
              <a:solidFill>
                <a:srgbClr val="374151"/>
              </a:solidFill>
              <a:latin typeface="Open Sans"/>
            </a:endParaRP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212B80"/>
                </a:solidFill>
                <a:latin typeface="Consolas"/>
              </a:rPr>
              <a:t>code-style.md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"Immer Dependency Injection"</a:t>
            </a: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212B80"/>
                </a:solidFill>
                <a:latin typeface="Consolas"/>
              </a:rPr>
              <a:t>security.md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"Keine Secrets in Code"</a:t>
            </a: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212B80"/>
                </a:solidFill>
                <a:latin typeface="Consolas"/>
              </a:rPr>
              <a:t>testing.md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"Jeder Service braucht Tests"</a:t>
            </a:r>
          </a:p>
          <a:p>
            <a:pPr algn="l">
              <a:spcBef>
                <a:spcPts val="60"/>
              </a:spcBef>
            </a:pPr>
            <a:endParaRPr lang="de-DE" sz="1150" dirty="0">
              <a:solidFill>
                <a:srgbClr val="374151"/>
              </a:solidFill>
              <a:latin typeface="Open Sans"/>
            </a:endParaRPr>
          </a:p>
          <a:p>
            <a:pPr algn="l">
              <a:spcBef>
                <a:spcPts val="40"/>
              </a:spcBef>
            </a:pPr>
            <a:r>
              <a:rPr lang="de-DE" sz="1150" i="1" dirty="0">
                <a:solidFill>
                  <a:srgbClr val="212B80"/>
                </a:solidFill>
                <a:latin typeface="Open Sans"/>
              </a:rPr>
              <a:t>→ Wirkt wie automatische PR-Review-Checkliste</a:t>
            </a:r>
          </a:p>
        </p:txBody>
      </p:sp>
      <p:sp>
        <p:nvSpPr>
          <p:cNvPr id="320" name="Co_H"/>
          <p:cNvSpPr>
            <a:spLocks noGrp="1"/>
          </p:cNvSpPr>
          <p:nvPr/>
        </p:nvSpPr>
        <p:spPr>
          <a:xfrm>
            <a:off x="393700" y="3810000"/>
            <a:ext cx="5588000" cy="4064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lIns="1524" tIns="508" bIns="508" anchor="ctr"/>
          <a:lstStyle/>
          <a:p>
            <a:pPr algn="l">
              <a:spcBef>
                <a:spcPts val="0"/>
              </a:spcBef>
            </a:pPr>
            <a:r>
              <a:rPr lang="de-DE" sz="1300" b="1" dirty="0">
                <a:solidFill>
                  <a:srgbClr val="FFFFFF"/>
                </a:solidFill>
                <a:latin typeface="Open Sans"/>
              </a:rPr>
              <a:t>⚡  commands/ — Eigene Slash-Commands</a:t>
            </a:r>
          </a:p>
        </p:txBody>
      </p:sp>
      <p:sp>
        <p:nvSpPr>
          <p:cNvPr id="321" name="Co_C"/>
          <p:cNvSpPr>
            <a:spLocks noGrp="1"/>
          </p:cNvSpPr>
          <p:nvPr/>
        </p:nvSpPr>
        <p:spPr>
          <a:xfrm>
            <a:off x="393700" y="4216400"/>
            <a:ext cx="5588000" cy="1879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lIns="1778" tIns="1270" rIns="1270" bIns="762" anchor="t"/>
          <a:lstStyle/>
          <a:p>
            <a:pPr algn="l">
              <a:spcBef>
                <a:spcPts val="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Wiederholbare Aufgaben als Einzeiler:</a:t>
            </a:r>
          </a:p>
          <a:p>
            <a:pPr algn="l">
              <a:spcBef>
                <a:spcPts val="80"/>
              </a:spcBef>
            </a:pPr>
            <a:endParaRPr lang="de-DE" sz="1200" dirty="0">
              <a:solidFill>
                <a:srgbClr val="374151"/>
              </a:solidFill>
              <a:latin typeface="Open Sans"/>
            </a:endParaRP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3F59FF"/>
                </a:solidFill>
                <a:latin typeface="Consolas"/>
              </a:rPr>
              <a:t>/review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Prüfe aktuellen Code gegen Regeln</a:t>
            </a: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3F59FF"/>
                </a:solidFill>
                <a:latin typeface="Consolas"/>
              </a:rPr>
              <a:t>/test-gen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Generiere Tests für geänderte Dateien</a:t>
            </a: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3F59FF"/>
                </a:solidFill>
                <a:latin typeface="Consolas"/>
              </a:rPr>
              <a:t>/refactor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Refactoring mit Plan-Mode</a:t>
            </a:r>
          </a:p>
          <a:p>
            <a:pPr algn="l">
              <a:spcBef>
                <a:spcPts val="60"/>
              </a:spcBef>
            </a:pPr>
            <a:endParaRPr lang="de-DE" sz="1150" dirty="0">
              <a:solidFill>
                <a:srgbClr val="374151"/>
              </a:solidFill>
              <a:latin typeface="Open Sans"/>
            </a:endParaRPr>
          </a:p>
          <a:p>
            <a:pPr algn="l">
              <a:spcBef>
                <a:spcPts val="40"/>
              </a:spcBef>
            </a:pPr>
            <a:r>
              <a:rPr lang="de-DE" sz="1150" i="1" dirty="0">
                <a:solidFill>
                  <a:srgbClr val="374151"/>
                </a:solidFill>
                <a:latin typeface="Open Sans"/>
              </a:rPr>
              <a:t>→ Team-weit geteilt via Git</a:t>
            </a:r>
          </a:p>
        </p:txBody>
      </p:sp>
      <p:sp>
        <p:nvSpPr>
          <p:cNvPr id="330" name="Sk_H"/>
          <p:cNvSpPr>
            <a:spLocks noGrp="1"/>
          </p:cNvSpPr>
          <p:nvPr/>
        </p:nvSpPr>
        <p:spPr>
          <a:xfrm>
            <a:off x="6210300" y="3810000"/>
            <a:ext cx="5588000" cy="406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lIns="1524" tIns="508" bIns="508" anchor="ctr"/>
          <a:lstStyle/>
          <a:p>
            <a:pPr algn="l">
              <a:spcBef>
                <a:spcPts val="0"/>
              </a:spcBef>
            </a:pPr>
            <a:r>
              <a:rPr lang="de-DE" sz="1300" b="1" dirty="0">
                <a:solidFill>
                  <a:srgbClr val="FFFFFF"/>
                </a:solidFill>
                <a:latin typeface="Open Sans"/>
              </a:rPr>
              <a:t>🧩  skills/ — Wiederverwendbare Prompt-Bausteine</a:t>
            </a:r>
          </a:p>
        </p:txBody>
      </p:sp>
      <p:sp>
        <p:nvSpPr>
          <p:cNvPr id="331" name="Sk_C"/>
          <p:cNvSpPr>
            <a:spLocks noGrp="1"/>
          </p:cNvSpPr>
          <p:nvPr/>
        </p:nvSpPr>
        <p:spPr>
          <a:xfrm>
            <a:off x="6210300" y="4216400"/>
            <a:ext cx="5588000" cy="187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lIns="1778" tIns="1270" rIns="1270" bIns="762" anchor="t"/>
          <a:lstStyle/>
          <a:p>
            <a:pPr algn="l">
              <a:spcBef>
                <a:spcPts val="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Komplexe Prompt-Patterns als Templates:</a:t>
            </a:r>
          </a:p>
          <a:p>
            <a:pPr algn="l">
              <a:spcBef>
                <a:spcPts val="80"/>
              </a:spcBef>
            </a:pPr>
            <a:endParaRPr lang="de-DE" sz="1200" dirty="0">
              <a:solidFill>
                <a:srgbClr val="374151"/>
              </a:solidFill>
              <a:latin typeface="Open Sans"/>
            </a:endParaRP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92400E"/>
                </a:solidFill>
                <a:latin typeface="Consolas"/>
              </a:rPr>
              <a:t>api-design.md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REST-Endpoint nach Team-Standard</a:t>
            </a: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92400E"/>
                </a:solidFill>
                <a:latin typeface="Consolas"/>
              </a:rPr>
              <a:t>migration.md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DB-Migration mit Flyway-Pattern</a:t>
            </a:r>
          </a:p>
          <a:p>
            <a:pPr algn="l">
              <a:spcBef>
                <a:spcPts val="50"/>
              </a:spcBef>
            </a:pPr>
            <a:r>
              <a:rPr lang="de-DE" sz="1150" b="1" dirty="0">
                <a:solidFill>
                  <a:srgbClr val="92400E"/>
                </a:solidFill>
                <a:latin typeface="Consolas"/>
              </a:rPr>
              <a:t>error-handling.md</a:t>
            </a:r>
            <a:r>
              <a:rPr lang="de-DE" sz="1150" dirty="0">
                <a:solidFill>
                  <a:srgbClr val="374151"/>
                </a:solidFill>
                <a:latin typeface="Open Sans"/>
              </a:rPr>
              <a:t>  — Exception-Handling Baukasten</a:t>
            </a:r>
          </a:p>
          <a:p>
            <a:pPr algn="l">
              <a:spcBef>
                <a:spcPts val="60"/>
              </a:spcBef>
            </a:pPr>
            <a:endParaRPr lang="de-DE" sz="1150" dirty="0">
              <a:solidFill>
                <a:srgbClr val="374151"/>
              </a:solidFill>
              <a:latin typeface="Open Sans"/>
            </a:endParaRPr>
          </a:p>
          <a:p>
            <a:pPr algn="l">
              <a:spcBef>
                <a:spcPts val="40"/>
              </a:spcBef>
            </a:pPr>
            <a:r>
              <a:rPr lang="de-DE" sz="1150" i="1" dirty="0">
                <a:solidFill>
                  <a:srgbClr val="92400E"/>
                </a:solidFill>
                <a:latin typeface="Open Sans"/>
              </a:rPr>
              <a:t>→ "Best Practices als Code" für die KI</a:t>
            </a:r>
          </a:p>
        </p:txBody>
      </p:sp>
      <p:sp>
        <p:nvSpPr>
          <p:cNvPr id="340" name="BottomBar"/>
          <p:cNvSpPr>
            <a:spLocks noGrp="1"/>
          </p:cNvSpPr>
          <p:nvPr/>
        </p:nvSpPr>
        <p:spPr>
          <a:xfrm>
            <a:off x="393700" y="61976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lIns="1524" tIns="508" rIns="1524" bIns="508" anchor="ctr"/>
          <a:lstStyle/>
          <a:p>
            <a:pPr algn="ctr"/>
            <a:r>
              <a:rPr lang="de-DE" sz="1200" b="1" dirty="0">
                <a:solidFill>
                  <a:schemeClr val="tx2"/>
                </a:solidFill>
                <a:latin typeface="Open Sans"/>
              </a:rPr>
              <a:t>Alles in Git → </a:t>
            </a:r>
            <a:r>
              <a:rPr lang="de-DE" sz="1200" dirty="0">
                <a:solidFill>
                  <a:schemeClr val="tx2"/>
                </a:solidFill>
                <a:latin typeface="Open Sans"/>
              </a:rPr>
              <a:t>jedes Teammitglied profitiert sofort, auch neue Kollegen ab Tag 1</a:t>
            </a:r>
          </a:p>
        </p:txBody>
      </p:sp>
    </p:spTree>
    <p:extLst>
      <p:ext uri="{BB962C8B-B14F-4D97-AF65-F5344CB8AC3E}">
        <p14:creationId xmlns:p14="http://schemas.microsoft.com/office/powerpoint/2010/main" val="3179305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F34BC-A055-755A-3C40-6571E661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latin typeface="Open Sans"/>
              </a:rPr>
              <a:t>Tool-Vergleich: Gleiche Idee, anderer Ordner</a:t>
            </a:r>
          </a:p>
        </p:txBody>
      </p:sp>
      <p:sp>
        <p:nvSpPr>
          <p:cNvPr id="200" name="Sub"/>
          <p:cNvSpPr>
            <a:spLocks noGrp="1"/>
          </p:cNvSpPr>
          <p:nvPr/>
        </p:nvSpPr>
        <p:spPr>
          <a:xfrm>
            <a:off x="393700" y="1422400"/>
            <a:ext cx="11201400" cy="3556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lIns="1524" tIns="508" rIns="1524" bIns="508" anchor="ctr"/>
          <a:lstStyle/>
          <a:p>
            <a:pPr algn="ctr">
              <a:spcBef>
                <a:spcPts val="0"/>
              </a:spcBef>
            </a:pPr>
            <a:r>
              <a:rPr lang="de-DE" sz="1200" dirty="0">
                <a:solidFill>
                  <a:srgbClr val="FFFFFF"/>
                </a:solidFill>
                <a:latin typeface="Open Sans"/>
              </a:rPr>
              <a:t>Alle Vibe-Coding-Tools folgen dem gleichen Prinzip — nur die Dateinamen unterscheiden sich</a:t>
            </a:r>
          </a:p>
        </p:txBody>
      </p:sp>
      <p:sp>
        <p:nvSpPr>
          <p:cNvPr id="210" name="LH"/>
          <p:cNvSpPr>
            <a:spLocks noGrp="1"/>
          </p:cNvSpPr>
          <p:nvPr/>
        </p:nvSpPr>
        <p:spPr>
          <a:xfrm>
            <a:off x="393700" y="1854200"/>
            <a:ext cx="190500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txBody>
          <a:bodyPr lIns="1270" tIns="508" rIns="1016" bIns="508" anchor="ctr"/>
          <a:lstStyle/>
          <a:p>
            <a:pPr algn="ctr">
              <a:spcBef>
                <a:spcPts val="0"/>
              </a:spcBef>
            </a:pPr>
            <a:r>
              <a:rPr lang="de-DE" sz="1300" b="1" dirty="0">
                <a:solidFill>
                  <a:srgbClr val="212B80"/>
                </a:solidFill>
                <a:latin typeface="Open Sans"/>
              </a:rPr>
              <a:t>Konzept</a:t>
            </a:r>
          </a:p>
        </p:txBody>
      </p:sp>
      <p:sp>
        <p:nvSpPr>
          <p:cNvPr id="211" name="C1H"/>
          <p:cNvSpPr>
            <a:spLocks noGrp="1"/>
          </p:cNvSpPr>
          <p:nvPr/>
        </p:nvSpPr>
        <p:spPr>
          <a:xfrm>
            <a:off x="2400300" y="1854200"/>
            <a:ext cx="3175000" cy="4572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lIns="1270" tIns="508" rIns="1016" bIns="508" anchor="ctr"/>
          <a:lstStyle/>
          <a:p>
            <a:pPr algn="ctr">
              <a:spcBef>
                <a:spcPts val="0"/>
              </a:spcBef>
            </a:pPr>
            <a:r>
              <a:rPr lang="de-DE" sz="1300" b="1" dirty="0">
                <a:solidFill>
                  <a:srgbClr val="FFFFFF"/>
                </a:solidFill>
                <a:latin typeface="Open Sans"/>
              </a:rPr>
              <a:t>Claude Code</a:t>
            </a:r>
          </a:p>
        </p:txBody>
      </p:sp>
      <p:sp>
        <p:nvSpPr>
          <p:cNvPr id="212" name="C2H"/>
          <p:cNvSpPr>
            <a:spLocks noGrp="1"/>
          </p:cNvSpPr>
          <p:nvPr/>
        </p:nvSpPr>
        <p:spPr>
          <a:xfrm>
            <a:off x="5676900" y="1854200"/>
            <a:ext cx="3175000" cy="4572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lIns="1270" tIns="508" rIns="1016" bIns="508" anchor="ctr"/>
          <a:lstStyle/>
          <a:p>
            <a:pPr algn="ctr">
              <a:spcBef>
                <a:spcPts val="0"/>
              </a:spcBef>
            </a:pPr>
            <a:r>
              <a:rPr lang="de-DE" sz="1300" b="1" dirty="0">
                <a:solidFill>
                  <a:srgbClr val="FFFFFF"/>
                </a:solidFill>
                <a:latin typeface="Open Sans"/>
              </a:rPr>
              <a:t>Mistral Vibe</a:t>
            </a:r>
          </a:p>
        </p:txBody>
      </p:sp>
      <p:sp>
        <p:nvSpPr>
          <p:cNvPr id="213" name="C3H"/>
          <p:cNvSpPr>
            <a:spLocks noGrp="1"/>
          </p:cNvSpPr>
          <p:nvPr/>
        </p:nvSpPr>
        <p:spPr>
          <a:xfrm>
            <a:off x="8953500" y="1854200"/>
            <a:ext cx="3175000" cy="457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lIns="1270" tIns="508" rIns="1016" bIns="508" anchor="ctr"/>
          <a:lstStyle/>
          <a:p>
            <a:pPr algn="ctr">
              <a:spcBef>
                <a:spcPts val="0"/>
              </a:spcBef>
            </a:pPr>
            <a:r>
              <a:rPr lang="de-DE" sz="1300" b="1" dirty="0">
                <a:solidFill>
                  <a:srgbClr val="FFFFFF"/>
                </a:solidFill>
                <a:latin typeface="Open Sans"/>
              </a:rPr>
              <a:t>GitHub Copilot</a:t>
            </a:r>
          </a:p>
        </p:txBody>
      </p:sp>
      <p:sp>
        <p:nvSpPr>
          <p:cNvPr id="220" name="L0"/>
          <p:cNvSpPr>
            <a:spLocks noGrp="1"/>
          </p:cNvSpPr>
          <p:nvPr/>
        </p:nvSpPr>
        <p:spPr>
          <a:xfrm>
            <a:off x="393700" y="2311400"/>
            <a:ext cx="1905000" cy="635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270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Projekt-DNA</a:t>
            </a:r>
          </a:p>
        </p:txBody>
      </p:sp>
      <p:sp>
        <p:nvSpPr>
          <p:cNvPr id="221" name="V10"/>
          <p:cNvSpPr>
            <a:spLocks noGrp="1"/>
          </p:cNvSpPr>
          <p:nvPr/>
        </p:nvSpPr>
        <p:spPr>
          <a:xfrm>
            <a:off x="2400300" y="2311400"/>
            <a:ext cx="317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CLAUDE.md</a:t>
            </a:r>
          </a:p>
        </p:txBody>
      </p:sp>
      <p:sp>
        <p:nvSpPr>
          <p:cNvPr id="222" name="V20"/>
          <p:cNvSpPr>
            <a:spLocks noGrp="1"/>
          </p:cNvSpPr>
          <p:nvPr/>
        </p:nvSpPr>
        <p:spPr>
          <a:xfrm>
            <a:off x="5676900" y="2311400"/>
            <a:ext cx="317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.vibe/config.toml</a:t>
            </a:r>
          </a:p>
        </p:txBody>
      </p:sp>
      <p:sp>
        <p:nvSpPr>
          <p:cNvPr id="223" name="V30"/>
          <p:cNvSpPr>
            <a:spLocks noGrp="1"/>
          </p:cNvSpPr>
          <p:nvPr/>
        </p:nvSpPr>
        <p:spPr>
          <a:xfrm>
            <a:off x="8953500" y="2311400"/>
            <a:ext cx="317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copilot-instructions.md</a:t>
            </a:r>
          </a:p>
        </p:txBody>
      </p:sp>
      <p:sp>
        <p:nvSpPr>
          <p:cNvPr id="224" name="L1"/>
          <p:cNvSpPr>
            <a:spLocks noGrp="1"/>
          </p:cNvSpPr>
          <p:nvPr/>
        </p:nvSpPr>
        <p:spPr>
          <a:xfrm>
            <a:off x="393700" y="2946400"/>
            <a:ext cx="1905000" cy="635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270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Gedächtnis</a:t>
            </a:r>
          </a:p>
        </p:txBody>
      </p:sp>
      <p:sp>
        <p:nvSpPr>
          <p:cNvPr id="225" name="V11"/>
          <p:cNvSpPr>
            <a:spLocks noGrp="1"/>
          </p:cNvSpPr>
          <p:nvPr/>
        </p:nvSpPr>
        <p:spPr>
          <a:xfrm>
            <a:off x="2400300" y="2946400"/>
            <a:ext cx="3175000" cy="63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MEMORY.md</a:t>
            </a:r>
          </a:p>
        </p:txBody>
      </p:sp>
      <p:sp>
        <p:nvSpPr>
          <p:cNvPr id="226" name="V21"/>
          <p:cNvSpPr>
            <a:spLocks noGrp="1"/>
          </p:cNvSpPr>
          <p:nvPr/>
        </p:nvSpPr>
        <p:spPr>
          <a:xfrm>
            <a:off x="5676900" y="2946400"/>
            <a:ext cx="3175000" cy="63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AGENTS.md</a:t>
            </a:r>
          </a:p>
        </p:txBody>
      </p:sp>
      <p:sp>
        <p:nvSpPr>
          <p:cNvPr id="227" name="V31"/>
          <p:cNvSpPr>
            <a:spLocks noGrp="1"/>
          </p:cNvSpPr>
          <p:nvPr/>
        </p:nvSpPr>
        <p:spPr>
          <a:xfrm>
            <a:off x="8953500" y="2946400"/>
            <a:ext cx="3175000" cy="63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.github/copilot/</a:t>
            </a:r>
          </a:p>
        </p:txBody>
      </p:sp>
      <p:sp>
        <p:nvSpPr>
          <p:cNvPr id="228" name="L2"/>
          <p:cNvSpPr>
            <a:spLocks noGrp="1"/>
          </p:cNvSpPr>
          <p:nvPr/>
        </p:nvSpPr>
        <p:spPr>
          <a:xfrm>
            <a:off x="393700" y="3581400"/>
            <a:ext cx="1905000" cy="635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270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Agenten / Rollen</a:t>
            </a:r>
          </a:p>
        </p:txBody>
      </p:sp>
      <p:sp>
        <p:nvSpPr>
          <p:cNvPr id="229" name="V12"/>
          <p:cNvSpPr>
            <a:spLocks noGrp="1"/>
          </p:cNvSpPr>
          <p:nvPr/>
        </p:nvSpPr>
        <p:spPr>
          <a:xfrm>
            <a:off x="2400300" y="3581400"/>
            <a:ext cx="317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.claude/agents/</a:t>
            </a:r>
          </a:p>
        </p:txBody>
      </p:sp>
      <p:sp>
        <p:nvSpPr>
          <p:cNvPr id="230" name="V22"/>
          <p:cNvSpPr>
            <a:spLocks noGrp="1"/>
          </p:cNvSpPr>
          <p:nvPr/>
        </p:nvSpPr>
        <p:spPr>
          <a:xfrm>
            <a:off x="5676900" y="3581400"/>
            <a:ext cx="317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.vibe/agents/</a:t>
            </a:r>
          </a:p>
        </p:txBody>
      </p:sp>
      <p:sp>
        <p:nvSpPr>
          <p:cNvPr id="231" name="V32"/>
          <p:cNvSpPr>
            <a:spLocks noGrp="1"/>
          </p:cNvSpPr>
          <p:nvPr/>
        </p:nvSpPr>
        <p:spPr>
          <a:xfrm>
            <a:off x="8953500" y="3581400"/>
            <a:ext cx="317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— (nicht nativ)</a:t>
            </a:r>
          </a:p>
        </p:txBody>
      </p:sp>
      <p:sp>
        <p:nvSpPr>
          <p:cNvPr id="232" name="L3"/>
          <p:cNvSpPr>
            <a:spLocks noGrp="1"/>
          </p:cNvSpPr>
          <p:nvPr/>
        </p:nvSpPr>
        <p:spPr>
          <a:xfrm>
            <a:off x="393700" y="4216400"/>
            <a:ext cx="1905000" cy="635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270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Regeln</a:t>
            </a:r>
          </a:p>
        </p:txBody>
      </p:sp>
      <p:sp>
        <p:nvSpPr>
          <p:cNvPr id="233" name="V13"/>
          <p:cNvSpPr>
            <a:spLocks noGrp="1"/>
          </p:cNvSpPr>
          <p:nvPr/>
        </p:nvSpPr>
        <p:spPr>
          <a:xfrm>
            <a:off x="2400300" y="4216400"/>
            <a:ext cx="3175000" cy="63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.claude/rules/</a:t>
            </a:r>
          </a:p>
        </p:txBody>
      </p:sp>
      <p:sp>
        <p:nvSpPr>
          <p:cNvPr id="234" name="V23"/>
          <p:cNvSpPr>
            <a:spLocks noGrp="1"/>
          </p:cNvSpPr>
          <p:nvPr/>
        </p:nvSpPr>
        <p:spPr>
          <a:xfrm>
            <a:off x="5676900" y="4216400"/>
            <a:ext cx="3175000" cy="63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.vibe/rules/</a:t>
            </a:r>
          </a:p>
        </p:txBody>
      </p:sp>
      <p:sp>
        <p:nvSpPr>
          <p:cNvPr id="235" name="V33"/>
          <p:cNvSpPr>
            <a:spLocks noGrp="1"/>
          </p:cNvSpPr>
          <p:nvPr/>
        </p:nvSpPr>
        <p:spPr>
          <a:xfrm>
            <a:off x="8953500" y="4216400"/>
            <a:ext cx="3175000" cy="63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.vscode/settings.json</a:t>
            </a:r>
          </a:p>
        </p:txBody>
      </p:sp>
      <p:sp>
        <p:nvSpPr>
          <p:cNvPr id="236" name="L4"/>
          <p:cNvSpPr>
            <a:spLocks noGrp="1"/>
          </p:cNvSpPr>
          <p:nvPr/>
        </p:nvSpPr>
        <p:spPr>
          <a:xfrm>
            <a:off x="393700" y="4851400"/>
            <a:ext cx="1905000" cy="635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270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Commands</a:t>
            </a:r>
          </a:p>
        </p:txBody>
      </p:sp>
      <p:sp>
        <p:nvSpPr>
          <p:cNvPr id="237" name="V14"/>
          <p:cNvSpPr>
            <a:spLocks noGrp="1"/>
          </p:cNvSpPr>
          <p:nvPr/>
        </p:nvSpPr>
        <p:spPr>
          <a:xfrm>
            <a:off x="2400300" y="4851400"/>
            <a:ext cx="317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.claude/commands/</a:t>
            </a:r>
          </a:p>
        </p:txBody>
      </p:sp>
      <p:sp>
        <p:nvSpPr>
          <p:cNvPr id="238" name="V24"/>
          <p:cNvSpPr>
            <a:spLocks noGrp="1"/>
          </p:cNvSpPr>
          <p:nvPr/>
        </p:nvSpPr>
        <p:spPr>
          <a:xfrm>
            <a:off x="5676900" y="4851400"/>
            <a:ext cx="317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— (Presets)</a:t>
            </a:r>
          </a:p>
        </p:txBody>
      </p:sp>
      <p:sp>
        <p:nvSpPr>
          <p:cNvPr id="239" name="V34"/>
          <p:cNvSpPr>
            <a:spLocks noGrp="1"/>
          </p:cNvSpPr>
          <p:nvPr/>
        </p:nvSpPr>
        <p:spPr>
          <a:xfrm>
            <a:off x="8953500" y="4851400"/>
            <a:ext cx="317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— (nicht nativ)</a:t>
            </a:r>
          </a:p>
        </p:txBody>
      </p:sp>
      <p:sp>
        <p:nvSpPr>
          <p:cNvPr id="240" name="L5"/>
          <p:cNvSpPr>
            <a:spLocks noGrp="1"/>
          </p:cNvSpPr>
          <p:nvPr/>
        </p:nvSpPr>
        <p:spPr>
          <a:xfrm>
            <a:off x="393700" y="5486400"/>
            <a:ext cx="1905000" cy="635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270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MCP / Tools</a:t>
            </a:r>
          </a:p>
        </p:txBody>
      </p:sp>
      <p:sp>
        <p:nvSpPr>
          <p:cNvPr id="241" name="V15"/>
          <p:cNvSpPr>
            <a:spLocks noGrp="1"/>
          </p:cNvSpPr>
          <p:nvPr/>
        </p:nvSpPr>
        <p:spPr>
          <a:xfrm>
            <a:off x="2400300" y="5486400"/>
            <a:ext cx="3175000" cy="63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.mcp.json</a:t>
            </a:r>
          </a:p>
        </p:txBody>
      </p:sp>
      <p:sp>
        <p:nvSpPr>
          <p:cNvPr id="242" name="V25"/>
          <p:cNvSpPr>
            <a:spLocks noGrp="1"/>
          </p:cNvSpPr>
          <p:nvPr/>
        </p:nvSpPr>
        <p:spPr>
          <a:xfrm>
            <a:off x="5676900" y="5486400"/>
            <a:ext cx="3175000" cy="63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.vibe/tools/</a:t>
            </a:r>
          </a:p>
        </p:txBody>
      </p:sp>
      <p:sp>
        <p:nvSpPr>
          <p:cNvPr id="243" name="V35"/>
          <p:cNvSpPr>
            <a:spLocks noGrp="1"/>
          </p:cNvSpPr>
          <p:nvPr/>
        </p:nvSpPr>
        <p:spPr>
          <a:xfrm>
            <a:off x="8953500" y="5486400"/>
            <a:ext cx="3175000" cy="63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524" tIns="635" rIns="1016" bIns="635" anchor="ctr"/>
          <a:lstStyle/>
          <a:p>
            <a:pPr algn="l">
              <a:spcBef>
                <a:spcPts val="0"/>
              </a:spcBef>
            </a:pPr>
            <a:r>
              <a:rPr lang="de-DE" sz="1100" dirty="0">
                <a:solidFill>
                  <a:srgbClr val="374151"/>
                </a:solidFill>
                <a:latin typeface="Consolas"/>
              </a:rPr>
              <a:t>.vscode/mcp.json</a:t>
            </a:r>
          </a:p>
        </p:txBody>
      </p:sp>
      <p:sp>
        <p:nvSpPr>
          <p:cNvPr id="290" name="FazitBar"/>
          <p:cNvSpPr>
            <a:spLocks noGrp="1"/>
          </p:cNvSpPr>
          <p:nvPr/>
        </p:nvSpPr>
        <p:spPr>
          <a:xfrm>
            <a:off x="393700" y="6197600"/>
            <a:ext cx="11201400" cy="533400"/>
          </a:xfrm>
          <a:prstGeom prst="rect">
            <a:avLst/>
          </a:prstGeom>
          <a:noFill/>
          <a:ln>
            <a:noFill/>
          </a:ln>
        </p:spPr>
        <p:txBody>
          <a:bodyPr lIns="1905" tIns="635" rIns="1905" bIns="635" anchor="ctr"/>
          <a:lstStyle/>
          <a:p>
            <a:pPr algn="ctr"/>
            <a:r>
              <a:rPr lang="de-DE" sz="1250" b="1" dirty="0">
                <a:solidFill>
                  <a:schemeClr val="tx2"/>
                </a:solidFill>
                <a:latin typeface="Open Sans"/>
              </a:rPr>
              <a:t>Kernidee: </a:t>
            </a:r>
            <a:r>
              <a:rPr lang="de-DE" sz="1250" dirty="0">
                <a:solidFill>
                  <a:schemeClr val="tx2"/>
                </a:solidFill>
                <a:latin typeface="Open Sans"/>
              </a:rPr>
              <a:t>Einmal das Wissen strukturieren → in jedem Tool nutzbar. Die Dateien lassen sich gut übersetzen.</a:t>
            </a:r>
          </a:p>
        </p:txBody>
      </p:sp>
    </p:spTree>
    <p:extLst>
      <p:ext uri="{BB962C8B-B14F-4D97-AF65-F5344CB8AC3E}">
        <p14:creationId xmlns:p14="http://schemas.microsoft.com/office/powerpoint/2010/main" val="321212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5E54C1-17A6-82F5-EACB-2A124857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>
                <a:ea typeface="Open Sans"/>
                <a:cs typeface="Open Sans"/>
              </a:rPr>
              <a:t>Plan Mode &amp; Verifikation</a:t>
            </a:r>
          </a:p>
        </p:txBody>
      </p:sp>
      <p:sp>
        <p:nvSpPr>
          <p:cNvPr id="320" name="PMH"/>
          <p:cNvSpPr/>
          <p:nvPr/>
        </p:nvSpPr>
        <p:spPr>
          <a:xfrm>
            <a:off x="393700" y="1498600"/>
            <a:ext cx="11201400" cy="3556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anchor="b"/>
          <a:lstStyle/>
          <a:p>
            <a:r>
              <a:rPr lang="de-DE" sz="1800" b="1" dirty="0">
                <a:solidFill>
                  <a:schemeClr val="bg1"/>
                </a:solidFill>
                <a:latin typeface="Open Sans"/>
              </a:rPr>
              <a:t>Plan Mode — KI plant zuerst, bevor sie Code schreibt</a:t>
            </a:r>
          </a:p>
        </p:txBody>
      </p:sp>
      <p:sp>
        <p:nvSpPr>
          <p:cNvPr id="321" name="PM0"/>
          <p:cNvSpPr/>
          <p:nvPr/>
        </p:nvSpPr>
        <p:spPr>
          <a:xfrm>
            <a:off x="393700" y="1879600"/>
            <a:ext cx="2400300" cy="787400"/>
          </a:xfrm>
          <a:prstGeom prst="roundRect">
            <a:avLst>
              <a:gd name="adj" fmla="val 12000"/>
            </a:avLst>
          </a:prstGeom>
          <a:solidFill>
            <a:srgbClr val="3F59FF"/>
          </a:solidFill>
          <a:ln>
            <a:noFill/>
          </a:ln>
        </p:spPr>
        <p:txBody>
          <a:bodyPr lIns="0" rIns="0" anchor="ctr" anchorCtr="0">
            <a:noAutofit/>
          </a:bodyPr>
          <a:lstStyle/>
          <a:p>
            <a:pPr algn="ctr">
              <a:spcBef>
                <a:spcPts val="200"/>
              </a:spcBef>
              <a:spcAft>
                <a:spcPts val="150"/>
              </a:spcAft>
            </a:pPr>
            <a:r>
              <a:rPr lang="de-DE" sz="1200" b="1" dirty="0">
                <a:solidFill>
                  <a:srgbClr val="FFFFFF"/>
                </a:solidFill>
                <a:latin typeface="Open Sans"/>
              </a:rPr>
              <a:t>① Prompt schreiben</a:t>
            </a:r>
          </a:p>
          <a:p>
            <a:pPr algn="ctr"/>
            <a:r>
              <a:rPr lang="de-DE" sz="1050" dirty="0">
                <a:solidFill>
                  <a:srgbClr val="BFD9FF"/>
                </a:solidFill>
                <a:latin typeface="Open Sans"/>
              </a:rPr>
              <a:t>Ziel + Constraints</a:t>
            </a:r>
          </a:p>
        </p:txBody>
      </p:sp>
      <p:sp>
        <p:nvSpPr>
          <p:cNvPr id="322" name="PMArr0"/>
          <p:cNvSpPr/>
          <p:nvPr/>
        </p:nvSpPr>
        <p:spPr>
          <a:xfrm>
            <a:off x="2794000" y="2184400"/>
            <a:ext cx="279400" cy="254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23" name="PM1"/>
          <p:cNvSpPr/>
          <p:nvPr/>
        </p:nvSpPr>
        <p:spPr>
          <a:xfrm>
            <a:off x="2895600" y="1879600"/>
            <a:ext cx="2400300" cy="787400"/>
          </a:xfrm>
          <a:prstGeom prst="roundRect">
            <a:avLst>
              <a:gd name="adj" fmla="val 12000"/>
            </a:avLst>
          </a:prstGeom>
          <a:solidFill>
            <a:srgbClr val="212B80"/>
          </a:solidFill>
          <a:ln>
            <a:noFill/>
          </a:ln>
        </p:spPr>
        <p:txBody>
          <a:bodyPr lIns="0" rIns="0" anchor="ctr" anchorCtr="0">
            <a:noAutofit/>
          </a:bodyPr>
          <a:lstStyle/>
          <a:p>
            <a:pPr algn="ctr">
              <a:spcBef>
                <a:spcPts val="200"/>
              </a:spcBef>
              <a:spcAft>
                <a:spcPts val="150"/>
              </a:spcAft>
            </a:pPr>
            <a:r>
              <a:rPr lang="de-DE" sz="1200" b="1" dirty="0">
                <a:solidFill>
                  <a:srgbClr val="FFFFFF"/>
                </a:solidFill>
                <a:latin typeface="Open Sans"/>
              </a:rPr>
              <a:t>② Plan lesen</a:t>
            </a:r>
          </a:p>
          <a:p>
            <a:pPr algn="ctr"/>
            <a:r>
              <a:rPr lang="de-DE" sz="1050" dirty="0">
                <a:solidFill>
                  <a:srgbClr val="BFD9FF"/>
                </a:solidFill>
                <a:latin typeface="Open Sans"/>
              </a:rPr>
              <a:t>KI zeigt Plan — kein Code</a:t>
            </a:r>
          </a:p>
        </p:txBody>
      </p:sp>
      <p:sp>
        <p:nvSpPr>
          <p:cNvPr id="324" name="PMArr1"/>
          <p:cNvSpPr/>
          <p:nvPr/>
        </p:nvSpPr>
        <p:spPr>
          <a:xfrm>
            <a:off x="5295900" y="2184400"/>
            <a:ext cx="279400" cy="254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25" name="PM2"/>
          <p:cNvSpPr/>
          <p:nvPr/>
        </p:nvSpPr>
        <p:spPr>
          <a:xfrm>
            <a:off x="5397500" y="1879600"/>
            <a:ext cx="2400300" cy="787400"/>
          </a:xfrm>
          <a:prstGeom prst="roundRect">
            <a:avLst>
              <a:gd name="adj" fmla="val 12000"/>
            </a:avLst>
          </a:prstGeom>
          <a:solidFill>
            <a:srgbClr val="FFD440"/>
          </a:solidFill>
          <a:ln>
            <a:noFill/>
          </a:ln>
        </p:spPr>
        <p:txBody>
          <a:bodyPr lIns="0" rIns="0" anchor="ctr" anchorCtr="0">
            <a:noAutofit/>
          </a:bodyPr>
          <a:lstStyle/>
          <a:p>
            <a:pPr algn="ctr">
              <a:spcBef>
                <a:spcPts val="200"/>
              </a:spcBef>
              <a:spcAft>
                <a:spcPts val="150"/>
              </a:spcAft>
            </a:pPr>
            <a:r>
              <a:rPr lang="de-DE" sz="1200" b="1" dirty="0">
                <a:solidFill>
                  <a:srgbClr val="1A1A2E"/>
                </a:solidFill>
                <a:latin typeface="Open Sans"/>
              </a:rPr>
              <a:t>③ Freigeben</a:t>
            </a:r>
          </a:p>
          <a:p>
            <a:pPr algn="ctr"/>
            <a:r>
              <a:rPr lang="de-DE" sz="1050" dirty="0">
                <a:solidFill>
                  <a:srgbClr val="3D3D5C"/>
                </a:solidFill>
                <a:latin typeface="Open Sans"/>
              </a:rPr>
              <a:t>Richtung bestätigen</a:t>
            </a:r>
          </a:p>
        </p:txBody>
      </p:sp>
      <p:sp>
        <p:nvSpPr>
          <p:cNvPr id="326" name="PMArr2"/>
          <p:cNvSpPr/>
          <p:nvPr/>
        </p:nvSpPr>
        <p:spPr>
          <a:xfrm>
            <a:off x="7797800" y="2184400"/>
            <a:ext cx="279400" cy="254000"/>
          </a:xfrm>
          <a:prstGeom prst="rightArrow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27" name="PM3"/>
          <p:cNvSpPr/>
          <p:nvPr/>
        </p:nvSpPr>
        <p:spPr>
          <a:xfrm>
            <a:off x="7899400" y="1879600"/>
            <a:ext cx="2400300" cy="787400"/>
          </a:xfrm>
          <a:prstGeom prst="roundRect">
            <a:avLst>
              <a:gd name="adj" fmla="val 12000"/>
            </a:avLst>
          </a:prstGeom>
          <a:solidFill>
            <a:srgbClr val="212B80"/>
          </a:solidFill>
          <a:ln>
            <a:noFill/>
          </a:ln>
        </p:spPr>
        <p:txBody>
          <a:bodyPr lIns="0" rIns="0" anchor="ctr" anchorCtr="0">
            <a:noAutofit/>
          </a:bodyPr>
          <a:lstStyle/>
          <a:p>
            <a:pPr algn="ctr">
              <a:spcBef>
                <a:spcPts val="200"/>
              </a:spcBef>
              <a:spcAft>
                <a:spcPts val="150"/>
              </a:spcAft>
            </a:pPr>
            <a:r>
              <a:rPr lang="de-DE" sz="1200" b="1" dirty="0">
                <a:solidFill>
                  <a:srgbClr val="FFFFFF"/>
                </a:solidFill>
                <a:latin typeface="Open Sans"/>
              </a:rPr>
              <a:t>④ Implementieren</a:t>
            </a:r>
          </a:p>
          <a:p>
            <a:pPr algn="ctr"/>
            <a:r>
              <a:rPr lang="de-DE" sz="1050" dirty="0">
                <a:solidFill>
                  <a:srgbClr val="BFD9FF"/>
                </a:solidFill>
                <a:latin typeface="Open Sans"/>
              </a:rPr>
              <a:t>Erst jetzt schreibt KI Code</a:t>
            </a:r>
          </a:p>
        </p:txBody>
      </p:sp>
      <p:sp>
        <p:nvSpPr>
          <p:cNvPr id="600" name="CovDivider"/>
          <p:cNvSpPr>
            <a:spLocks noGrp="1"/>
          </p:cNvSpPr>
          <p:nvPr/>
        </p:nvSpPr>
        <p:spPr>
          <a:xfrm>
            <a:off x="393700" y="2768600"/>
            <a:ext cx="11201400" cy="254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wrap="square" lIns="1016" tIns="762" rIns="1016" bIns="762" anchor="ctr"/>
          <a:lstStyle/>
          <a:p>
            <a:endParaRPr/>
          </a:p>
        </p:txBody>
      </p:sp>
      <p:sp>
        <p:nvSpPr>
          <p:cNvPr id="601" name="NewCOVH"/>
          <p:cNvSpPr>
            <a:spLocks noGrp="1"/>
          </p:cNvSpPr>
          <p:nvPr/>
        </p:nvSpPr>
        <p:spPr>
          <a:xfrm>
            <a:off x="393700" y="2857500"/>
            <a:ext cx="11201400" cy="3810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wrap="square" lIns="1016" tIns="762" rIns="1016" bIns="762" anchor="ctr"/>
          <a:lstStyle/>
          <a:p>
            <a:pPr algn="l"/>
            <a:r>
              <a:rPr lang="de-DE" sz="1600" b="1" dirty="0">
                <a:solidFill>
                  <a:srgbClr val="FFFFFF"/>
                </a:solidFill>
                <a:latin typeface="Open Sans"/>
              </a:rPr>
              <a:t>Chain-of-Verification — So setzt du es im Dev-Alltag um</a:t>
            </a:r>
          </a:p>
        </p:txBody>
      </p:sp>
      <p:sp>
        <p:nvSpPr>
          <p:cNvPr id="602" name="CovColA"/>
          <p:cNvSpPr txBox="1"/>
          <p:nvPr/>
        </p:nvSpPr>
        <p:spPr>
          <a:xfrm>
            <a:off x="393700" y="3276600"/>
            <a:ext cx="2667000" cy="21336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>
              <a:spcAft>
                <a:spcPts val="200"/>
              </a:spcAft>
            </a:pPr>
            <a:r>
              <a:rPr lang="de-DE" sz="1200" b="1" dirty="0">
                <a:solidFill>
                  <a:srgbClr val="212B80"/>
                </a:solidFill>
                <a:latin typeface="Open Sans"/>
              </a:rPr>
              <a:t>Wann einsetzen?</a:t>
            </a:r>
          </a:p>
          <a:p>
            <a:pPr algn="l">
              <a:spcAft>
                <a:spcPts val="180"/>
              </a:spcAft>
            </a:pPr>
            <a:r>
              <a:rPr lang="de-DE" sz="1100" dirty="0">
                <a:solidFill>
                  <a:srgbClr val="333355"/>
                </a:solidFill>
                <a:latin typeface="Open Sans"/>
              </a:rPr>
              <a:t>Nach jeder längeren KI-Antwort — vor allem bei:</a:t>
            </a:r>
          </a:p>
          <a:p>
            <a:pPr algn="l">
              <a:spcAft>
                <a:spcPts val="100"/>
              </a:spcAft>
            </a:pPr>
            <a:r>
              <a:rPr lang="de-DE" sz="1100" dirty="0">
                <a:solidFill>
                  <a:srgbClr val="3F59FF"/>
                </a:solidFill>
                <a:latin typeface="Open Sans"/>
              </a:rPr>
              <a:t>·  komplexer Logik</a:t>
            </a:r>
          </a:p>
          <a:p>
            <a:pPr algn="l">
              <a:spcAft>
                <a:spcPts val="100"/>
              </a:spcAft>
            </a:pPr>
            <a:r>
              <a:rPr lang="de-DE" sz="1100" dirty="0">
                <a:solidFill>
                  <a:srgbClr val="3F59FF"/>
                </a:solidFill>
                <a:latin typeface="Open Sans"/>
              </a:rPr>
              <a:t>·  sicherheitsrelevantem Code</a:t>
            </a:r>
          </a:p>
          <a:p>
            <a:pPr algn="l">
              <a:spcAft>
                <a:spcPts val="100"/>
              </a:spcAft>
            </a:pPr>
            <a:r>
              <a:rPr lang="de-DE" sz="1100" dirty="0">
                <a:solidFill>
                  <a:srgbClr val="3F59FF"/>
                </a:solidFill>
                <a:latin typeface="Open Sans"/>
              </a:rPr>
              <a:t>·  Architekturentscheidungen</a:t>
            </a:r>
          </a:p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3F59FF"/>
                </a:solidFill>
                <a:latin typeface="Open Sans"/>
              </a:rPr>
              <a:t>·  unbekannten Libraries</a:t>
            </a:r>
          </a:p>
          <a:p>
            <a:pPr algn="l"/>
            <a:r>
              <a:rPr lang="de-DE" sz="1100" b="1" dirty="0">
                <a:solidFill>
                  <a:srgbClr val="212B80"/>
                </a:solidFill>
                <a:latin typeface="Open Sans"/>
              </a:rPr>
              <a:t>1 Zeile ans Prompt-Ende — kein Extra-Aufwand.</a:t>
            </a:r>
          </a:p>
        </p:txBody>
      </p:sp>
      <p:sp>
        <p:nvSpPr>
          <p:cNvPr id="603" name="CovColB"/>
          <p:cNvSpPr txBox="1"/>
          <p:nvPr/>
        </p:nvSpPr>
        <p:spPr>
          <a:xfrm>
            <a:off x="3162300" y="3276600"/>
            <a:ext cx="4191000" cy="2133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>
              <a:spcAft>
                <a:spcPts val="200"/>
              </a:spcAft>
            </a:pPr>
            <a:r>
              <a:rPr lang="de-DE" sz="1100" b="1" dirty="0">
                <a:solidFill>
                  <a:srgbClr val="9BB3FF"/>
                </a:solidFill>
                <a:latin typeface="Open Sans"/>
              </a:rPr>
              <a:t>Prompt-Baustein (ans Ende deines Prompts):</a:t>
            </a:r>
          </a:p>
          <a:p>
            <a:pPr algn="l"/>
            <a:r>
              <a:rPr lang="de-DE" sz="1100" dirty="0">
                <a:solidFill>
                  <a:srgbClr val="FFD440"/>
                </a:solidFill>
                <a:latin typeface="Consolas"/>
              </a:rPr>
              <a:t>"Bevor du antwortest: Nenne 3 Annahmen,</a:t>
            </a:r>
          </a:p>
          <a:p>
            <a:pPr algn="l"/>
            <a:r>
              <a:rPr lang="de-DE" sz="1100" dirty="0">
                <a:solidFill>
                  <a:srgbClr val="FFD440"/>
                </a:solidFill>
                <a:latin typeface="Consolas"/>
              </a:rPr>
              <a:t> die in deiner Antwort implizit stecken.</a:t>
            </a:r>
          </a:p>
          <a:p>
            <a:pPr algn="l"/>
            <a:r>
              <a:rPr lang="de-DE" sz="1100" dirty="0">
                <a:solidFill>
                  <a:srgbClr val="FFD440"/>
                </a:solidFill>
                <a:latin typeface="Consolas"/>
              </a:rPr>
              <a:t> Prüfe jede davon — stimmt sie?</a:t>
            </a:r>
          </a:p>
          <a:p>
            <a:pPr algn="l">
              <a:spcAft>
                <a:spcPts val="200"/>
              </a:spcAft>
            </a:pPr>
            <a:r>
              <a:rPr lang="de-DE" sz="1100" dirty="0">
                <a:solidFill>
                  <a:srgbClr val="FFD440"/>
                </a:solidFill>
                <a:latin typeface="Consolas"/>
              </a:rPr>
              <a:t> Falls nicht: korrigiere deine Antwort."</a:t>
            </a:r>
          </a:p>
          <a:p>
            <a:pPr algn="l">
              <a:spcAft>
                <a:spcPts val="100"/>
              </a:spcAft>
            </a:pPr>
            <a:r>
              <a:rPr lang="de-DE" sz="1100" b="1" dirty="0">
                <a:solidFill>
                  <a:srgbClr val="9BB3FF"/>
                </a:solidFill>
                <a:latin typeface="Open Sans"/>
              </a:rPr>
              <a:t>Variante für Code-Reviews:</a:t>
            </a:r>
          </a:p>
          <a:p>
            <a:pPr algn="l"/>
            <a:r>
              <a:rPr lang="de-DE" sz="1100" dirty="0">
                <a:solidFill>
                  <a:srgbClr val="68D391"/>
                </a:solidFill>
                <a:latin typeface="Consolas"/>
              </a:rPr>
              <a:t>"Welche Edge Cases hast du nicht abgedeckt?"</a:t>
            </a:r>
          </a:p>
        </p:txBody>
      </p:sp>
      <p:sp>
        <p:nvSpPr>
          <p:cNvPr id="604" name="CovColC"/>
          <p:cNvSpPr txBox="1"/>
          <p:nvPr/>
        </p:nvSpPr>
        <p:spPr>
          <a:xfrm>
            <a:off x="7454900" y="3276600"/>
            <a:ext cx="4292600" cy="2133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wrap="square" lIns="1016" tIns="762" rIns="1016" bIns="762" anchor="t"/>
          <a:lstStyle/>
          <a:p>
            <a:pPr algn="l">
              <a:spcAft>
                <a:spcPts val="200"/>
              </a:spcAft>
            </a:pPr>
            <a:r>
              <a:rPr lang="de-DE" sz="1200" b="1" dirty="0">
                <a:solidFill>
                  <a:srgbClr val="1A4A2A"/>
                </a:solidFill>
                <a:latin typeface="Open Sans"/>
              </a:rPr>
              <a:t>Was KI zurückgibt:</a:t>
            </a:r>
          </a:p>
          <a:p>
            <a:pPr algn="l">
              <a:spcAft>
                <a:spcPts val="100"/>
              </a:spcAft>
            </a:pPr>
            <a:r>
              <a:rPr lang="de-DE" sz="1100" dirty="0">
                <a:solidFill>
                  <a:srgbClr val="2D6A3F"/>
                </a:solidFill>
                <a:latin typeface="Consolas"/>
              </a:rPr>
              <a:t>Annahme 1: User ist eingeloggt  ✓</a:t>
            </a:r>
          </a:p>
          <a:p>
            <a:pPr algn="l"/>
            <a:r>
              <a:rPr lang="de-DE" sz="1100" dirty="0">
                <a:solidFill>
                  <a:srgbClr val="2D6A3F"/>
                </a:solidFill>
                <a:latin typeface="Consolas"/>
              </a:rPr>
              <a:t>Annahme 2: ID ist immer Integer</a:t>
            </a:r>
          </a:p>
          <a:p>
            <a:pPr algn="l">
              <a:spcAft>
                <a:spcPts val="160"/>
              </a:spcAft>
            </a:pPr>
            <a:r>
              <a:rPr lang="de-DE" sz="1100" b="1" dirty="0">
                <a:solidFill>
                  <a:srgbClr val="8B1A1A"/>
                </a:solidFill>
                <a:latin typeface="Consolas"/>
              </a:rPr>
              <a:t>⚠ Fehler: UUID als String möglich!</a:t>
            </a:r>
          </a:p>
          <a:p>
            <a:pPr algn="l">
              <a:spcAft>
                <a:spcPts val="100"/>
              </a:spcAft>
            </a:pPr>
            <a:r>
              <a:rPr lang="de-DE" sz="1100" b="1" dirty="0">
                <a:solidFill>
                  <a:srgbClr val="1A4A2A"/>
                </a:solidFill>
                <a:latin typeface="Consolas"/>
              </a:rPr>
              <a:t>✓ Fix: getId() → Object, nicht int</a:t>
            </a:r>
          </a:p>
          <a:p>
            <a:pPr algn="l"/>
            <a:r>
              <a:rPr lang="de-DE" sz="1100" dirty="0">
                <a:solidFill>
                  <a:srgbClr val="3F59FF"/>
                </a:solidFill>
                <a:latin typeface="Open Sans"/>
              </a:rPr>
              <a:t>→ KI hat sich selbst korrigiert.</a:t>
            </a:r>
          </a:p>
        </p:txBody>
      </p:sp>
    </p:spTree>
    <p:extLst>
      <p:ext uri="{BB962C8B-B14F-4D97-AF65-F5344CB8AC3E}">
        <p14:creationId xmlns:p14="http://schemas.microsoft.com/office/powerpoint/2010/main" val="538221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FAB33-C48C-91DC-A708-201FBBE8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 err="1">
                <a:ea typeface="Open Sans"/>
                <a:cs typeface="Open Sans"/>
              </a:rPr>
              <a:t>Context</a:t>
            </a:r>
            <a:r>
              <a:rPr lang="de-DE" sz="3600" dirty="0">
                <a:ea typeface="Open Sans"/>
                <a:cs typeface="Open Sans"/>
              </a:rPr>
              <a:t>-</a:t>
            </a:r>
            <a:r>
              <a:rPr lang="de-DE" sz="3600" dirty="0" err="1">
                <a:ea typeface="Open Sans"/>
                <a:cs typeface="Open Sans"/>
              </a:rPr>
              <a:t>Window</a:t>
            </a:r>
            <a:r>
              <a:rPr lang="de-DE" sz="3600" dirty="0">
                <a:ea typeface="Open Sans"/>
                <a:cs typeface="Open Sans"/>
              </a:rPr>
              <a:t>-Management</a:t>
            </a:r>
          </a:p>
        </p:txBody>
      </p:sp>
      <p:sp>
        <p:nvSpPr>
          <p:cNvPr id="400" name="BL0"/>
          <p:cNvSpPr/>
          <p:nvPr/>
        </p:nvSpPr>
        <p:spPr>
          <a:xfrm>
            <a:off x="300000" y="150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lIns="0" rIns="45720" anchor="ctr"/>
          <a:lstStyle/>
          <a:p>
            <a:pPr algn="r"/>
            <a:r>
              <a:rPr lang="de-DE" sz="1400" b="1" dirty="0">
                <a:solidFill>
                  <a:srgbClr val="212121"/>
                </a:solidFill>
                <a:latin typeface="Open Sans"/>
              </a:rPr>
              <a:t>Neuer Chat</a:t>
            </a:r>
          </a:p>
        </p:txBody>
      </p:sp>
      <p:sp>
        <p:nvSpPr>
          <p:cNvPr id="401" name="BBg0"/>
          <p:cNvSpPr/>
          <p:nvPr/>
        </p:nvSpPr>
        <p:spPr>
          <a:xfrm>
            <a:off x="2200000" y="1550000"/>
            <a:ext cx="6000000" cy="250000"/>
          </a:xfrm>
          <a:prstGeom prst="roundRect">
            <a:avLst>
              <a:gd name="adj" fmla="val 25000"/>
            </a:avLst>
          </a:prstGeom>
          <a:solidFill>
            <a:srgbClr val="E8EB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02" name="BF0"/>
          <p:cNvSpPr/>
          <p:nvPr/>
        </p:nvSpPr>
        <p:spPr>
          <a:xfrm>
            <a:off x="2200000" y="1550000"/>
            <a:ext cx="490574" cy="250000"/>
          </a:xfrm>
          <a:prstGeom prst="roundRect">
            <a:avLst>
              <a:gd name="adj" fmla="val 25000"/>
            </a:avLst>
          </a:prstGeom>
          <a:solidFill>
            <a:srgbClr val="3F59FF"/>
          </a:solidFill>
          <a:ln>
            <a:noFill/>
          </a:ln>
        </p:spPr>
        <p:txBody>
          <a:bodyPr lIns="91440" anchor="ctr"/>
          <a:lstStyle/>
          <a:p>
            <a:r>
              <a:rPr lang="de-DE" sz="1200" b="1" dirty="0">
                <a:solidFill>
                  <a:schemeClr val="bg1"/>
                </a:solidFill>
                <a:latin typeface="Open Sans"/>
              </a:rPr>
              <a:t>5%</a:t>
            </a:r>
          </a:p>
        </p:txBody>
      </p:sp>
      <p:sp>
        <p:nvSpPr>
          <p:cNvPr id="403" name="BL1"/>
          <p:cNvSpPr/>
          <p:nvPr/>
        </p:nvSpPr>
        <p:spPr>
          <a:xfrm>
            <a:off x="300000" y="195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lIns="0" rIns="45720" anchor="ctr"/>
          <a:lstStyle/>
          <a:p>
            <a:pPr algn="r"/>
            <a:r>
              <a:rPr lang="de-DE" sz="1400" b="1" dirty="0">
                <a:solidFill>
                  <a:srgbClr val="212121"/>
                </a:solidFill>
                <a:latin typeface="Open Sans"/>
              </a:rPr>
              <a:t>Nach 30 Min</a:t>
            </a:r>
          </a:p>
        </p:txBody>
      </p:sp>
      <p:sp>
        <p:nvSpPr>
          <p:cNvPr id="404" name="BBg1"/>
          <p:cNvSpPr/>
          <p:nvPr/>
        </p:nvSpPr>
        <p:spPr>
          <a:xfrm>
            <a:off x="2200000" y="2000000"/>
            <a:ext cx="6000000" cy="250000"/>
          </a:xfrm>
          <a:prstGeom prst="roundRect">
            <a:avLst>
              <a:gd name="adj" fmla="val 25000"/>
            </a:avLst>
          </a:prstGeom>
          <a:solidFill>
            <a:srgbClr val="E8EB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05" name="BF1"/>
          <p:cNvSpPr/>
          <p:nvPr/>
        </p:nvSpPr>
        <p:spPr>
          <a:xfrm>
            <a:off x="2200000" y="2000000"/>
            <a:ext cx="2400000" cy="250000"/>
          </a:xfrm>
          <a:prstGeom prst="roundRect">
            <a:avLst>
              <a:gd name="adj" fmla="val 25000"/>
            </a:avLst>
          </a:prstGeom>
          <a:solidFill>
            <a:srgbClr val="3F59FF"/>
          </a:solidFill>
          <a:ln>
            <a:noFill/>
          </a:ln>
        </p:spPr>
        <p:txBody>
          <a:bodyPr lIns="91440" anchor="ctr"/>
          <a:lstStyle/>
          <a:p>
            <a:r>
              <a:rPr lang="de-DE" sz="1200" b="1" dirty="0">
                <a:solidFill>
                  <a:schemeClr val="bg1"/>
                </a:solidFill>
                <a:latin typeface="Open Sans"/>
              </a:rPr>
              <a:t>40%</a:t>
            </a:r>
          </a:p>
        </p:txBody>
      </p:sp>
      <p:sp>
        <p:nvSpPr>
          <p:cNvPr id="406" name="BL2"/>
          <p:cNvSpPr/>
          <p:nvPr/>
        </p:nvSpPr>
        <p:spPr>
          <a:xfrm>
            <a:off x="300000" y="240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lIns="0" rIns="45720" anchor="ctr"/>
          <a:lstStyle/>
          <a:p>
            <a:pPr algn="r"/>
            <a:r>
              <a:rPr lang="de-DE" sz="1400" b="1" dirty="0">
                <a:solidFill>
                  <a:srgbClr val="212121"/>
                </a:solidFill>
                <a:latin typeface="Open Sans"/>
              </a:rPr>
              <a:t>Nach 2h</a:t>
            </a:r>
          </a:p>
        </p:txBody>
      </p:sp>
      <p:sp>
        <p:nvSpPr>
          <p:cNvPr id="407" name="BBg2"/>
          <p:cNvSpPr/>
          <p:nvPr/>
        </p:nvSpPr>
        <p:spPr>
          <a:xfrm>
            <a:off x="2200000" y="2450000"/>
            <a:ext cx="6000000" cy="250000"/>
          </a:xfrm>
          <a:prstGeom prst="roundRect">
            <a:avLst>
              <a:gd name="adj" fmla="val 25000"/>
            </a:avLst>
          </a:prstGeom>
          <a:solidFill>
            <a:srgbClr val="E8EB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08" name="BF2"/>
          <p:cNvSpPr/>
          <p:nvPr/>
        </p:nvSpPr>
        <p:spPr>
          <a:xfrm>
            <a:off x="2200000" y="2450000"/>
            <a:ext cx="4200000" cy="250000"/>
          </a:xfrm>
          <a:prstGeom prst="roundRect">
            <a:avLst>
              <a:gd name="adj" fmla="val 25000"/>
            </a:avLst>
          </a:prstGeom>
          <a:solidFill>
            <a:srgbClr val="3F59FF"/>
          </a:solidFill>
          <a:ln>
            <a:noFill/>
          </a:ln>
        </p:spPr>
        <p:txBody>
          <a:bodyPr lIns="91440" anchor="ctr"/>
          <a:lstStyle/>
          <a:p>
            <a:r>
              <a:rPr lang="de-DE" sz="1200" b="1" dirty="0">
                <a:solidFill>
                  <a:srgbClr val="FFFFFF"/>
                </a:solidFill>
                <a:latin typeface="Open Sans"/>
              </a:rPr>
              <a:t>70%</a:t>
            </a:r>
          </a:p>
        </p:txBody>
      </p:sp>
      <p:sp>
        <p:nvSpPr>
          <p:cNvPr id="409" name="BL3"/>
          <p:cNvSpPr/>
          <p:nvPr/>
        </p:nvSpPr>
        <p:spPr>
          <a:xfrm>
            <a:off x="300000" y="2850000"/>
            <a:ext cx="1800000" cy="350000"/>
          </a:xfrm>
          <a:prstGeom prst="rect">
            <a:avLst/>
          </a:prstGeom>
          <a:noFill/>
          <a:ln>
            <a:noFill/>
          </a:ln>
        </p:spPr>
        <p:txBody>
          <a:bodyPr lIns="0" rIns="45720" anchor="ctr"/>
          <a:lstStyle/>
          <a:p>
            <a:pPr algn="r"/>
            <a:r>
              <a:rPr lang="de-DE" sz="1400" b="1" dirty="0">
                <a:solidFill>
                  <a:srgbClr val="212121"/>
                </a:solidFill>
                <a:latin typeface="Open Sans"/>
              </a:rPr>
              <a:t>Voll</a:t>
            </a:r>
          </a:p>
        </p:txBody>
      </p:sp>
      <p:sp>
        <p:nvSpPr>
          <p:cNvPr id="410" name="BBg3"/>
          <p:cNvSpPr/>
          <p:nvPr/>
        </p:nvSpPr>
        <p:spPr>
          <a:xfrm>
            <a:off x="2200000" y="2900000"/>
            <a:ext cx="6000000" cy="250000"/>
          </a:xfrm>
          <a:prstGeom prst="roundRect">
            <a:avLst>
              <a:gd name="adj" fmla="val 25000"/>
            </a:avLst>
          </a:prstGeom>
          <a:solidFill>
            <a:srgbClr val="E8EB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11" name="BF3"/>
          <p:cNvSpPr/>
          <p:nvPr/>
        </p:nvSpPr>
        <p:spPr>
          <a:xfrm>
            <a:off x="2200000" y="2900000"/>
            <a:ext cx="6000000" cy="250000"/>
          </a:xfrm>
          <a:prstGeom prst="roundRect">
            <a:avLst>
              <a:gd name="adj" fmla="val 25000"/>
            </a:avLst>
          </a:prstGeom>
          <a:solidFill>
            <a:srgbClr val="3F59FF"/>
          </a:solidFill>
          <a:ln>
            <a:noFill/>
          </a:ln>
        </p:spPr>
        <p:txBody>
          <a:bodyPr lIns="91440" anchor="ctr"/>
          <a:lstStyle/>
          <a:p>
            <a:r>
              <a:rPr lang="de-DE" sz="1200" b="1" dirty="0">
                <a:solidFill>
                  <a:srgbClr val="FFFFFF"/>
                </a:solidFill>
                <a:latin typeface="Open Sans"/>
              </a:rPr>
              <a:t>100%</a:t>
            </a:r>
          </a:p>
        </p:txBody>
      </p:sp>
      <p:sp>
        <p:nvSpPr>
          <p:cNvPr id="420" name="StratH"/>
          <p:cNvSpPr/>
          <p:nvPr/>
        </p:nvSpPr>
        <p:spPr>
          <a:xfrm>
            <a:off x="300000" y="3500000"/>
            <a:ext cx="11400000" cy="4000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anchor="b"/>
          <a:lstStyle/>
          <a:p>
            <a:r>
              <a:rPr lang="de-DE" sz="1600" b="1" dirty="0">
                <a:solidFill>
                  <a:schemeClr val="bg1"/>
                </a:solidFill>
                <a:latin typeface="Open Sans"/>
              </a:rPr>
              <a:t>Strategien</a:t>
            </a:r>
            <a:r>
              <a:rPr lang="de-DE" sz="1600" b="1" dirty="0">
                <a:solidFill>
                  <a:srgbClr val="212B80"/>
                </a:solidFill>
                <a:latin typeface="Open Sans"/>
              </a:rPr>
              <a:t>:</a:t>
            </a:r>
          </a:p>
        </p:txBody>
      </p:sp>
      <p:sp>
        <p:nvSpPr>
          <p:cNvPr id="421" name="Strat0"/>
          <p:cNvSpPr/>
          <p:nvPr/>
        </p:nvSpPr>
        <p:spPr>
          <a:xfrm>
            <a:off x="300000" y="3950000"/>
            <a:ext cx="3600000" cy="9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9050">
            <a:solidFill>
              <a:srgbClr val="3F59FF"/>
            </a:solidFill>
          </a:ln>
        </p:spPr>
        <p:txBody>
          <a:bodyPr wrap="square" lIns="137160" rIns="91440" anchor="ctr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666666"/>
                </a:solidFill>
                <a:latin typeface="Open Sans"/>
              </a:rPr>
              <a:t>Feature fertig</a:t>
            </a:r>
          </a:p>
          <a:p>
            <a:r>
              <a:rPr lang="de-DE" sz="1600" b="1" dirty="0">
                <a:solidFill>
                  <a:srgbClr val="212B80"/>
                </a:solidFill>
                <a:latin typeface="Open Sans"/>
              </a:rPr>
              <a:t>Neuen Chat starten</a:t>
            </a:r>
          </a:p>
        </p:txBody>
      </p:sp>
      <p:sp>
        <p:nvSpPr>
          <p:cNvPr id="422" name="Strat1"/>
          <p:cNvSpPr/>
          <p:nvPr/>
        </p:nvSpPr>
        <p:spPr>
          <a:xfrm>
            <a:off x="4200000" y="3950000"/>
            <a:ext cx="3600000" cy="9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9050">
            <a:solidFill>
              <a:srgbClr val="3F59FF"/>
            </a:solidFill>
          </a:ln>
        </p:spPr>
        <p:txBody>
          <a:bodyPr wrap="square" lIns="137160" rIns="91440" anchor="ctr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666666"/>
                </a:solidFill>
                <a:latin typeface="Open Sans"/>
              </a:rPr>
              <a:t>Context voll</a:t>
            </a:r>
          </a:p>
          <a:p>
            <a:r>
              <a:rPr lang="de-DE" sz="1600" b="1" dirty="0">
                <a:solidFill>
                  <a:srgbClr val="212B80"/>
                </a:solidFill>
                <a:latin typeface="Open Sans"/>
              </a:rPr>
              <a:t>/compact</a:t>
            </a:r>
          </a:p>
        </p:txBody>
      </p:sp>
      <p:sp>
        <p:nvSpPr>
          <p:cNvPr id="423" name="Strat2"/>
          <p:cNvSpPr/>
          <p:nvPr/>
        </p:nvSpPr>
        <p:spPr>
          <a:xfrm>
            <a:off x="8100000" y="3950000"/>
            <a:ext cx="3600000" cy="9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9050">
            <a:solidFill>
              <a:srgbClr val="3F59FF"/>
            </a:solidFill>
          </a:ln>
        </p:spPr>
        <p:txBody>
          <a:bodyPr wrap="square" lIns="137160" rIns="91440" anchor="ctr"/>
          <a:lstStyle/>
          <a:p>
            <a:pPr>
              <a:spcAft>
                <a:spcPts val="200"/>
              </a:spcAft>
            </a:pPr>
            <a:r>
              <a:rPr lang="de-DE" sz="1400" dirty="0">
                <a:solidFill>
                  <a:srgbClr val="666666"/>
                </a:solidFill>
                <a:latin typeface="Open Sans"/>
              </a:rPr>
              <a:t>Großes Feature</a:t>
            </a:r>
          </a:p>
          <a:p>
            <a:r>
              <a:rPr lang="de-DE" sz="1600" b="1" dirty="0">
                <a:solidFill>
                  <a:srgbClr val="212B80"/>
                </a:solidFill>
                <a:latin typeface="Open Sans"/>
              </a:rPr>
              <a:t>Sub-Agents von Anfang an</a:t>
            </a:r>
          </a:p>
        </p:txBody>
      </p:sp>
      <p:sp>
        <p:nvSpPr>
          <p:cNvPr id="430" name="Rule"/>
          <p:cNvSpPr/>
          <p:nvPr/>
        </p:nvSpPr>
        <p:spPr>
          <a:xfrm>
            <a:off x="2000000" y="5200000"/>
            <a:ext cx="8000000" cy="500000"/>
          </a:xfrm>
          <a:prstGeom prst="roundRect">
            <a:avLst/>
          </a:prstGeom>
          <a:solidFill>
            <a:srgbClr val="212B80"/>
          </a:solidFill>
          <a:ln>
            <a:noFill/>
          </a:ln>
        </p:spPr>
        <p:txBody>
          <a:bodyPr lIns="137160" anchor="ctr"/>
          <a:lstStyle/>
          <a:p>
            <a:pPr algn="ctr"/>
            <a:r>
              <a:rPr lang="de-DE" sz="1800" b="1" dirty="0">
                <a:solidFill>
                  <a:srgbClr val="FFD440"/>
                </a:solidFill>
                <a:latin typeface="Open Sans"/>
              </a:rPr>
              <a:t>Faustregel: Ein Chat = ein Feature</a:t>
            </a:r>
          </a:p>
        </p:txBody>
      </p:sp>
    </p:spTree>
    <p:extLst>
      <p:ext uri="{BB962C8B-B14F-4D97-AF65-F5344CB8AC3E}">
        <p14:creationId xmlns:p14="http://schemas.microsoft.com/office/powerpoint/2010/main" val="1876910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69E360-5CC2-69EC-7502-461767C8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latin typeface="Open Sans"/>
              </a:rPr>
              <a:t>Lokale LLMs — welche Tools können das?</a:t>
            </a:r>
          </a:p>
        </p:txBody>
      </p:sp>
      <p:sp>
        <p:nvSpPr>
          <p:cNvPr id="200" name="LblHdr"/>
          <p:cNvSpPr>
            <a:spLocks noGrp="1"/>
          </p:cNvSpPr>
          <p:nvPr/>
        </p:nvSpPr>
        <p:spPr>
          <a:xfrm>
            <a:off x="393700" y="1422400"/>
            <a:ext cx="1778000" cy="4826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txBody>
          <a:bodyPr lIns="1270" tIns="635" rIns="1270" bIns="635" anchor="ctr"/>
          <a:lstStyle/>
          <a:p>
            <a:pPr algn="ctr">
              <a:spcBef>
                <a:spcPts val="0"/>
              </a:spcBef>
            </a:pPr>
            <a:r>
              <a:rPr lang="de-DE" sz="1300" b="1" dirty="0">
                <a:solidFill>
                  <a:srgbClr val="212B80"/>
                </a:solidFill>
                <a:latin typeface="Open Sans"/>
              </a:rPr>
              <a:t>Kriterium</a:t>
            </a:r>
          </a:p>
        </p:txBody>
      </p:sp>
      <p:sp>
        <p:nvSpPr>
          <p:cNvPr id="201" name="CC_Hdr"/>
          <p:cNvSpPr>
            <a:spLocks noGrp="1"/>
          </p:cNvSpPr>
          <p:nvPr/>
        </p:nvSpPr>
        <p:spPr>
          <a:xfrm>
            <a:off x="2273300" y="1422400"/>
            <a:ext cx="3200400" cy="4826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lIns="1270" tIns="635" rIns="1270" bIns="635" anchor="ctr"/>
          <a:lstStyle/>
          <a:p>
            <a:pPr algn="ctr">
              <a:spcBef>
                <a:spcPts val="0"/>
              </a:spcBef>
            </a:pPr>
            <a:r>
              <a:rPr lang="de-DE" sz="1350" b="1" dirty="0">
                <a:solidFill>
                  <a:srgbClr val="FFFFFF"/>
                </a:solidFill>
                <a:latin typeface="Open Sans"/>
              </a:rPr>
              <a:t>✅  Claude Code</a:t>
            </a:r>
          </a:p>
        </p:txBody>
      </p:sp>
      <p:sp>
        <p:nvSpPr>
          <p:cNvPr id="202" name="MV_Hdr"/>
          <p:cNvSpPr>
            <a:spLocks noGrp="1"/>
          </p:cNvSpPr>
          <p:nvPr/>
        </p:nvSpPr>
        <p:spPr>
          <a:xfrm>
            <a:off x="5575300" y="1422400"/>
            <a:ext cx="3200400" cy="4826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lIns="1270" tIns="635" rIns="1270" bIns="635" anchor="ctr"/>
          <a:lstStyle/>
          <a:p>
            <a:pPr algn="ctr">
              <a:spcBef>
                <a:spcPts val="0"/>
              </a:spcBef>
            </a:pPr>
            <a:r>
              <a:rPr lang="de-DE" sz="1350" b="1" dirty="0">
                <a:solidFill>
                  <a:srgbClr val="FFFFFF"/>
                </a:solidFill>
                <a:latin typeface="Open Sans"/>
              </a:rPr>
              <a:t>✅  Mistral Vibe</a:t>
            </a:r>
          </a:p>
        </p:txBody>
      </p:sp>
      <p:sp>
        <p:nvSpPr>
          <p:cNvPr id="203" name="GH_Hdr"/>
          <p:cNvSpPr>
            <a:spLocks noGrp="1"/>
          </p:cNvSpPr>
          <p:nvPr/>
        </p:nvSpPr>
        <p:spPr>
          <a:xfrm>
            <a:off x="8877300" y="1422400"/>
            <a:ext cx="3238500" cy="4826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lIns="1270" tIns="635" rIns="1270" bIns="635" anchor="ctr"/>
          <a:lstStyle/>
          <a:p>
            <a:pPr algn="ctr">
              <a:spcBef>
                <a:spcPts val="0"/>
              </a:spcBef>
            </a:pPr>
            <a:r>
              <a:rPr lang="de-DE" sz="1350" b="1" dirty="0">
                <a:solidFill>
                  <a:srgbClr val="FFFFFF"/>
                </a:solidFill>
                <a:latin typeface="Open Sans"/>
              </a:rPr>
              <a:t>⚠️  GitHub Copilot</a:t>
            </a:r>
          </a:p>
        </p:txBody>
      </p:sp>
      <p:sp>
        <p:nvSpPr>
          <p:cNvPr id="210" name="Lbl1"/>
          <p:cNvSpPr>
            <a:spLocks noGrp="1"/>
          </p:cNvSpPr>
          <p:nvPr/>
        </p:nvSpPr>
        <p:spPr>
          <a:xfrm>
            <a:off x="393700" y="1905000"/>
            <a:ext cx="1778000" cy="863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270" tIns="762" rIns="1270" bIns="762" anchor="ctr"/>
          <a:lstStyle/>
          <a:p>
            <a:pPr algn="ctr">
              <a:spcBef>
                <a:spcPts val="0"/>
              </a:spcBef>
            </a:pPr>
            <a:r>
              <a:rPr lang="de-DE" sz="1250" b="1" dirty="0">
                <a:solidFill>
                  <a:srgbClr val="212B80"/>
                </a:solidFill>
                <a:latin typeface="Open Sans"/>
              </a:rPr>
              <a:t>Lokaler Betrieb</a:t>
            </a:r>
          </a:p>
        </p:txBody>
      </p:sp>
      <p:sp>
        <p:nvSpPr>
          <p:cNvPr id="211" name="R1C1"/>
          <p:cNvSpPr>
            <a:spLocks noGrp="1"/>
          </p:cNvSpPr>
          <p:nvPr/>
        </p:nvSpPr>
        <p:spPr>
          <a:xfrm>
            <a:off x="2273300" y="1905000"/>
            <a:ext cx="3200400" cy="86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200" dirty="0">
                <a:solidFill>
                  <a:srgbClr val="1A6B3C"/>
                </a:solidFill>
                <a:latin typeface="Open Sans"/>
              </a:rPr>
              <a:t>✅ Vollständig offline via Ollama</a:t>
            </a:r>
          </a:p>
          <a:p>
            <a:pPr algn="l">
              <a:spcBef>
                <a:spcPts val="60"/>
              </a:spcBef>
            </a:pPr>
            <a:r>
              <a:rPr lang="de-DE" sz="1150" dirty="0">
                <a:solidFill>
                  <a:srgbClr val="374151"/>
                </a:solidFill>
                <a:latin typeface="Open Sans"/>
              </a:rPr>
              <a:t>Code verlässt das Gerät nicht</a:t>
            </a:r>
          </a:p>
        </p:txBody>
      </p:sp>
      <p:sp>
        <p:nvSpPr>
          <p:cNvPr id="212" name="R1C2"/>
          <p:cNvSpPr>
            <a:spLocks noGrp="1"/>
          </p:cNvSpPr>
          <p:nvPr/>
        </p:nvSpPr>
        <p:spPr>
          <a:xfrm>
            <a:off x="5575300" y="1905000"/>
            <a:ext cx="3200400" cy="86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200" dirty="0">
                <a:solidFill>
                  <a:srgbClr val="1A6B3C"/>
                </a:solidFill>
                <a:latin typeface="Open Sans"/>
              </a:rPr>
              <a:t>✅ Nativ unterstützt — offiziell</a:t>
            </a:r>
          </a:p>
          <a:p>
            <a:pPr algn="l">
              <a:spcBef>
                <a:spcPts val="60"/>
              </a:spcBef>
            </a:pPr>
            <a:r>
              <a:rPr lang="de-DE" sz="1150" dirty="0">
                <a:solidFill>
                  <a:srgbClr val="374151"/>
                </a:solidFill>
                <a:latin typeface="Open Sans"/>
              </a:rPr>
              <a:t>/config → "local" in Vibe CLI</a:t>
            </a:r>
          </a:p>
        </p:txBody>
      </p:sp>
      <p:sp>
        <p:nvSpPr>
          <p:cNvPr id="213" name="R1C3"/>
          <p:cNvSpPr>
            <a:spLocks noGrp="1"/>
          </p:cNvSpPr>
          <p:nvPr/>
        </p:nvSpPr>
        <p:spPr>
          <a:xfrm>
            <a:off x="8877300" y="1905000"/>
            <a:ext cx="3238500" cy="86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200" dirty="0">
                <a:solidFill>
                  <a:srgbClr val="B45309"/>
                </a:solidFill>
                <a:latin typeface="Open Sans"/>
              </a:rPr>
              <a:t>⚠️ Nur Copilot Chat lokal</a:t>
            </a:r>
          </a:p>
          <a:p>
            <a:pPr algn="l">
              <a:spcBef>
                <a:spcPts val="60"/>
              </a:spcBef>
            </a:pPr>
            <a:r>
              <a:rPr lang="de-DE" sz="1150" dirty="0">
                <a:solidFill>
                  <a:srgbClr val="374151"/>
                </a:solidFill>
                <a:latin typeface="Open Sans"/>
              </a:rPr>
              <a:t>Completion bleibt Cloud-only</a:t>
            </a:r>
          </a:p>
        </p:txBody>
      </p:sp>
      <p:sp>
        <p:nvSpPr>
          <p:cNvPr id="220" name="Lbl2"/>
          <p:cNvSpPr>
            <a:spLocks noGrp="1"/>
          </p:cNvSpPr>
          <p:nvPr/>
        </p:nvSpPr>
        <p:spPr>
          <a:xfrm>
            <a:off x="393700" y="2794000"/>
            <a:ext cx="1778000" cy="863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270" tIns="762" rIns="1270" bIns="762" anchor="ctr"/>
          <a:lstStyle/>
          <a:p>
            <a:pPr algn="ctr">
              <a:spcBef>
                <a:spcPts val="0"/>
              </a:spcBef>
            </a:pPr>
            <a:r>
              <a:rPr lang="de-DE" sz="1250" b="1" dirty="0">
                <a:solidFill>
                  <a:srgbClr val="212B80"/>
                </a:solidFill>
                <a:latin typeface="Open Sans"/>
              </a:rPr>
              <a:t>Setup</a:t>
            </a:r>
          </a:p>
        </p:txBody>
      </p:sp>
      <p:sp>
        <p:nvSpPr>
          <p:cNvPr id="221" name="R2C1"/>
          <p:cNvSpPr>
            <a:spLocks noGrp="1"/>
          </p:cNvSpPr>
          <p:nvPr/>
        </p:nvSpPr>
        <p:spPr>
          <a:xfrm>
            <a:off x="2273300" y="2794000"/>
            <a:ext cx="3200400" cy="863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000" dirty="0">
                <a:solidFill>
                  <a:srgbClr val="3F59FF"/>
                </a:solidFill>
                <a:latin typeface="Consolas"/>
              </a:rPr>
              <a:t>ANTHROPIC_BASE_URL=http://localhost:11434</a:t>
            </a:r>
          </a:p>
          <a:p>
            <a:pPr algn="l">
              <a:spcBef>
                <a:spcPts val="50"/>
              </a:spcBef>
            </a:pPr>
            <a:r>
              <a:rPr lang="de-DE" sz="1000" dirty="0">
                <a:solidFill>
                  <a:srgbClr val="374151"/>
                </a:solidFill>
                <a:latin typeface="Consolas"/>
              </a:rPr>
              <a:t>claude --model devstral-small-2</a:t>
            </a:r>
          </a:p>
        </p:txBody>
      </p:sp>
      <p:sp>
        <p:nvSpPr>
          <p:cNvPr id="222" name="R2C2"/>
          <p:cNvSpPr>
            <a:spLocks noGrp="1"/>
          </p:cNvSpPr>
          <p:nvPr/>
        </p:nvSpPr>
        <p:spPr>
          <a:xfrm>
            <a:off x="5575300" y="2794000"/>
            <a:ext cx="3200400" cy="863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000" dirty="0">
                <a:solidFill>
                  <a:srgbClr val="3F59FF"/>
                </a:solidFill>
                <a:latin typeface="Consolas"/>
              </a:rPr>
              <a:t>api_base = "http://localhost:11434/v1"</a:t>
            </a:r>
          </a:p>
          <a:p>
            <a:pPr algn="l">
              <a:spcBef>
                <a:spcPts val="50"/>
              </a:spcBef>
            </a:pPr>
            <a:r>
              <a:rPr lang="de-DE" sz="1000" dirty="0">
                <a:solidFill>
                  <a:srgbClr val="374151"/>
                </a:solidFill>
                <a:latin typeface="Consolas"/>
              </a:rPr>
              <a:t>api_style = "openai"  → vibe</a:t>
            </a:r>
          </a:p>
        </p:txBody>
      </p:sp>
      <p:sp>
        <p:nvSpPr>
          <p:cNvPr id="223" name="R2C3"/>
          <p:cNvSpPr>
            <a:spLocks noGrp="1"/>
          </p:cNvSpPr>
          <p:nvPr/>
        </p:nvSpPr>
        <p:spPr>
          <a:xfrm>
            <a:off x="8877300" y="2794000"/>
            <a:ext cx="3238500" cy="863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150" dirty="0">
                <a:solidFill>
                  <a:srgbClr val="374151"/>
                </a:solidFill>
                <a:latin typeface="Open Sans"/>
              </a:rPr>
              <a:t>VSCode → Einstellungen →</a:t>
            </a:r>
          </a:p>
          <a:p>
            <a:pPr algn="l">
              <a:spcBef>
                <a:spcPts val="50"/>
              </a:spcBef>
            </a:pPr>
            <a:r>
              <a:rPr lang="de-DE" sz="1050" dirty="0">
                <a:solidFill>
                  <a:srgbClr val="374151"/>
                </a:solidFill>
                <a:latin typeface="Open Sans"/>
              </a:rPr>
              <a:t>"GitHub Copilot: Language Models"</a:t>
            </a:r>
          </a:p>
        </p:txBody>
      </p:sp>
      <p:sp>
        <p:nvSpPr>
          <p:cNvPr id="230" name="Lbl3"/>
          <p:cNvSpPr>
            <a:spLocks noGrp="1"/>
          </p:cNvSpPr>
          <p:nvPr/>
        </p:nvSpPr>
        <p:spPr>
          <a:xfrm>
            <a:off x="393700" y="3683000"/>
            <a:ext cx="1778000" cy="863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270" tIns="762" rIns="1270" bIns="762" anchor="ctr"/>
          <a:lstStyle/>
          <a:p>
            <a:pPr algn="ctr">
              <a:spcBef>
                <a:spcPts val="0"/>
              </a:spcBef>
            </a:pPr>
            <a:r>
              <a:rPr lang="de-DE" sz="1250" b="1" dirty="0">
                <a:solidFill>
                  <a:srgbClr val="212B80"/>
                </a:solidFill>
                <a:latin typeface="Open Sans"/>
              </a:rPr>
              <a:t>Empfohlene Modelle</a:t>
            </a:r>
          </a:p>
        </p:txBody>
      </p:sp>
      <p:sp>
        <p:nvSpPr>
          <p:cNvPr id="231" name="R3C1"/>
          <p:cNvSpPr>
            <a:spLocks noGrp="1"/>
          </p:cNvSpPr>
          <p:nvPr/>
        </p:nvSpPr>
        <p:spPr>
          <a:xfrm>
            <a:off x="2273300" y="3683000"/>
            <a:ext cx="3200400" cy="86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• devstral-small-2  (Coding, 24B)</a:t>
            </a:r>
          </a:p>
          <a:p>
            <a:pPr algn="l">
              <a:spcBef>
                <a:spcPts val="6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• qwen3-coder  (leicht + schnell)</a:t>
            </a:r>
          </a:p>
        </p:txBody>
      </p:sp>
      <p:sp>
        <p:nvSpPr>
          <p:cNvPr id="232" name="R3C2"/>
          <p:cNvSpPr>
            <a:spLocks noGrp="1"/>
          </p:cNvSpPr>
          <p:nvPr/>
        </p:nvSpPr>
        <p:spPr>
          <a:xfrm>
            <a:off x="5575300" y="3683000"/>
            <a:ext cx="3200400" cy="86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• devstral-small-2  (offiziell)</a:t>
            </a:r>
          </a:p>
          <a:p>
            <a:pPr algn="l">
              <a:spcBef>
                <a:spcPts val="6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• Jedes OpenAI-kompatibles Modell</a:t>
            </a:r>
          </a:p>
        </p:txBody>
      </p:sp>
      <p:sp>
        <p:nvSpPr>
          <p:cNvPr id="233" name="R3C3"/>
          <p:cNvSpPr>
            <a:spLocks noGrp="1"/>
          </p:cNvSpPr>
          <p:nvPr/>
        </p:nvSpPr>
        <p:spPr>
          <a:xfrm>
            <a:off x="8877300" y="3683000"/>
            <a:ext cx="3238500" cy="86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• Beliebiges Ollama-Modell (Chat)</a:t>
            </a:r>
          </a:p>
          <a:p>
            <a:pPr algn="l">
              <a:spcBef>
                <a:spcPts val="6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• Standard: GPT-4o / Claude (Cloud)</a:t>
            </a:r>
          </a:p>
        </p:txBody>
      </p:sp>
      <p:sp>
        <p:nvSpPr>
          <p:cNvPr id="240" name="Lbl4"/>
          <p:cNvSpPr>
            <a:spLocks noGrp="1"/>
          </p:cNvSpPr>
          <p:nvPr/>
        </p:nvSpPr>
        <p:spPr>
          <a:xfrm>
            <a:off x="393700" y="4572000"/>
            <a:ext cx="1778000" cy="863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270" tIns="762" rIns="1270" bIns="762" anchor="ctr"/>
          <a:lstStyle/>
          <a:p>
            <a:pPr algn="ctr">
              <a:spcBef>
                <a:spcPts val="0"/>
              </a:spcBef>
            </a:pPr>
            <a:r>
              <a:rPr lang="de-DE" sz="1250" b="1" dirty="0">
                <a:solidFill>
                  <a:srgbClr val="212B80"/>
                </a:solidFill>
                <a:latin typeface="Open Sans"/>
              </a:rPr>
              <a:t>Einschränkung</a:t>
            </a:r>
          </a:p>
        </p:txBody>
      </p:sp>
      <p:sp>
        <p:nvSpPr>
          <p:cNvPr id="241" name="R4C1"/>
          <p:cNvSpPr>
            <a:spLocks noGrp="1"/>
          </p:cNvSpPr>
          <p:nvPr/>
        </p:nvSpPr>
        <p:spPr>
          <a:xfrm>
            <a:off x="2273300" y="4572000"/>
            <a:ext cx="3200400" cy="863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200" i="1" dirty="0">
                <a:solidFill>
                  <a:srgbClr val="92400E"/>
                </a:solidFill>
                <a:latin typeface="Open Sans"/>
              </a:rPr>
              <a:t>⚠  Mind. 32 GB RAM für devstral</a:t>
            </a:r>
          </a:p>
        </p:txBody>
      </p:sp>
      <p:sp>
        <p:nvSpPr>
          <p:cNvPr id="242" name="R4C2"/>
          <p:cNvSpPr>
            <a:spLocks noGrp="1"/>
          </p:cNvSpPr>
          <p:nvPr/>
        </p:nvSpPr>
        <p:spPr>
          <a:xfrm>
            <a:off x="5575300" y="4572000"/>
            <a:ext cx="3200400" cy="863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200" i="1" dirty="0">
                <a:solidFill>
                  <a:srgbClr val="92400E"/>
                </a:solidFill>
                <a:latin typeface="Open Sans"/>
              </a:rPr>
              <a:t>⚠  Devstral optimal: H100/A100</a:t>
            </a:r>
          </a:p>
        </p:txBody>
      </p:sp>
      <p:sp>
        <p:nvSpPr>
          <p:cNvPr id="243" name="R4C3"/>
          <p:cNvSpPr>
            <a:spLocks noGrp="1"/>
          </p:cNvSpPr>
          <p:nvPr/>
        </p:nvSpPr>
        <p:spPr>
          <a:xfrm>
            <a:off x="8877300" y="4572000"/>
            <a:ext cx="3238500" cy="863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651" tIns="762" rIns="1270" bIns="762" anchor="ctr"/>
          <a:lstStyle/>
          <a:p>
            <a:pPr algn="l">
              <a:spcBef>
                <a:spcPts val="0"/>
              </a:spcBef>
            </a:pPr>
            <a:r>
              <a:rPr lang="de-DE" sz="1200" i="1" dirty="0">
                <a:solidFill>
                  <a:srgbClr val="B91C1C"/>
                </a:solidFill>
                <a:latin typeface="Open Sans"/>
              </a:rPr>
              <a:t>⚠  GitHub-Login immer erforderlich</a:t>
            </a:r>
          </a:p>
        </p:txBody>
      </p:sp>
      <p:sp>
        <p:nvSpPr>
          <p:cNvPr id="250" name="FazitBar"/>
          <p:cNvSpPr>
            <a:spLocks noGrp="1"/>
          </p:cNvSpPr>
          <p:nvPr/>
        </p:nvSpPr>
        <p:spPr>
          <a:xfrm>
            <a:off x="393700" y="5689600"/>
            <a:ext cx="11722100" cy="5588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lIns="1905" tIns="635" rIns="1905" bIns="635" anchor="ctr"/>
          <a:lstStyle/>
          <a:p>
            <a:pPr algn="ctr"/>
            <a:r>
              <a:rPr lang="de-DE" sz="1250" b="1" dirty="0">
                <a:solidFill>
                  <a:srgbClr val="FFFFFF"/>
                </a:solidFill>
                <a:latin typeface="Open Sans"/>
              </a:rPr>
              <a:t>Fazit: </a:t>
            </a:r>
            <a:r>
              <a:rPr lang="de-DE" sz="1250" dirty="0">
                <a:solidFill>
                  <a:srgbClr val="BFD9FF"/>
                </a:solidFill>
                <a:latin typeface="Open Sans"/>
              </a:rPr>
              <a:t>Claude Code &amp; Mistral Vibe = vollständig lokal  ·  Copilot = nur Chat lokal</a:t>
            </a:r>
          </a:p>
        </p:txBody>
      </p:sp>
    </p:spTree>
    <p:extLst>
      <p:ext uri="{BB962C8B-B14F-4D97-AF65-F5344CB8AC3E}">
        <p14:creationId xmlns:p14="http://schemas.microsoft.com/office/powerpoint/2010/main" val="3173981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785542-164B-A093-0A0B-4A803B6E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ea typeface="Open Sans"/>
                <a:cs typeface="Open Sans"/>
              </a:rPr>
              <a:t>Hands-on: Aufgabe + Ablauf</a:t>
            </a:r>
          </a:p>
        </p:txBody>
      </p:sp>
      <p:sp>
        <p:nvSpPr>
          <p:cNvPr id="370" name="Vue"/>
          <p:cNvSpPr/>
          <p:nvPr/>
        </p:nvSpPr>
        <p:spPr>
          <a:xfrm>
            <a:off x="1524000" y="1435100"/>
            <a:ext cx="2438400" cy="1371600"/>
          </a:xfrm>
          <a:prstGeom prst="roundRect">
            <a:avLst>
              <a:gd name="adj" fmla="val 8000"/>
            </a:avLst>
          </a:prstGeom>
          <a:solidFill>
            <a:srgbClr val="3F59FF"/>
          </a:solidFill>
          <a:ln>
            <a:noFill/>
          </a:ln>
        </p:spPr>
        <p:txBody>
          <a:bodyPr wrap="square" lIns="91440" rIns="9144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Open Sans"/>
              </a:rPr>
              <a:t>Vue.js</a:t>
            </a:r>
          </a:p>
          <a:p>
            <a:pPr algn="ctr">
              <a:spcBef>
                <a:spcPts val="150"/>
              </a:spcBef>
            </a:pPr>
            <a:r>
              <a:rPr lang="de-DE" sz="1200" dirty="0">
                <a:solidFill>
                  <a:srgbClr val="BFD9FF"/>
                </a:solidFill>
                <a:latin typeface="Open Sans"/>
              </a:rPr>
              <a:t>Chat-UI</a:t>
            </a:r>
          </a:p>
          <a:p>
            <a:pPr algn="ctr">
              <a:spcBef>
                <a:spcPts val="150"/>
              </a:spcBef>
            </a:pPr>
            <a:r>
              <a:rPr lang="de-DE" sz="1050" dirty="0">
                <a:solidFill>
                  <a:srgbClr val="FFD440"/>
                </a:solidFill>
                <a:latin typeface="Consolas"/>
              </a:rPr>
              <a:t>localhost:5173</a:t>
            </a:r>
          </a:p>
        </p:txBody>
      </p:sp>
      <p:sp>
        <p:nvSpPr>
          <p:cNvPr id="371" name="Arr1"/>
          <p:cNvSpPr/>
          <p:nvPr/>
        </p:nvSpPr>
        <p:spPr>
          <a:xfrm>
            <a:off x="3962400" y="1892300"/>
            <a:ext cx="914400" cy="45720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950" dirty="0">
                <a:solidFill>
                  <a:srgbClr val="1A1A2E"/>
                </a:solidFill>
                <a:latin typeface="Consolas"/>
              </a:rPr>
              <a:t>↔ POST /chat</a:t>
            </a:r>
          </a:p>
        </p:txBody>
      </p:sp>
      <p:sp>
        <p:nvSpPr>
          <p:cNvPr id="372" name="Spring"/>
          <p:cNvSpPr/>
          <p:nvPr/>
        </p:nvSpPr>
        <p:spPr>
          <a:xfrm>
            <a:off x="4876800" y="1435100"/>
            <a:ext cx="2438400" cy="1371600"/>
          </a:xfrm>
          <a:prstGeom prst="roundRect">
            <a:avLst>
              <a:gd name="adj" fmla="val 8000"/>
            </a:avLst>
          </a:prstGeom>
          <a:solidFill>
            <a:srgbClr val="3F59FF"/>
          </a:solidFill>
          <a:ln>
            <a:noFill/>
          </a:ln>
        </p:spPr>
        <p:txBody>
          <a:bodyPr wrap="square" lIns="91440" rIns="9144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Open Sans"/>
              </a:rPr>
              <a:t>Spring Boot</a:t>
            </a:r>
          </a:p>
          <a:p>
            <a:pPr algn="ctr">
              <a:spcBef>
                <a:spcPts val="150"/>
              </a:spcBef>
            </a:pPr>
            <a:r>
              <a:rPr lang="de-DE" sz="1200" dirty="0">
                <a:solidFill>
                  <a:srgbClr val="BFD9FF"/>
                </a:solidFill>
                <a:latin typeface="Open Sans"/>
              </a:rPr>
              <a:t>Backend</a:t>
            </a:r>
          </a:p>
          <a:p>
            <a:pPr algn="ctr">
              <a:spcBef>
                <a:spcPts val="150"/>
              </a:spcBef>
            </a:pPr>
            <a:r>
              <a:rPr lang="de-DE" sz="1050" dirty="0">
                <a:solidFill>
                  <a:srgbClr val="FFD440"/>
                </a:solidFill>
                <a:latin typeface="Consolas"/>
              </a:rPr>
              <a:t>localhost:8080</a:t>
            </a:r>
          </a:p>
        </p:txBody>
      </p:sp>
      <p:sp>
        <p:nvSpPr>
          <p:cNvPr id="373" name="Arr2"/>
          <p:cNvSpPr/>
          <p:nvPr/>
        </p:nvSpPr>
        <p:spPr>
          <a:xfrm>
            <a:off x="7315200" y="1892300"/>
            <a:ext cx="914400" cy="45720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 lIns="0" rIns="0" anchor="ctr"/>
          <a:lstStyle/>
          <a:p>
            <a:pPr algn="ctr"/>
            <a:r>
              <a:rPr lang="de-DE" sz="950" dirty="0">
                <a:solidFill>
                  <a:srgbClr val="1A1A2E"/>
                </a:solidFill>
                <a:latin typeface="Consolas"/>
              </a:rPr>
              <a:t>↔ HTTPS</a:t>
            </a:r>
          </a:p>
        </p:txBody>
      </p:sp>
      <p:sp>
        <p:nvSpPr>
          <p:cNvPr id="374" name="Claude"/>
          <p:cNvSpPr/>
          <p:nvPr/>
        </p:nvSpPr>
        <p:spPr>
          <a:xfrm>
            <a:off x="8229600" y="1435100"/>
            <a:ext cx="2438400" cy="1371600"/>
          </a:xfrm>
          <a:prstGeom prst="roundRect">
            <a:avLst>
              <a:gd name="adj" fmla="val 8000"/>
            </a:avLst>
          </a:prstGeom>
          <a:solidFill>
            <a:srgbClr val="3F59FF"/>
          </a:solidFill>
          <a:ln>
            <a:noFill/>
          </a:ln>
        </p:spPr>
        <p:txBody>
          <a:bodyPr wrap="square" lIns="91440" rIns="91440" anchor="ctr"/>
          <a:lstStyle/>
          <a:p>
            <a:pPr algn="ctr"/>
            <a:r>
              <a:rPr lang="de-DE" sz="1400" b="1" dirty="0">
                <a:solidFill>
                  <a:srgbClr val="FFFFFF"/>
                </a:solidFill>
                <a:latin typeface="Open Sans"/>
              </a:rPr>
              <a:t>Claude API</a:t>
            </a:r>
          </a:p>
          <a:p>
            <a:pPr algn="ctr">
              <a:spcBef>
                <a:spcPts val="150"/>
              </a:spcBef>
            </a:pPr>
            <a:r>
              <a:rPr lang="de-DE" sz="1200" dirty="0">
                <a:solidFill>
                  <a:srgbClr val="BFD9FF"/>
                </a:solidFill>
                <a:latin typeface="Open Sans"/>
              </a:rPr>
              <a:t>Anthropic</a:t>
            </a:r>
          </a:p>
          <a:p>
            <a:pPr algn="ctr">
              <a:spcBef>
                <a:spcPts val="150"/>
              </a:spcBef>
            </a:pPr>
            <a:r>
              <a:rPr lang="de-DE" sz="950" dirty="0">
                <a:solidFill>
                  <a:srgbClr val="FFD440"/>
                </a:solidFill>
                <a:latin typeface="Consolas"/>
              </a:rPr>
              <a:t>api.anthropic.com</a:t>
            </a:r>
          </a:p>
        </p:txBody>
      </p:sp>
      <p:sp>
        <p:nvSpPr>
          <p:cNvPr id="501" name="NewT1H"/>
          <p:cNvSpPr>
            <a:spLocks noGrp="1"/>
          </p:cNvSpPr>
          <p:nvPr/>
        </p:nvSpPr>
        <p:spPr>
          <a:xfrm>
            <a:off x="393700" y="3048000"/>
            <a:ext cx="5588000" cy="4318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 anchor="ctr"/>
          <a:lstStyle/>
          <a:p>
            <a:pPr algn="l"/>
            <a:r>
              <a:rPr lang="de-DE" sz="1400" b="1" dirty="0">
                <a:solidFill>
                  <a:srgbClr val="FFFFFF"/>
                </a:solidFill>
                <a:latin typeface="Open Sans"/>
              </a:rPr>
              <a:t>Teil 1: Claude Code — Backend</a:t>
            </a:r>
          </a:p>
        </p:txBody>
      </p:sp>
      <p:sp>
        <p:nvSpPr>
          <p:cNvPr id="502" name="NewT1C"/>
          <p:cNvSpPr>
            <a:spLocks noGrp="1"/>
          </p:cNvSpPr>
          <p:nvPr/>
        </p:nvSpPr>
        <p:spPr>
          <a:xfrm>
            <a:off x="393700" y="3479800"/>
            <a:ext cx="5588000" cy="269748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txBody>
          <a:bodyPr wrap="square" lIns="2286" tIns="1905" rIns="1270" bIns="1270" anchor="t"/>
          <a:lstStyle/>
          <a:p>
            <a:pPr algn="l">
              <a:spcAft>
                <a:spcPts val="180"/>
              </a:spcAft>
            </a:pPr>
            <a:r>
              <a:rPr lang="de-DE" sz="1300" b="1" dirty="0">
                <a:solidFill>
                  <a:srgbClr val="212B80"/>
                </a:solidFill>
                <a:latin typeface="Open Sans"/>
              </a:rPr>
              <a:t>Spring Boot Backend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①  Setup: CLAUDE.md einrichten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②  Plan Mode: Aufgabe planen lassen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③  DTOs implementieren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④  LlmService bauen (Claude API-Key)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⑤  ChatController mit POST-Endpoint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⑥  Test mit curl / Postman</a:t>
            </a:r>
          </a:p>
        </p:txBody>
      </p:sp>
      <p:sp>
        <p:nvSpPr>
          <p:cNvPr id="503" name="NewT2H"/>
          <p:cNvSpPr>
            <a:spLocks noGrp="1"/>
          </p:cNvSpPr>
          <p:nvPr/>
        </p:nvSpPr>
        <p:spPr>
          <a:xfrm>
            <a:off x="6210300" y="3048000"/>
            <a:ext cx="5588000" cy="431800"/>
          </a:xfrm>
          <a:prstGeom prst="rect">
            <a:avLst/>
          </a:prstGeom>
          <a:solidFill>
            <a:srgbClr val="212B80"/>
          </a:solidFill>
          <a:ln>
            <a:noFill/>
          </a:ln>
        </p:spPr>
        <p:txBody>
          <a:bodyPr anchor="ctr"/>
          <a:lstStyle/>
          <a:p>
            <a:pPr algn="l"/>
            <a:r>
              <a:rPr lang="de-DE" sz="1400" b="1" dirty="0">
                <a:solidFill>
                  <a:srgbClr val="FFFFFF"/>
                </a:solidFill>
                <a:latin typeface="Open Sans"/>
              </a:rPr>
              <a:t>Teil 2: GitHub Copilot — Frontend</a:t>
            </a:r>
          </a:p>
        </p:txBody>
      </p:sp>
      <p:sp>
        <p:nvSpPr>
          <p:cNvPr id="504" name="NewT2C"/>
          <p:cNvSpPr>
            <a:spLocks noGrp="1"/>
          </p:cNvSpPr>
          <p:nvPr/>
        </p:nvSpPr>
        <p:spPr>
          <a:xfrm>
            <a:off x="6210300" y="3479800"/>
            <a:ext cx="5588000" cy="269748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txBody>
          <a:bodyPr wrap="square" lIns="2286" tIns="1905" rIns="1270" bIns="1270" anchor="t"/>
          <a:lstStyle/>
          <a:p>
            <a:pPr algn="l">
              <a:spcAft>
                <a:spcPts val="180"/>
              </a:spcAft>
            </a:pPr>
            <a:r>
              <a:rPr lang="de-DE" sz="1300" b="1" dirty="0">
                <a:solidFill>
                  <a:srgbClr val="212B80"/>
                </a:solidFill>
                <a:latin typeface="Open Sans"/>
              </a:rPr>
              <a:t>Vue.js Frontend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①  Vite-Projekt anlegen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②  Pinia Store für Chat-State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③  ChatWindow Komponente bauen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④  Typing Indicator hinzufügen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⑤  Mit Backend verbinden (axios)</a:t>
            </a:r>
          </a:p>
          <a:p>
            <a:pPr algn="l">
              <a:spcBef>
                <a:spcPts val="220"/>
              </a:spcBef>
            </a:pPr>
            <a:r>
              <a:rPr lang="de-DE" sz="1200" dirty="0">
                <a:solidFill>
                  <a:srgbClr val="374151"/>
                </a:solidFill>
                <a:latin typeface="Open Sans"/>
              </a:rPr>
              <a:t>⑥  End-to-End testen</a:t>
            </a:r>
          </a:p>
        </p:txBody>
      </p:sp>
    </p:spTree>
    <p:extLst>
      <p:ext uri="{BB962C8B-B14F-4D97-AF65-F5344CB8AC3E}">
        <p14:creationId xmlns:p14="http://schemas.microsoft.com/office/powerpoint/2010/main" val="1898738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AI-Blueprint">
      <a:dk1>
        <a:srgbClr val="212B80"/>
      </a:dk1>
      <a:lt1>
        <a:srgbClr val="FFFFFF"/>
      </a:lt1>
      <a:dk2>
        <a:srgbClr val="1A1A2E"/>
      </a:dk2>
      <a:lt2>
        <a:srgbClr val="E8F0FF"/>
      </a:lt2>
      <a:accent1>
        <a:srgbClr val="3F59FF"/>
      </a:accent1>
      <a:accent2>
        <a:srgbClr val="212B80"/>
      </a:accent2>
      <a:accent3>
        <a:srgbClr val="FFD440"/>
      </a:accent3>
      <a:accent4>
        <a:srgbClr val="374151"/>
      </a:accent4>
      <a:accent5>
        <a:srgbClr val="1A6B3C"/>
      </a:accent5>
      <a:accent6>
        <a:srgbClr val="B91C1C"/>
      </a:accent6>
      <a:hlink>
        <a:srgbClr val="467886"/>
      </a:hlink>
      <a:folHlink>
        <a:srgbClr val="96607D"/>
      </a:folHlink>
    </a:clrScheme>
    <a:fontScheme name="AI-Blueprint">
      <a:majorFont>
        <a:latin typeface="Open Sa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4102C46-22B6-9045-93C9-A26A21346E9B}">
  <we:reference id="wa200010001" version="1.0.0.0" store="de-DE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3458</Words>
  <Application>Microsoft Macintosh PowerPoint</Application>
  <PresentationFormat>Breitbild</PresentationFormat>
  <Paragraphs>597</Paragraphs>
  <Slides>25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0" baseType="lpstr">
      <vt:lpstr>Aptos</vt:lpstr>
      <vt:lpstr>Arial</vt:lpstr>
      <vt:lpstr>Consolas</vt:lpstr>
      <vt:lpstr>Open Sans</vt:lpstr>
      <vt:lpstr>Office</vt:lpstr>
      <vt:lpstr>Tag 1: Greenfield</vt:lpstr>
      <vt:lpstr>Wie ein LLM technisch arbeitet</vt:lpstr>
      <vt:lpstr>Warum halluzinieren LLMs — und was hilft?</vt:lpstr>
      <vt:lpstr>Was KI heute konkret kann — nüchtern betrachtet</vt:lpstr>
      <vt:lpstr>KI-Ausbaustufen im Unternehmen</vt:lpstr>
      <vt:lpstr>Was das fürs Unternehmen heißt</vt:lpstr>
      <vt:lpstr>Vibe Coding — Was ist das?</vt:lpstr>
      <vt:lpstr>Vibe Coding — Der Unterschied</vt:lpstr>
      <vt:lpstr>KERNEL-Framework — Übersicht</vt:lpstr>
      <vt:lpstr>K — Keep it simple</vt:lpstr>
      <vt:lpstr>E — Explicit constraints</vt:lpstr>
      <vt:lpstr>R — Reproducible results</vt:lpstr>
      <vt:lpstr>N — Narrow scope</vt:lpstr>
      <vt:lpstr>E — Easy to verify</vt:lpstr>
      <vt:lpstr>L — Logical structure + KERNEL-Gesamtbeispiel</vt:lpstr>
      <vt:lpstr>PowerPoint-Präsentation</vt:lpstr>
      <vt:lpstr>PowerPoint-Präsentation</vt:lpstr>
      <vt:lpstr>Die KI-Projektstruktur</vt:lpstr>
      <vt:lpstr>CLAUDE.md + MEMORY.md — Das Projekt-Gehirn</vt:lpstr>
      <vt:lpstr>.claude/ — Agents, Rules, Commands, Skills</vt:lpstr>
      <vt:lpstr>Tool-Vergleich: Gleiche Idee, anderer Ordner</vt:lpstr>
      <vt:lpstr>Plan Mode &amp; Verifikation</vt:lpstr>
      <vt:lpstr>Context-Window-Management</vt:lpstr>
      <vt:lpstr>Lokale LLMs — welche Tools können das?</vt:lpstr>
      <vt:lpstr>Hands-on: Aufgabe + Ablauf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Tkalcic</dc:creator>
  <cp:lastModifiedBy>Patrick Tkalcic</cp:lastModifiedBy>
  <cp:revision>64</cp:revision>
  <dcterms:created xsi:type="dcterms:W3CDTF">2026-03-09T11:18:59Z</dcterms:created>
  <dcterms:modified xsi:type="dcterms:W3CDTF">2026-03-11T12:48:47Z</dcterms:modified>
</cp:coreProperties>
</file>