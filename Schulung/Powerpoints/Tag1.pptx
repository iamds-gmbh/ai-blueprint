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345" r:id="rId2"/>
    <p:sldId id="346" r:id="rId3"/>
    <p:sldId id="369" r:id="rId4"/>
    <p:sldId id="33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3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39" r:id="rId28"/>
    <p:sldId id="341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4"/>
    <p:restoredTop sz="94703"/>
  </p:normalViewPr>
  <p:slideViewPr>
    <p:cSldViewPr snapToGrid="0">
      <p:cViewPr varScale="1">
        <p:scale>
          <a:sx n="119" d="100"/>
          <a:sy n="119" d="100"/>
        </p:scale>
        <p:origin x="224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184B5-AA3A-1D66-9AF8-8E9EBEF24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5461BC-4F5F-2D90-76D2-788D64096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40E04D-1A91-C615-8D01-2CBF7E23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9C4E98-7500-A9FB-B414-CD198E68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E916C9-6A3E-E1F7-EA36-AA7368B3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282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A6529-ADDA-81C4-9DFF-8D8420C4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C33E1F-A22E-0372-9DD6-4BF8A2143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A41840-8281-D054-A1C4-1F9394D2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2B67E-7ECA-36A4-FFAE-22F8D2FD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C8628F-6D68-BDF4-E3C2-70E0E3E2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07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941F5B-E54F-9ABB-FD79-CD6F1C52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FBF4A9-A6DF-A5D9-CF98-C8B81E042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996875-455D-195C-DF66-9FD56248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F3C03F-B7D5-372C-D2BD-92DF261B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4A48ED-1911-5A9E-55D6-FFC1F50C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300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6E11F-AEAD-39E9-5463-A67801CE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4C68B1-C1DF-F616-BF84-9A6CF97A7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A1C23B-1E86-146E-87AA-A833510E9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C1C9D2-996D-7F49-DD95-8DAEFCA3F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D49450-869B-443F-6BC1-AD6E445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37A5C9-A6F8-C5D6-8F4F-4B549072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142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A9DEE-64B7-927C-89FD-E8CA3F36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7B492D-CD97-B420-D3FF-F594A68A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5FED8F-BBAC-472A-12B3-F9F9BD45F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8ECCB1-0EBF-0A56-5B22-07EF5338A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6363B67-00AD-9E1F-352B-AB3D23C04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BAF405E-809C-576C-CAB6-4DB97056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B911B9-AC5C-A72A-E2BF-6FE268F2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627D986-5485-FB18-A89B-270D6B5B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45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898CD-2F4D-C23D-6BD2-A78CA04B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B0C714-76FF-8B11-2F28-D9B8C7046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E5430-C9EF-4C59-0E64-0CC551BD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C00ED1-3F83-5085-898F-2CB353B6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17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D806F7-5B95-D3BC-7FD5-3A2F4B2B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991EC9-42D1-2627-9265-F385A76AE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397CE8-57D7-72D7-2D36-4D1E8048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514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99FBFE-6895-1749-9F23-DED6CF866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245644-B541-E85F-B2F8-B5659C71B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E146FB-8B7F-CD9C-BDDA-91E6904EC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6B67E5-042B-84D9-8E93-250616EE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93EB5E-6009-E038-54AD-DE95C7D5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ED7F18-6D57-2415-8513-E1156E02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08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8CF79-BB7A-F3BB-AC64-787F1127E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6B85A7F-BDB5-2028-CFFD-B6003519F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AD9749-26DC-3826-D8EB-DFE59A53C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8AA5E9-4450-4988-4E11-4A6D9D29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05B407-3BB5-C463-90B0-573B823F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84D3A7-0D55-7933-9C11-100F5752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27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AF75D-F43A-A5BB-ED18-032595B8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8A782F-F92F-1797-873C-D0807E948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A1DB3F-C83B-53B5-3A54-93B8A537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FF2CD6-688C-9EA1-D117-D83C9CB0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E37BAF-D66C-D271-38FB-87E656A7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071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BC21B8-598C-3366-8D93-41EC3B343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A75CF5-9F2E-EC5D-365B-F20E53358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3BC77A-F1DE-2590-B494-6339E829A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FAE1C3-35DF-AC02-B147-AA5C54D4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38D000-42F8-7B19-67C8-F6C043D6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281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B398AF-8D0C-FFB7-19E2-299FCA80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17BC3E-E490-5B7B-B037-820AB3D4F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7B4CD3-5FE6-41D4-5663-CCEF42559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0AA7B-33E5-FC45-93D4-9DE7E082790A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2A2991-D04B-B6CF-140D-42AA30248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87E8FD-CCB0-AE80-5AEB-0B6BFD274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  <p:sp>
        <p:nvSpPr>
          <p:cNvPr id="900" name="AccentBar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01" name="OrangeAccent"/>
          <p:cNvSpPr/>
          <p:nvPr/>
        </p:nvSpPr>
        <p:spPr>
          <a:xfrm>
            <a:off x="0" y="6537960"/>
            <a:ext cx="12192000" cy="4572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36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2B80"/>
          </a:solidFill>
          <a:latin typeface="Open Sans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Open Sans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212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9pPr>
    </p:bodyStyle>
    <p:otherStyle>
      <a:defPPr>
        <a:defRPr lang="de-DE">
          <a:solidFill>
            <a:srgbClr val="212121"/>
          </a:solidFill>
        </a:defRPr>
      </a:defPPr>
      <a:lvl1pPr marL="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CB2BB4C-2427-514C-9107-6AC785313C2D}"/>
              </a:ext>
            </a:extLst>
          </p:cNvPr>
          <p:cNvSpPr txBox="1"/>
          <p:nvPr/>
        </p:nvSpPr>
        <p:spPr>
          <a:xfrm>
            <a:off x="1016000" y="1968500"/>
            <a:ext cx="1016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600" b="1">
                <a:solidFill>
                  <a:srgbClr val="212B80"/>
                </a:solidFill>
                <a:latin typeface="Open Sans"/>
                <a:ea typeface="Open Sans"/>
                <a:cs typeface="Open Sans"/>
              </a:rPr>
              <a:t>Tag 1: Greenfield — Von der Idee zur App mit KI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1D64955-B7EF-A14F-957A-BF8BA2E51C3E}"/>
              </a:ext>
            </a:extLst>
          </p:cNvPr>
          <p:cNvSpPr txBox="1"/>
          <p:nvPr/>
        </p:nvSpPr>
        <p:spPr>
          <a:xfrm>
            <a:off x="2540000" y="38735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>
                <a:solidFill>
                  <a:srgbClr val="3F59FF"/>
                </a:solidFill>
                <a:latin typeface="Open Sans"/>
                <a:ea typeface="Open Sans"/>
                <a:cs typeface="Open Sans"/>
              </a:rPr>
              <a:t>AI-Blueprint Schulung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39FBF10-02ED-9F45-97A2-713F9B051CD7}"/>
              </a:ext>
            </a:extLst>
          </p:cNvPr>
          <p:cNvSpPr txBox="1"/>
          <p:nvPr/>
        </p:nvSpPr>
        <p:spPr>
          <a:xfrm>
            <a:off x="3175000" y="4635500"/>
            <a:ext cx="584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[Datum]  ·  [Trainer-Name]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43765CD-64E3-1B40-8089-65ED820BD361}"/>
              </a:ext>
            </a:extLst>
          </p:cNvPr>
          <p:cNvSpPr/>
          <p:nvPr/>
        </p:nvSpPr>
        <p:spPr>
          <a:xfrm>
            <a:off x="4826000" y="3619500"/>
            <a:ext cx="2540000" cy="508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416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E62BD-6DDF-B43C-E646-2DE9D6E9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Agenda — Tag 1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5A5D9BE-2CB7-4F48-915A-7BA94A3CE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407917"/>
              </p:ext>
            </p:extLst>
          </p:nvPr>
        </p:nvGraphicFramePr>
        <p:xfrm>
          <a:off x="1016000" y="1651000"/>
          <a:ext cx="10160000" cy="431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76658636"/>
                    </a:ext>
                  </a:extLst>
                </a:gridCol>
                <a:gridCol w="7874000">
                  <a:extLst>
                    <a:ext uri="{9D8B030D-6E8A-4147-A177-3AD203B41FA5}">
                      <a16:colId xmlns:a16="http://schemas.microsoft.com/office/drawing/2014/main" val="2608693643"/>
                    </a:ext>
                  </a:extLst>
                </a:gridCol>
              </a:tblGrid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Zeit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Thema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325738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09:00 – 09:30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Was ist ein LLM? Das mentale Modell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659931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09:30 – 10:00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Mindset-Shift &amp; Paradigmenwechsel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037752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10:00 – 10:30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KERNEL-Framework: Prompts die funktionieren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40953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10:30 – 11:00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Tools, Plan Mode &amp; Verifikation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860919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11:00 – 15:15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Hands-on: KI-Chatbot bauen (mit Mittagspause)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83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42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9359C-FC44-3C1A-8509-7261F1CC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Wie ein LLM technisch arbeitet</a:t>
            </a:r>
          </a:p>
        </p:txBody>
      </p:sp>
      <p:sp>
        <p:nvSpPr>
          <p:cNvPr id="50" name="Step1"/>
          <p:cNvSpPr/>
          <p:nvPr/>
        </p:nvSpPr>
        <p:spPr>
          <a:xfrm>
            <a:off x="300000" y="1500000"/>
            <a:ext cx="3600000" cy="26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3F59FF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3F59FF"/>
                </a:solidFill>
                <a:latin typeface="Open Sans"/>
              </a:rPr>
              <a:t>SCHRITT 1</a:t>
            </a:r>
          </a:p>
          <a:p>
            <a:pPr>
              <a:spcAft>
                <a:spcPts val="400"/>
              </a:spcAft>
            </a:pPr>
            <a:r>
              <a:rPr lang="de-DE" sz="1800" b="1" dirty="0">
                <a:solidFill>
                  <a:srgbClr val="212B80"/>
                </a:solidFill>
                <a:latin typeface="Open Sans"/>
              </a:rPr>
              <a:t>Tokenization (BPE)</a:t>
            </a:r>
          </a:p>
          <a:p>
            <a:pPr>
              <a:spcAft>
                <a:spcPts val="300"/>
              </a:spcAft>
            </a:pPr>
            <a:r>
              <a:rPr lang="de-DE" sz="1400" dirty="0">
                <a:solidFill>
                  <a:srgbClr val="212121"/>
                </a:solidFill>
                <a:latin typeface="Consolas"/>
              </a:rPr>
              <a:t>"getUserById"</a:t>
            </a:r>
          </a:p>
          <a:p>
            <a:pPr>
              <a:spcAft>
                <a:spcPts val="300"/>
              </a:spcAft>
            </a:pPr>
            <a:r>
              <a:rPr lang="de-DE" sz="1400" dirty="0">
                <a:solidFill>
                  <a:srgbClr val="212121"/>
                </a:solidFill>
                <a:latin typeface="Open Sans"/>
              </a:rPr>
              <a:t>= 3 Tokens: </a:t>
            </a:r>
            <a:r>
              <a:rPr lang="de-DE" sz="1400" b="1" dirty="0">
                <a:solidFill>
                  <a:srgbClr val="3F59FF"/>
                </a:solidFill>
                <a:latin typeface="Consolas"/>
              </a:rPr>
              <a:t>["get", "User", "ById"]</a:t>
            </a:r>
          </a:p>
          <a:p>
            <a:r>
              <a:rPr lang="de-DE" sz="1400" dirty="0">
                <a:solidFill>
                  <a:srgbClr val="666666"/>
                </a:solidFill>
                <a:latin typeface="Open Sans"/>
              </a:rPr>
              <a:t>CamelCase kostet mehr Tokens als snake_case</a:t>
            </a:r>
          </a:p>
        </p:txBody>
      </p:sp>
      <p:sp>
        <p:nvSpPr>
          <p:cNvPr id="51" name="Step2"/>
          <p:cNvSpPr/>
          <p:nvPr/>
        </p:nvSpPr>
        <p:spPr>
          <a:xfrm>
            <a:off x="4200000" y="1500000"/>
            <a:ext cx="3600000" cy="26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212B80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3F59FF"/>
                </a:solidFill>
                <a:latin typeface="Open Sans"/>
              </a:rPr>
              <a:t>SCHRITT 2</a:t>
            </a:r>
          </a:p>
          <a:p>
            <a:pPr>
              <a:spcAft>
                <a:spcPts val="400"/>
              </a:spcAft>
            </a:pPr>
            <a:r>
              <a:rPr lang="de-DE" sz="1800" b="1" dirty="0">
                <a:solidFill>
                  <a:srgbClr val="212B80"/>
                </a:solidFill>
                <a:latin typeface="Open Sans"/>
              </a:rPr>
              <a:t>Transformer + Attention</a:t>
            </a:r>
          </a:p>
          <a:p>
            <a:r>
              <a:rPr lang="de-DE" sz="1400" dirty="0">
                <a:solidFill>
                  <a:srgbClr val="212121"/>
                </a:solidFill>
                <a:latin typeface="Open Sans"/>
              </a:rPr>
              <a:t>Berechnet Wahrscheinlichkeit des nächsten Tokens basierend auf dem gesamten Kontext</a:t>
            </a:r>
          </a:p>
        </p:txBody>
      </p:sp>
      <p:sp>
        <p:nvSpPr>
          <p:cNvPr id="52" name="Step3"/>
          <p:cNvSpPr/>
          <p:nvPr/>
        </p:nvSpPr>
        <p:spPr>
          <a:xfrm>
            <a:off x="8100000" y="1500000"/>
            <a:ext cx="3600000" cy="26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FFD440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3F59FF"/>
                </a:solidFill>
                <a:latin typeface="Open Sans"/>
              </a:rPr>
              <a:t>SCHRITT 3</a:t>
            </a:r>
          </a:p>
          <a:p>
            <a:pPr>
              <a:spcAft>
                <a:spcPts val="400"/>
              </a:spcAft>
            </a:pPr>
            <a:r>
              <a:rPr lang="de-DE" sz="1800" b="1" dirty="0">
                <a:solidFill>
                  <a:srgbClr val="212B80"/>
                </a:solidFill>
                <a:latin typeface="Open Sans"/>
              </a:rPr>
              <a:t>Sampling</a:t>
            </a:r>
          </a:p>
          <a:p>
            <a:pPr>
              <a:spcAft>
                <a:spcPts val="300"/>
              </a:spcAft>
            </a:pPr>
            <a:r>
              <a:rPr lang="de-DE" sz="1400" b="1" dirty="0">
                <a:solidFill>
                  <a:srgbClr val="3F59FF"/>
                </a:solidFill>
                <a:latin typeface="Consolas"/>
              </a:rPr>
              <a:t>temp=0.0</a:t>
            </a:r>
            <a:r>
              <a:rPr lang="de-DE" sz="1400" dirty="0">
                <a:solidFill>
                  <a:srgbClr val="212121"/>
                </a:solidFill>
                <a:latin typeface="Open Sans"/>
              </a:rPr>
              <a:t> → deterministisch (Code)</a:t>
            </a:r>
          </a:p>
          <a:p>
            <a:r>
              <a:rPr lang="de-DE" sz="1400" b="1" dirty="0">
                <a:solidFill>
                  <a:srgbClr val="C49500"/>
                </a:solidFill>
                <a:latin typeface="Consolas"/>
              </a:rPr>
              <a:t>temp=0.7</a:t>
            </a:r>
            <a:r>
              <a:rPr lang="de-DE" sz="1400" dirty="0">
                <a:solidFill>
                  <a:srgbClr val="212121"/>
                </a:solidFill>
                <a:latin typeface="Open Sans"/>
              </a:rPr>
              <a:t> → kreativ (Architektur)</a:t>
            </a:r>
          </a:p>
        </p:txBody>
      </p:sp>
      <p:sp>
        <p:nvSpPr>
          <p:cNvPr id="53" name="Arr1"/>
          <p:cNvSpPr/>
          <p:nvPr/>
        </p:nvSpPr>
        <p:spPr>
          <a:xfrm>
            <a:off x="3950000" y="2500000"/>
            <a:ext cx="250000" cy="200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4" name="Arr2"/>
          <p:cNvSpPr/>
          <p:nvPr/>
        </p:nvSpPr>
        <p:spPr>
          <a:xfrm>
            <a:off x="7850000" y="2500000"/>
            <a:ext cx="250000" cy="200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4906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7C6BAA-8B24-8808-70CD-5B6E726F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3 typische Code-Halluzinationen</a:t>
            </a:r>
          </a:p>
        </p:txBody>
      </p:sp>
      <p:sp>
        <p:nvSpPr>
          <p:cNvPr id="60" name="Ex1"/>
          <p:cNvSpPr/>
          <p:nvPr/>
        </p:nvSpPr>
        <p:spPr>
          <a:xfrm>
            <a:off x="300000" y="1500000"/>
            <a:ext cx="3600000" cy="28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FF6B6B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FF6B6B"/>
                </a:solidFill>
                <a:latin typeface="Open Sans"/>
              </a:rPr>
              <a:t>HALLUZINATION 1</a:t>
            </a:r>
          </a:p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212B80"/>
                </a:solidFill>
                <a:latin typeface="Open Sans"/>
              </a:rPr>
              <a:t>Nicht-existierende API</a:t>
            </a:r>
          </a:p>
          <a:p>
            <a:pPr>
              <a:spcAft>
                <a:spcPts val="400"/>
              </a:spcAft>
            </a:pPr>
            <a:r>
              <a:rPr lang="de-DE" sz="1200" dirty="0">
                <a:solidFill>
                  <a:srgbClr val="FF6B6B"/>
                </a:solidFill>
                <a:latin typeface="Consolas"/>
              </a:rPr>
              <a:t>repository.findByNameContainingIgnoreCase()</a:t>
            </a:r>
          </a:p>
          <a:p>
            <a:r>
              <a:rPr lang="de-DE" sz="1400" dirty="0">
                <a:solidFill>
                  <a:srgbClr val="666666"/>
                </a:solidFill>
                <a:latin typeface="Open Sans"/>
              </a:rPr>
              <a:t>Existiert nur mit korrekter Spring Data Config</a:t>
            </a:r>
          </a:p>
        </p:txBody>
      </p:sp>
      <p:sp>
        <p:nvSpPr>
          <p:cNvPr id="61" name="Ex2"/>
          <p:cNvSpPr/>
          <p:nvPr/>
        </p:nvSpPr>
        <p:spPr>
          <a:xfrm>
            <a:off x="4200000" y="1500000"/>
            <a:ext cx="3600000" cy="28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FF6B6B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FF6B6B"/>
                </a:solidFill>
                <a:latin typeface="Open Sans"/>
              </a:rPr>
              <a:t>HALLUZINATION 2</a:t>
            </a:r>
          </a:p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212B80"/>
                </a:solidFill>
                <a:latin typeface="Open Sans"/>
              </a:rPr>
              <a:t>Falsche Version</a:t>
            </a:r>
          </a:p>
          <a:p>
            <a:pPr>
              <a:spcAft>
                <a:spcPts val="400"/>
              </a:spcAft>
            </a:pPr>
            <a:r>
              <a:rPr lang="de-DE" sz="1200" dirty="0">
                <a:solidFill>
                  <a:srgbClr val="FF6B6B"/>
                </a:solidFill>
                <a:latin typeface="Consolas"/>
              </a:rPr>
              <a:t>WebSecurityConfigurerAdapter</a:t>
            </a:r>
          </a:p>
          <a:p>
            <a:r>
              <a:rPr lang="de-DE" sz="1400" dirty="0">
                <a:solidFill>
                  <a:srgbClr val="666666"/>
                </a:solidFill>
                <a:latin typeface="Open Sans"/>
              </a:rPr>
              <a:t>In Spring Boot 3 entfernt</a:t>
            </a:r>
          </a:p>
        </p:txBody>
      </p:sp>
      <p:sp>
        <p:nvSpPr>
          <p:cNvPr id="62" name="Ex3"/>
          <p:cNvSpPr/>
          <p:nvPr/>
        </p:nvSpPr>
        <p:spPr>
          <a:xfrm>
            <a:off x="8100000" y="1500000"/>
            <a:ext cx="3600000" cy="28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9050">
            <a:solidFill>
              <a:srgbClr val="FF6B6B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FF6B6B"/>
                </a:solidFill>
                <a:latin typeface="Open Sans"/>
              </a:rPr>
              <a:t>HALLUZINATION 3</a:t>
            </a:r>
          </a:p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212B80"/>
                </a:solidFill>
                <a:latin typeface="Open Sans"/>
              </a:rPr>
              <a:t>Erfundene CLI-Flags</a:t>
            </a:r>
          </a:p>
          <a:p>
            <a:pPr>
              <a:spcAft>
                <a:spcPts val="400"/>
              </a:spcAft>
            </a:pPr>
            <a:r>
              <a:rPr lang="de-DE" sz="1200" dirty="0">
                <a:solidFill>
                  <a:srgbClr val="FF6B6B"/>
                </a:solidFill>
                <a:latin typeface="Consolas"/>
              </a:rPr>
              <a:t>mvn spring-boot:run --debug-port=5005</a:t>
            </a:r>
          </a:p>
          <a:p>
            <a:r>
              <a:rPr lang="de-DE" sz="1400" dirty="0">
                <a:solidFill>
                  <a:srgbClr val="666666"/>
                </a:solidFill>
                <a:latin typeface="Open Sans"/>
              </a:rPr>
              <a:t>Existiert nicht so</a:t>
            </a:r>
          </a:p>
        </p:txBody>
      </p:sp>
      <p:sp>
        <p:nvSpPr>
          <p:cNvPr id="65" name="KeyMsg"/>
          <p:cNvSpPr/>
          <p:nvPr/>
        </p:nvSpPr>
        <p:spPr>
          <a:xfrm>
            <a:off x="300000" y="4700000"/>
            <a:ext cx="11400000" cy="700000"/>
          </a:xfrm>
          <a:prstGeom prst="roundRect">
            <a:avLst/>
          </a:prstGeom>
          <a:solidFill>
            <a:srgbClr val="212B80"/>
          </a:solidFill>
          <a:ln>
            <a:noFill/>
          </a:ln>
        </p:spPr>
        <p:txBody>
          <a:bodyPr wrap="square" lIns="137160" rIns="13716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Open Sans"/>
              </a:rPr>
              <a:t>KI kennt das Pattern, aber nicht EUER Projekt. Output immer gegen Compiler + Docs prüfen.</a:t>
            </a:r>
          </a:p>
        </p:txBody>
      </p:sp>
    </p:spTree>
    <p:extLst>
      <p:ext uri="{BB962C8B-B14F-4D97-AF65-F5344CB8AC3E}">
        <p14:creationId xmlns:p14="http://schemas.microsoft.com/office/powerpoint/2010/main" val="217450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0A616-6346-81F2-2FDC-D05E68BB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Der Mindset-Shift</a:t>
            </a:r>
          </a:p>
        </p:txBody>
      </p:sp>
      <p:sp>
        <p:nvSpPr>
          <p:cNvPr id="80" name="Box80"/>
          <p:cNvSpPr/>
          <p:nvPr/>
        </p:nvSpPr>
        <p:spPr>
          <a:xfrm>
            <a:off x="500000" y="1600000"/>
            <a:ext cx="5200000" cy="32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D1D5DB"/>
            </a:solidFill>
          </a:ln>
        </p:spPr>
        <p:txBody>
          <a:bodyPr wrap="square" lIns="91440" tIns="91440" rIns="91440" bIns="91440" anchor="t"/>
          <a:lstStyle/>
          <a:p>
            <a:endParaRPr lang="de-DE"/>
          </a:p>
        </p:txBody>
      </p:sp>
      <p:sp>
        <p:nvSpPr>
          <p:cNvPr id="81" name="Box81"/>
          <p:cNvSpPr/>
          <p:nvPr/>
        </p:nvSpPr>
        <p:spPr>
          <a:xfrm>
            <a:off x="6300000" y="1600000"/>
            <a:ext cx="5200000" cy="3200000"/>
          </a:xfrm>
          <a:prstGeom prst="roundRect">
            <a:avLst>
              <a:gd name="adj" fmla="val 5000"/>
            </a:avLst>
          </a:prstGeom>
          <a:solidFill>
            <a:srgbClr val="EEF0FF"/>
          </a:solidFill>
          <a:ln w="25400">
            <a:solidFill>
              <a:srgbClr val="3F59FF"/>
            </a:solidFill>
          </a:ln>
        </p:spPr>
        <p:txBody>
          <a:bodyPr wrap="square" lIns="91440" tIns="91440" rIns="91440" bIns="91440" anchor="t"/>
          <a:lstStyle/>
          <a:p>
            <a:endParaRPr lang="de-DE"/>
          </a:p>
        </p:txBody>
      </p:sp>
      <p:sp>
        <p:nvSpPr>
          <p:cNvPr id="82" name="FruherH"/>
          <p:cNvSpPr/>
          <p:nvPr/>
        </p:nvSpPr>
        <p:spPr>
          <a:xfrm>
            <a:off x="500000" y="1600000"/>
            <a:ext cx="5200000" cy="500000"/>
          </a:xfrm>
          <a:prstGeom prst="roundRect">
            <a:avLst>
              <a:gd name="adj" fmla="val 5000"/>
            </a:avLst>
          </a:prstGeom>
          <a:solidFill>
            <a:srgbClr val="9CA3AF"/>
          </a:solidFill>
          <a:ln>
            <a:noFill/>
          </a:ln>
        </p:spPr>
        <p:txBody>
          <a:bodyPr lIns="91440" anchor="ctr"/>
          <a:lstStyle/>
          <a:p>
            <a:pPr algn="ctr"/>
            <a:r>
              <a:rPr lang="de-DE" sz="2200" b="1" dirty="0">
                <a:solidFill>
                  <a:srgbClr val="666666"/>
                </a:solidFill>
                <a:latin typeface="Open Sans"/>
              </a:rPr>
              <a:t>FRÜHER</a:t>
            </a:r>
          </a:p>
        </p:txBody>
      </p:sp>
      <p:sp>
        <p:nvSpPr>
          <p:cNvPr id="83" name="HeuteH"/>
          <p:cNvSpPr/>
          <p:nvPr/>
        </p:nvSpPr>
        <p:spPr>
          <a:xfrm>
            <a:off x="6300000" y="1600000"/>
            <a:ext cx="5200000" cy="500000"/>
          </a:xfrm>
          <a:prstGeom prst="roundRect">
            <a:avLst>
              <a:gd name="adj" fmla="val 5000"/>
            </a:avLst>
          </a:prstGeom>
          <a:solidFill>
            <a:srgbClr val="3F59FF"/>
          </a:solidFill>
          <a:ln>
            <a:noFill/>
          </a:ln>
        </p:spPr>
        <p:txBody>
          <a:bodyPr lIns="91440" anchor="ctr"/>
          <a:lstStyle/>
          <a:p>
            <a:pPr algn="ctr"/>
            <a:r>
              <a:rPr lang="de-DE" sz="2200" b="1" dirty="0">
                <a:solidFill>
                  <a:srgbClr val="FFFFFF"/>
                </a:solidFill>
                <a:latin typeface="Open Sans"/>
              </a:rPr>
              <a:t>HEUTE</a:t>
            </a:r>
          </a:p>
        </p:txBody>
      </p:sp>
      <p:sp>
        <p:nvSpPr>
          <p:cNvPr id="84" name="FruherC"/>
          <p:cNvSpPr/>
          <p:nvPr/>
        </p:nvSpPr>
        <p:spPr>
          <a:xfrm>
            <a:off x="700000" y="2250000"/>
            <a:ext cx="480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/>
          <a:lstStyle/>
          <a:p>
            <a:pPr>
              <a:spcAft>
                <a:spcPts val="800"/>
              </a:spcAft>
            </a:pPr>
            <a:r>
              <a:rPr lang="de-DE" sz="1600" b="1" dirty="0">
                <a:solidFill>
                  <a:srgbClr val="666666"/>
                </a:solidFill>
                <a:latin typeface="Open Sans"/>
              </a:rPr>
              <a:t>Entwickler = </a:t>
            </a:r>
            <a:r>
              <a:rPr lang="de-DE" sz="1600" dirty="0">
                <a:solidFill>
                  <a:srgbClr val="666666"/>
                </a:solidFill>
                <a:latin typeface="Open Sans"/>
              </a:rPr>
              <a:t>jemand der Code schreibt</a:t>
            </a:r>
          </a:p>
          <a:p>
            <a:pPr>
              <a:spcAft>
                <a:spcPts val="800"/>
              </a:spcAft>
            </a:pPr>
            <a:r>
              <a:rPr lang="de-DE" sz="1600" b="1" dirty="0">
                <a:solidFill>
                  <a:srgbClr val="666666"/>
                </a:solidFill>
                <a:latin typeface="Open Sans"/>
              </a:rPr>
              <a:t>Kernaufgabe: </a:t>
            </a:r>
            <a:r>
              <a:rPr lang="de-DE" sz="1600" dirty="0">
                <a:solidFill>
                  <a:srgbClr val="666666"/>
                </a:solidFill>
                <a:latin typeface="Open Sans"/>
              </a:rPr>
              <a:t>Programmiersprache beherrschen</a:t>
            </a:r>
          </a:p>
          <a:p>
            <a:r>
              <a:rPr lang="de-DE" sz="1600" b="1" dirty="0">
                <a:solidFill>
                  <a:srgbClr val="666666"/>
                </a:solidFill>
                <a:latin typeface="Open Sans"/>
              </a:rPr>
              <a:t>Output: </a:t>
            </a:r>
            <a:r>
              <a:rPr lang="de-DE" sz="1600" dirty="0">
                <a:solidFill>
                  <a:srgbClr val="666666"/>
                </a:solidFill>
                <a:latin typeface="Open Sans"/>
              </a:rPr>
              <a:t>Lines of Code</a:t>
            </a:r>
          </a:p>
        </p:txBody>
      </p:sp>
      <p:sp>
        <p:nvSpPr>
          <p:cNvPr id="85" name="HeuteC"/>
          <p:cNvSpPr/>
          <p:nvPr/>
        </p:nvSpPr>
        <p:spPr>
          <a:xfrm>
            <a:off x="6500000" y="2250000"/>
            <a:ext cx="4800000" cy="230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/>
          <a:lstStyle/>
          <a:p>
            <a:pPr>
              <a:spcAft>
                <a:spcPts val="800"/>
              </a:spcAft>
            </a:pPr>
            <a:r>
              <a:rPr lang="de-DE" sz="1600" b="1" dirty="0">
                <a:solidFill>
                  <a:srgbClr val="212B80"/>
                </a:solidFill>
                <a:latin typeface="Open Sans"/>
              </a:rPr>
              <a:t>Entwickler = </a:t>
            </a:r>
            <a:r>
              <a:rPr lang="de-DE" sz="1600" dirty="0">
                <a:solidFill>
                  <a:srgbClr val="212B80"/>
                </a:solidFill>
                <a:latin typeface="Open Sans"/>
              </a:rPr>
              <a:t>jemand der Probleme löst</a:t>
            </a:r>
          </a:p>
          <a:p>
            <a:pPr>
              <a:spcAft>
                <a:spcPts val="800"/>
              </a:spcAft>
            </a:pPr>
            <a:r>
              <a:rPr lang="de-DE" sz="1600" b="1" dirty="0">
                <a:solidFill>
                  <a:srgbClr val="212B80"/>
                </a:solidFill>
                <a:latin typeface="Open Sans"/>
              </a:rPr>
              <a:t>Kernaufgabe: </a:t>
            </a:r>
            <a:r>
              <a:rPr lang="de-DE" sz="1600" dirty="0">
                <a:solidFill>
                  <a:srgbClr val="212B80"/>
                </a:solidFill>
                <a:latin typeface="Open Sans"/>
              </a:rPr>
              <a:t>Problem definieren + Architektur + Verifikation</a:t>
            </a:r>
          </a:p>
          <a:p>
            <a:r>
              <a:rPr lang="de-DE" sz="1600" b="1" dirty="0">
                <a:solidFill>
                  <a:srgbClr val="212B80"/>
                </a:solidFill>
                <a:latin typeface="Open Sans"/>
              </a:rPr>
              <a:t>Output: </a:t>
            </a:r>
            <a:r>
              <a:rPr lang="de-DE" sz="1600" dirty="0">
                <a:solidFill>
                  <a:srgbClr val="212B80"/>
                </a:solidFill>
                <a:latin typeface="Open Sans"/>
              </a:rPr>
              <a:t>Funktionierendes System</a:t>
            </a:r>
          </a:p>
        </p:txBody>
      </p:sp>
      <p:sp>
        <p:nvSpPr>
          <p:cNvPr id="86" name="Quote"/>
          <p:cNvSpPr/>
          <p:nvPr/>
        </p:nvSpPr>
        <p:spPr>
          <a:xfrm>
            <a:off x="1500000" y="5100000"/>
            <a:ext cx="9000000" cy="5000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1800" i="1" dirty="0">
                <a:solidFill>
                  <a:srgbClr val="FFD440"/>
                </a:solidFill>
                <a:latin typeface="Open Sans"/>
              </a:rPr>
              <a:t>"The use of Software Engineers will be to solve problems."</a:t>
            </a:r>
          </a:p>
        </p:txBody>
      </p:sp>
    </p:spTree>
    <p:extLst>
      <p:ext uri="{BB962C8B-B14F-4D97-AF65-F5344CB8AC3E}">
        <p14:creationId xmlns:p14="http://schemas.microsoft.com/office/powerpoint/2010/main" val="20258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A2F935-B5C3-EA69-4680-F004156E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Der Paradigmenwechsel im Detail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2B85330-DDEC-734B-8253-44AE382C8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565106"/>
              </p:ext>
            </p:extLst>
          </p:nvPr>
        </p:nvGraphicFramePr>
        <p:xfrm>
          <a:off x="635000" y="1524000"/>
          <a:ext cx="10922000" cy="4826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662368029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943230056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589988177"/>
                    </a:ext>
                  </a:extLst>
                </a:gridCol>
              </a:tblGrid>
              <a:tr h="689429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Aspekt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BISHER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ZUKUNFT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244195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Rolle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Coder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Problem Solver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870620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Kernaufgabe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Code schreiben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Probleme definieren + Architektur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388718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Programmiersprachen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Architektur + Prompt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93893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Output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Lines of Code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Funktionierende Systeme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529415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IDE + Compiler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IDE + KI-Agents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35800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Produktivität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1 Entwickler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1 Dev + KI = 3-5x Output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31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724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FD022-B998-E52B-139D-3FB9A4832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Was das fürs Unternehmen heißt</a:t>
            </a:r>
          </a:p>
        </p:txBody>
      </p:sp>
      <p:pic>
        <p:nvPicPr>
          <p:cNvPr id="3" name="Graphic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609600" cy="609600"/>
          </a:xfrm>
          <a:prstGeom prst="rect">
            <a:avLst/>
          </a:prstGeom>
        </p:spPr>
      </p:pic>
      <p:pic>
        <p:nvPicPr>
          <p:cNvPr id="4" name="Graphic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857500"/>
            <a:ext cx="609600" cy="609600"/>
          </a:xfrm>
          <a:prstGeom prst="rect">
            <a:avLst/>
          </a:prstGeom>
        </p:spPr>
      </p:pic>
      <p:pic>
        <p:nvPicPr>
          <p:cNvPr id="5" name="Graphic 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00500"/>
            <a:ext cx="609600" cy="609600"/>
          </a:xfrm>
          <a:prstGeom prst="rect">
            <a:avLst/>
          </a:prstGeom>
        </p:spPr>
      </p:pic>
      <p:pic>
        <p:nvPicPr>
          <p:cNvPr id="6" name="Graphic 6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143500"/>
            <a:ext cx="609600" cy="609600"/>
          </a:xfrm>
          <a:prstGeom prst="rect">
            <a:avLst/>
          </a:prstGeom>
        </p:spPr>
      </p:pic>
      <p:sp>
        <p:nvSpPr>
          <p:cNvPr id="90" name="Item90"/>
          <p:cNvSpPr/>
          <p:nvPr/>
        </p:nvSpPr>
        <p:spPr>
          <a:xfrm>
            <a:off x="2000000" y="1714500"/>
            <a:ext cx="9500000" cy="700000"/>
          </a:xfrm>
          <a:prstGeom prst="rect">
            <a:avLst/>
          </a:prstGeom>
          <a:noFill/>
          <a:ln>
            <a:solidFill>
              <a:srgbClr val="3F59FF"/>
            </a:solidFill>
          </a:ln>
        </p:spPr>
        <p:txBody>
          <a:bodyPr wrap="square" lIns="91440" anchor="ctr"/>
          <a:lstStyle/>
          <a:p>
            <a:pPr>
              <a:spcAft>
                <a:spcPts val="200"/>
              </a:spcAft>
            </a:pPr>
            <a:r>
              <a:rPr lang="de-DE" sz="2200" b="1" dirty="0">
                <a:solidFill>
                  <a:srgbClr val="212B80"/>
                </a:solidFill>
                <a:latin typeface="Open Sans"/>
              </a:rPr>
              <a:t>Hiring</a:t>
            </a:r>
          </a:p>
          <a:p>
            <a:r>
              <a:rPr lang="de-DE" sz="1800" dirty="0">
                <a:solidFill>
                  <a:srgbClr val="666666"/>
                </a:solidFill>
                <a:latin typeface="Open Sans"/>
              </a:rPr>
              <a:t>Problemlöser suchen, nicht nur Programmierer</a:t>
            </a:r>
          </a:p>
        </p:txBody>
      </p:sp>
      <p:sp>
        <p:nvSpPr>
          <p:cNvPr id="91" name="Item91"/>
          <p:cNvSpPr/>
          <p:nvPr/>
        </p:nvSpPr>
        <p:spPr>
          <a:xfrm>
            <a:off x="2000000" y="2857500"/>
            <a:ext cx="9500000" cy="700000"/>
          </a:xfrm>
          <a:prstGeom prst="rect">
            <a:avLst/>
          </a:prstGeom>
          <a:noFill/>
          <a:ln>
            <a:solidFill>
              <a:srgbClr val="3F59FF"/>
            </a:solidFill>
          </a:ln>
        </p:spPr>
        <p:txBody>
          <a:bodyPr wrap="square" lIns="91440" anchor="ctr"/>
          <a:lstStyle/>
          <a:p>
            <a:pPr>
              <a:spcAft>
                <a:spcPts val="200"/>
              </a:spcAft>
            </a:pPr>
            <a:r>
              <a:rPr lang="de-DE" sz="2200" b="1" dirty="0">
                <a:solidFill>
                  <a:srgbClr val="212B80"/>
                </a:solidFill>
                <a:latin typeface="Open Sans"/>
              </a:rPr>
              <a:t>Training</a:t>
            </a:r>
          </a:p>
          <a:p>
            <a:r>
              <a:rPr lang="de-DE" sz="1800" dirty="0">
                <a:solidFill>
                  <a:srgbClr val="666666"/>
                </a:solidFill>
                <a:latin typeface="Open Sans"/>
              </a:rPr>
              <a:t>Prompt Engineering als Pflicht-Skill</a:t>
            </a:r>
          </a:p>
        </p:txBody>
      </p:sp>
      <p:sp>
        <p:nvSpPr>
          <p:cNvPr id="92" name="Item92"/>
          <p:cNvSpPr/>
          <p:nvPr/>
        </p:nvSpPr>
        <p:spPr>
          <a:xfrm>
            <a:off x="2000000" y="4000500"/>
            <a:ext cx="9500000" cy="700000"/>
          </a:xfrm>
          <a:prstGeom prst="rect">
            <a:avLst/>
          </a:prstGeom>
          <a:noFill/>
          <a:ln>
            <a:solidFill>
              <a:srgbClr val="3F59FF"/>
            </a:solidFill>
          </a:ln>
        </p:spPr>
        <p:txBody>
          <a:bodyPr wrap="square" lIns="91440" anchor="ctr"/>
          <a:lstStyle/>
          <a:p>
            <a:pPr>
              <a:spcAft>
                <a:spcPts val="200"/>
              </a:spcAft>
            </a:pPr>
            <a:r>
              <a:rPr lang="de-DE" sz="2200" b="1" dirty="0">
                <a:solidFill>
                  <a:srgbClr val="212B80"/>
                </a:solidFill>
                <a:latin typeface="Open Sans"/>
              </a:rPr>
              <a:t>Reviews</a:t>
            </a:r>
          </a:p>
          <a:p>
            <a:r>
              <a:rPr lang="de-DE" sz="1800" dirty="0">
                <a:solidFill>
                  <a:srgbClr val="666666"/>
                </a:solidFill>
                <a:latin typeface="Open Sans"/>
              </a:rPr>
              <a:t>Lösungs-Qualität statt nur Code-Qualität</a:t>
            </a:r>
          </a:p>
        </p:txBody>
      </p:sp>
      <p:sp>
        <p:nvSpPr>
          <p:cNvPr id="93" name="Item93"/>
          <p:cNvSpPr/>
          <p:nvPr/>
        </p:nvSpPr>
        <p:spPr>
          <a:xfrm>
            <a:off x="2000000" y="5143500"/>
            <a:ext cx="9500000" cy="700000"/>
          </a:xfrm>
          <a:prstGeom prst="rect">
            <a:avLst/>
          </a:prstGeom>
          <a:noFill/>
          <a:ln>
            <a:solidFill>
              <a:srgbClr val="3F59FF"/>
            </a:solidFill>
          </a:ln>
        </p:spPr>
        <p:txBody>
          <a:bodyPr wrap="square" lIns="91440" anchor="ctr"/>
          <a:lstStyle/>
          <a:p>
            <a:pPr>
              <a:spcAft>
                <a:spcPts val="200"/>
              </a:spcAft>
            </a:pPr>
            <a:r>
              <a:rPr lang="de-DE" sz="2200" b="1" dirty="0">
                <a:solidFill>
                  <a:srgbClr val="212B80"/>
                </a:solidFill>
                <a:latin typeface="Open Sans"/>
              </a:rPr>
              <a:t>Kultur</a:t>
            </a:r>
          </a:p>
          <a:p>
            <a:r>
              <a:rPr lang="de-DE" sz="1800" dirty="0">
                <a:solidFill>
                  <a:srgbClr val="666666"/>
                </a:solidFill>
                <a:latin typeface="Open Sans"/>
              </a:rPr>
              <a:t>Safe-to-Fail-Umgebung für KI-Experimente</a:t>
            </a:r>
          </a:p>
        </p:txBody>
      </p:sp>
    </p:spTree>
    <p:extLst>
      <p:ext uri="{BB962C8B-B14F-4D97-AF65-F5344CB8AC3E}">
        <p14:creationId xmlns:p14="http://schemas.microsoft.com/office/powerpoint/2010/main" val="2747450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6E98A0-18DA-6DD9-6830-E5F15408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Vibe Coding — Was ist das?</a:t>
            </a:r>
          </a:p>
        </p:txBody>
      </p:sp>
      <p:sp>
        <p:nvSpPr>
          <p:cNvPr id="100" name="Circle0"/>
          <p:cNvSpPr/>
          <p:nvPr/>
        </p:nvSpPr>
        <p:spPr>
          <a:xfrm>
            <a:off x="10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01" name="Label0"/>
          <p:cNvSpPr/>
          <p:nvPr/>
        </p:nvSpPr>
        <p:spPr>
          <a:xfrm>
            <a:off x="4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Idee
beschreiben</a:t>
            </a:r>
          </a:p>
        </p:txBody>
      </p:sp>
      <p:sp>
        <p:nvSpPr>
          <p:cNvPr id="120" name="Arrow0"/>
          <p:cNvSpPr/>
          <p:nvPr/>
        </p:nvSpPr>
        <p:spPr>
          <a:xfrm>
            <a:off x="2200000" y="2150000"/>
            <a:ext cx="350000" cy="300000"/>
          </a:xfrm>
          <a:prstGeom prst="rightArrow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2" name="Circle1"/>
          <p:cNvSpPr/>
          <p:nvPr/>
        </p:nvSpPr>
        <p:spPr>
          <a:xfrm>
            <a:off x="33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03" name="Label1"/>
          <p:cNvSpPr/>
          <p:nvPr/>
        </p:nvSpPr>
        <p:spPr>
          <a:xfrm>
            <a:off x="27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KI plant
Architektur</a:t>
            </a:r>
          </a:p>
        </p:txBody>
      </p:sp>
      <p:sp>
        <p:nvSpPr>
          <p:cNvPr id="121" name="Arrow1"/>
          <p:cNvSpPr/>
          <p:nvPr/>
        </p:nvSpPr>
        <p:spPr>
          <a:xfrm>
            <a:off x="4500000" y="2150000"/>
            <a:ext cx="350000" cy="300000"/>
          </a:xfrm>
          <a:prstGeom prst="rightArrow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4" name="Circle2"/>
          <p:cNvSpPr/>
          <p:nvPr/>
        </p:nvSpPr>
        <p:spPr>
          <a:xfrm>
            <a:off x="56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05" name="Label2"/>
          <p:cNvSpPr/>
          <p:nvPr/>
        </p:nvSpPr>
        <p:spPr>
          <a:xfrm>
            <a:off x="50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KI
implementiert</a:t>
            </a:r>
          </a:p>
        </p:txBody>
      </p:sp>
      <p:sp>
        <p:nvSpPr>
          <p:cNvPr id="122" name="Arrow2"/>
          <p:cNvSpPr/>
          <p:nvPr/>
        </p:nvSpPr>
        <p:spPr>
          <a:xfrm>
            <a:off x="6800000" y="2150000"/>
            <a:ext cx="350000" cy="300000"/>
          </a:xfrm>
          <a:prstGeom prst="rightArrow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6" name="Circle3"/>
          <p:cNvSpPr/>
          <p:nvPr/>
        </p:nvSpPr>
        <p:spPr>
          <a:xfrm>
            <a:off x="79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107" name="Label3"/>
          <p:cNvSpPr/>
          <p:nvPr/>
        </p:nvSpPr>
        <p:spPr>
          <a:xfrm>
            <a:off x="73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Du
verifizierst</a:t>
            </a:r>
          </a:p>
        </p:txBody>
      </p:sp>
      <p:sp>
        <p:nvSpPr>
          <p:cNvPr id="123" name="Arrow3"/>
          <p:cNvSpPr/>
          <p:nvPr/>
        </p:nvSpPr>
        <p:spPr>
          <a:xfrm>
            <a:off x="9100000" y="2150000"/>
            <a:ext cx="350000" cy="300000"/>
          </a:xfrm>
          <a:prstGeom prst="rightArrow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8" name="Circle4"/>
          <p:cNvSpPr/>
          <p:nvPr/>
        </p:nvSpPr>
        <p:spPr>
          <a:xfrm>
            <a:off x="102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109" name="Label4"/>
          <p:cNvSpPr/>
          <p:nvPr/>
        </p:nvSpPr>
        <p:spPr>
          <a:xfrm>
            <a:off x="96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KI
iteriert</a:t>
            </a:r>
          </a:p>
        </p:txBody>
      </p:sp>
      <p:sp>
        <p:nvSpPr>
          <p:cNvPr id="130" name="KeyMsg"/>
          <p:cNvSpPr/>
          <p:nvPr/>
        </p:nvSpPr>
        <p:spPr>
          <a:xfrm>
            <a:off x="1500000" y="4800000"/>
            <a:ext cx="9000000" cy="600000"/>
          </a:xfrm>
          <a:prstGeom prst="roundRect">
            <a:avLst/>
          </a:prstGeom>
          <a:solidFill>
            <a:srgbClr val="212B80"/>
          </a:solidFill>
          <a:ln>
            <a:noFill/>
          </a:ln>
        </p:spPr>
        <p:txBody>
          <a:bodyPr lIns="91440" rIns="91440" anchor="ctr"/>
          <a:lstStyle/>
          <a:p>
            <a:pPr algn="ctr"/>
            <a:r>
              <a:rPr lang="de-DE" sz="2000" b="1" dirty="0">
                <a:solidFill>
                  <a:srgbClr val="FFFFFF"/>
                </a:solidFill>
                <a:latin typeface="Open Sans"/>
              </a:rPr>
              <a:t>Du bist Architekt und Verifikator, KI ist Umsetzer.</a:t>
            </a:r>
          </a:p>
        </p:txBody>
      </p:sp>
    </p:spTree>
    <p:extLst>
      <p:ext uri="{BB962C8B-B14F-4D97-AF65-F5344CB8AC3E}">
        <p14:creationId xmlns:p14="http://schemas.microsoft.com/office/powerpoint/2010/main" val="3473962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D8361-5381-F412-EA48-5B815292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Vibe Coding — Der Unterschied</a:t>
            </a:r>
          </a:p>
        </p:txBody>
      </p:sp>
      <p:sp>
        <p:nvSpPr>
          <p:cNvPr id="140" name="VageH"/>
          <p:cNvSpPr/>
          <p:nvPr/>
        </p:nvSpPr>
        <p:spPr>
          <a:xfrm>
            <a:off x="400000" y="1500000"/>
            <a:ext cx="5300000" cy="5000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txBody>
          <a:bodyPr lIns="91440" anchor="ctr"/>
          <a:lstStyle/>
          <a:p>
            <a:pPr algn="ctr"/>
            <a:r>
              <a:rPr lang="de-DE" sz="2200" b="1" dirty="0">
                <a:solidFill>
                  <a:srgbClr val="C53030"/>
                </a:solidFill>
                <a:latin typeface="Open Sans"/>
              </a:rPr>
              <a:t>VAGE</a:t>
            </a:r>
          </a:p>
        </p:txBody>
      </p:sp>
      <p:sp>
        <p:nvSpPr>
          <p:cNvPr id="141" name="VageC"/>
          <p:cNvSpPr/>
          <p:nvPr/>
        </p:nvSpPr>
        <p:spPr>
          <a:xfrm>
            <a:off x="400000" y="2100000"/>
            <a:ext cx="5300000" cy="28000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>
            <a:noFill/>
          </a:ln>
        </p:spPr>
        <p:txBody>
          <a:bodyPr wrap="square" lIns="137160" tIns="137160" rIns="91440" anchor="t"/>
          <a:lstStyle/>
          <a:p>
            <a:pPr>
              <a:spcAft>
                <a:spcPts val="800"/>
              </a:spcAft>
            </a:pPr>
            <a:r>
              <a:rPr lang="de-DE" sz="1600" dirty="0">
                <a:solidFill>
                  <a:srgbClr val="A0AEC0"/>
                </a:solidFill>
                <a:latin typeface="Consolas"/>
              </a:rPr>
              <a:t>"Baue eine Login-Funktion"</a:t>
            </a:r>
          </a:p>
          <a:p>
            <a:pPr>
              <a:spcBef>
                <a:spcPts val="600"/>
              </a:spcBef>
            </a:pPr>
            <a:r>
              <a:rPr lang="de-DE" sz="1600" dirty="0">
                <a:solidFill>
                  <a:srgbClr val="FC8181"/>
                </a:solidFill>
                <a:latin typeface="Open Sans"/>
              </a:rPr>
              <a:t>→ KI fragt 5x nach</a:t>
            </a:r>
          </a:p>
          <a:p>
            <a:r>
              <a:rPr lang="de-DE" sz="1600" dirty="0">
                <a:solidFill>
                  <a:srgbClr val="FC8181"/>
                </a:solidFill>
                <a:latin typeface="Open Sans"/>
              </a:rPr>
              <a:t>→ stoppt</a:t>
            </a:r>
          </a:p>
          <a:p>
            <a:r>
              <a:rPr lang="de-DE" sz="1600" dirty="0">
                <a:solidFill>
                  <a:srgbClr val="FC8181"/>
                </a:solidFill>
                <a:latin typeface="Open Sans"/>
              </a:rPr>
              <a:t>→ rät Details</a:t>
            </a:r>
          </a:p>
        </p:txBody>
      </p:sp>
      <p:sp>
        <p:nvSpPr>
          <p:cNvPr id="142" name="KonkretH"/>
          <p:cNvSpPr/>
          <p:nvPr/>
        </p:nvSpPr>
        <p:spPr>
          <a:xfrm>
            <a:off x="6300000" y="1500000"/>
            <a:ext cx="5300000" cy="5000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>
            <a:noFill/>
          </a:ln>
        </p:spPr>
        <p:txBody>
          <a:bodyPr lIns="91440" anchor="ctr"/>
          <a:lstStyle/>
          <a:p>
            <a:pPr algn="ctr"/>
            <a:r>
              <a:rPr lang="de-DE" sz="2200" b="1" dirty="0">
                <a:solidFill>
                  <a:srgbClr val="276749"/>
                </a:solidFill>
                <a:latin typeface="Open Sans"/>
              </a:rPr>
              <a:t>KONKRET</a:t>
            </a:r>
          </a:p>
        </p:txBody>
      </p:sp>
      <p:sp>
        <p:nvSpPr>
          <p:cNvPr id="143" name="KonkretC"/>
          <p:cNvSpPr/>
          <p:nvPr/>
        </p:nvSpPr>
        <p:spPr>
          <a:xfrm>
            <a:off x="6300000" y="2100000"/>
            <a:ext cx="5300000" cy="28000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>
            <a:noFill/>
          </a:ln>
        </p:spPr>
        <p:txBody>
          <a:bodyPr wrap="square" lIns="137160" tIns="137160" r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68D391"/>
                </a:solidFill>
                <a:latin typeface="Consolas"/>
              </a:rPr>
              <a:t>POST /api/v1/auth/login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A0AEC0"/>
                </a:solidFill>
                <a:latin typeface="Consolas"/>
              </a:rPr>
              <a:t>Body: { email, password }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A0AEC0"/>
                </a:solidFill>
                <a:latin typeface="Consolas"/>
              </a:rPr>
              <a:t>Response: { token, expiresIn }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A0AEC0"/>
                </a:solidFill>
                <a:latin typeface="Consolas"/>
              </a:rPr>
              <a:t>Fehler: 401 Unauthorized</a:t>
            </a:r>
          </a:p>
          <a:p>
            <a:pPr>
              <a:spcBef>
                <a:spcPts val="600"/>
              </a:spcBef>
            </a:pPr>
            <a:r>
              <a:rPr lang="de-DE" sz="1600" dirty="0">
                <a:solidFill>
                  <a:srgbClr val="68D391"/>
                </a:solidFill>
                <a:latin typeface="Open Sans"/>
              </a:rPr>
              <a:t>→ KI baut durch ohne Rückfrage</a:t>
            </a:r>
          </a:p>
        </p:txBody>
      </p:sp>
      <p:sp>
        <p:nvSpPr>
          <p:cNvPr id="144" name="VS"/>
          <p:cNvSpPr/>
          <p:nvPr/>
        </p:nvSpPr>
        <p:spPr>
          <a:xfrm>
            <a:off x="5500000" y="2800000"/>
            <a:ext cx="1000000" cy="60000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2400" b="1" dirty="0">
                <a:solidFill>
                  <a:srgbClr val="3F59FF"/>
                </a:solidFill>
                <a:latin typeface="Open Sans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797717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07C926-EFCD-85BE-EE91-027FEB5F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KERNEL-Framework — Übersicht</a:t>
            </a:r>
          </a:p>
        </p:txBody>
      </p:sp>
      <p:sp>
        <p:nvSpPr>
          <p:cNvPr id="150" name="Letter0"/>
          <p:cNvSpPr/>
          <p:nvPr/>
        </p:nvSpPr>
        <p:spPr>
          <a:xfrm>
            <a:off x="30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K</a:t>
            </a:r>
          </a:p>
        </p:txBody>
      </p:sp>
      <p:sp>
        <p:nvSpPr>
          <p:cNvPr id="151" name="Desc0"/>
          <p:cNvSpPr/>
          <p:nvPr/>
        </p:nvSpPr>
        <p:spPr>
          <a:xfrm>
            <a:off x="30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Keep it simple</a:t>
            </a:r>
          </a:p>
        </p:txBody>
      </p:sp>
      <p:sp>
        <p:nvSpPr>
          <p:cNvPr id="152" name="Letter1"/>
          <p:cNvSpPr/>
          <p:nvPr/>
        </p:nvSpPr>
        <p:spPr>
          <a:xfrm>
            <a:off x="225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E</a:t>
            </a:r>
          </a:p>
        </p:txBody>
      </p:sp>
      <p:sp>
        <p:nvSpPr>
          <p:cNvPr id="153" name="Desc1"/>
          <p:cNvSpPr/>
          <p:nvPr/>
        </p:nvSpPr>
        <p:spPr>
          <a:xfrm>
            <a:off x="225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Explicit constraints</a:t>
            </a:r>
          </a:p>
        </p:txBody>
      </p:sp>
      <p:sp>
        <p:nvSpPr>
          <p:cNvPr id="154" name="Letter2"/>
          <p:cNvSpPr/>
          <p:nvPr/>
        </p:nvSpPr>
        <p:spPr>
          <a:xfrm>
            <a:off x="420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R</a:t>
            </a:r>
          </a:p>
        </p:txBody>
      </p:sp>
      <p:sp>
        <p:nvSpPr>
          <p:cNvPr id="155" name="Desc2"/>
          <p:cNvSpPr/>
          <p:nvPr/>
        </p:nvSpPr>
        <p:spPr>
          <a:xfrm>
            <a:off x="420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Reproducible results</a:t>
            </a:r>
          </a:p>
        </p:txBody>
      </p:sp>
      <p:sp>
        <p:nvSpPr>
          <p:cNvPr id="156" name="Letter3"/>
          <p:cNvSpPr/>
          <p:nvPr/>
        </p:nvSpPr>
        <p:spPr>
          <a:xfrm>
            <a:off x="615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N</a:t>
            </a:r>
          </a:p>
        </p:txBody>
      </p:sp>
      <p:sp>
        <p:nvSpPr>
          <p:cNvPr id="157" name="Desc3"/>
          <p:cNvSpPr/>
          <p:nvPr/>
        </p:nvSpPr>
        <p:spPr>
          <a:xfrm>
            <a:off x="615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Narrow scope</a:t>
            </a:r>
          </a:p>
        </p:txBody>
      </p:sp>
      <p:sp>
        <p:nvSpPr>
          <p:cNvPr id="158" name="Letter4"/>
          <p:cNvSpPr/>
          <p:nvPr/>
        </p:nvSpPr>
        <p:spPr>
          <a:xfrm>
            <a:off x="810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E</a:t>
            </a:r>
          </a:p>
        </p:txBody>
      </p:sp>
      <p:sp>
        <p:nvSpPr>
          <p:cNvPr id="159" name="Desc4"/>
          <p:cNvSpPr/>
          <p:nvPr/>
        </p:nvSpPr>
        <p:spPr>
          <a:xfrm>
            <a:off x="810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Easy to verify</a:t>
            </a:r>
          </a:p>
        </p:txBody>
      </p:sp>
      <p:sp>
        <p:nvSpPr>
          <p:cNvPr id="160" name="Letter5"/>
          <p:cNvSpPr/>
          <p:nvPr/>
        </p:nvSpPr>
        <p:spPr>
          <a:xfrm>
            <a:off x="1005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L</a:t>
            </a:r>
          </a:p>
        </p:txBody>
      </p:sp>
      <p:sp>
        <p:nvSpPr>
          <p:cNvPr id="161" name="Desc5"/>
          <p:cNvSpPr/>
          <p:nvPr/>
        </p:nvSpPr>
        <p:spPr>
          <a:xfrm>
            <a:off x="1005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Logical structure</a:t>
            </a:r>
          </a:p>
        </p:txBody>
      </p:sp>
      <p:sp>
        <p:nvSpPr>
          <p:cNvPr id="170" name="Sub"/>
          <p:cNvSpPr/>
          <p:nvPr/>
        </p:nvSpPr>
        <p:spPr>
          <a:xfrm>
            <a:off x="1000000" y="480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de-DE" sz="1800" i="1" dirty="0">
                <a:solidFill>
                  <a:srgbClr val="666666"/>
                </a:solidFill>
                <a:latin typeface="Open Sans"/>
              </a:rPr>
              <a:t>6 Prinzipien für Prompts die beim ersten Versuch funktionieren</a:t>
            </a:r>
          </a:p>
        </p:txBody>
      </p:sp>
    </p:spTree>
    <p:extLst>
      <p:ext uri="{BB962C8B-B14F-4D97-AF65-F5344CB8AC3E}">
        <p14:creationId xmlns:p14="http://schemas.microsoft.com/office/powerpoint/2010/main" val="432401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DC2E5-A38A-B229-7FAB-748FCA7A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K — Keep it simple</a:t>
            </a:r>
          </a:p>
        </p:txBody>
      </p:sp>
      <p:sp>
        <p:nvSpPr>
          <p:cNvPr id="18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212B80"/>
                </a:solidFill>
                <a:latin typeface="Open Sans"/>
              </a:rPr>
              <a:t>Regel: "Ein Prompt = ein Ziel"</a:t>
            </a:r>
          </a:p>
        </p:txBody>
      </p:sp>
      <p:sp>
        <p:nvSpPr>
          <p:cNvPr id="181" name="Bad"/>
          <p:cNvSpPr/>
          <p:nvPr/>
        </p:nvSpPr>
        <p:spPr>
          <a:xfrm>
            <a:off x="600000" y="2400000"/>
            <a:ext cx="10800000" cy="1200000"/>
          </a:xfrm>
          <a:prstGeom prst="roundRect">
            <a:avLst>
              <a:gd name="adj" fmla="val 5000"/>
            </a:avLst>
          </a:prstGeom>
          <a:solidFill>
            <a:srgbClr val="FED7D7"/>
          </a:solidFill>
          <a:ln>
            <a:solidFill>
              <a:srgbClr val="FF6B6B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C53030"/>
                </a:solidFill>
                <a:latin typeface="Open Sans"/>
              </a:rPr>
              <a:t>Schlecht:</a:t>
            </a:r>
          </a:p>
          <a:p>
            <a:r>
              <a:rPr lang="de-DE" sz="1600" dirty="0">
                <a:solidFill>
                  <a:srgbClr val="212121"/>
                </a:solidFill>
                <a:latin typeface="Consolas"/>
              </a:rPr>
              <a:t>"Erstelle User-API mit Login, Registrierung, Passwort-Reset und Tests"</a:t>
            </a:r>
          </a:p>
        </p:txBody>
      </p:sp>
      <p:sp>
        <p:nvSpPr>
          <p:cNvPr id="182" name="Good"/>
          <p:cNvSpPr/>
          <p:nvPr/>
        </p:nvSpPr>
        <p:spPr>
          <a:xfrm>
            <a:off x="600000" y="3900000"/>
            <a:ext cx="10800000" cy="1200000"/>
          </a:xfrm>
          <a:prstGeom prst="roundRect">
            <a:avLst>
              <a:gd name="adj" fmla="val 5000"/>
            </a:avLst>
          </a:prstGeom>
          <a:solidFill>
            <a:srgbClr val="C6F6D5"/>
          </a:solidFill>
          <a:ln>
            <a:solidFill>
              <a:srgbClr val="34D399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276749"/>
                </a:solidFill>
                <a:latin typeface="Open Sans"/>
              </a:rPr>
              <a:t>Gut:</a:t>
            </a:r>
          </a:p>
          <a:p>
            <a:r>
              <a:rPr lang="de-DE" sz="1600" dirty="0">
                <a:solidFill>
                  <a:srgbClr val="212121"/>
                </a:solidFill>
                <a:latin typeface="Consolas"/>
              </a:rPr>
              <a:t>"Erstelle POST /api/users Endpoint für User-Registrierung"</a:t>
            </a:r>
          </a:p>
        </p:txBody>
      </p:sp>
    </p:spTree>
    <p:extLst>
      <p:ext uri="{BB962C8B-B14F-4D97-AF65-F5344CB8AC3E}">
        <p14:creationId xmlns:p14="http://schemas.microsoft.com/office/powerpoint/2010/main" val="481738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A3C9BD-18A8-EE95-6A41-4E85967F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E — Explicit constraints</a:t>
            </a:r>
          </a:p>
        </p:txBody>
      </p:sp>
      <p:sp>
        <p:nvSpPr>
          <p:cNvPr id="19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212B80"/>
                </a:solidFill>
                <a:latin typeface="Open Sans"/>
              </a:rPr>
              <a:t>Regel: "Sag der KI was sie NICHT tun soll"</a:t>
            </a:r>
          </a:p>
        </p:txBody>
      </p:sp>
      <p:sp>
        <p:nvSpPr>
          <p:cNvPr id="191" name="Example"/>
          <p:cNvSpPr/>
          <p:nvPr/>
        </p:nvSpPr>
        <p:spPr>
          <a:xfrm>
            <a:off x="600000" y="2500000"/>
            <a:ext cx="10800000" cy="26000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>
            <a:noFill/>
          </a:ln>
        </p:spPr>
        <p:txBody>
          <a:bodyPr wrap="square" lIns="182880" tIns="137160" anchor="t"/>
          <a:lstStyle/>
          <a:p>
            <a:pPr>
              <a:spcAft>
                <a:spcPts val="600"/>
              </a:spcAft>
            </a:pPr>
            <a:r>
              <a:rPr lang="de-DE" sz="1600" b="1" dirty="0">
                <a:solidFill>
                  <a:srgbClr val="FFD440"/>
                </a:solidFill>
                <a:latin typeface="Open Sans"/>
              </a:rPr>
              <a:t>Beispiel:</a:t>
            </a:r>
          </a:p>
          <a:p>
            <a:pPr>
              <a:spcAft>
                <a:spcPts val="600"/>
              </a:spcAft>
            </a:pPr>
            <a:r>
              <a:rPr lang="de-DE" sz="1800" dirty="0">
                <a:solidFill>
                  <a:srgbClr val="68D391"/>
                </a:solidFill>
                <a:latin typeface="Consolas"/>
              </a:rPr>
              <a:t>Java Spring Boot.</a:t>
            </a:r>
          </a:p>
          <a:p>
            <a:pPr>
              <a:spcAft>
                <a:spcPts val="600"/>
              </a:spcAft>
            </a:pPr>
            <a:r>
              <a:rPr lang="de-DE" sz="1800" dirty="0">
                <a:solidFill>
                  <a:srgbClr val="FC8181"/>
                </a:solidFill>
                <a:latin typeface="Consolas"/>
              </a:rPr>
              <a:t>Keine externe Auth-Library.</a:t>
            </a:r>
          </a:p>
          <a:p>
            <a:r>
              <a:rPr lang="de-DE" sz="1800" dirty="0">
                <a:solidFill>
                  <a:srgbClr val="FC8181"/>
                </a:solidFill>
                <a:latin typeface="Consolas"/>
              </a:rPr>
              <a:t>Keine Methoden über 30 Zeilen.</a:t>
            </a:r>
          </a:p>
        </p:txBody>
      </p:sp>
    </p:spTree>
    <p:extLst>
      <p:ext uri="{BB962C8B-B14F-4D97-AF65-F5344CB8AC3E}">
        <p14:creationId xmlns:p14="http://schemas.microsoft.com/office/powerpoint/2010/main" val="237856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BDC9E-C3CF-D3F7-7EB0-CDF3EFB3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R — Reproducible results</a:t>
            </a:r>
          </a:p>
        </p:txBody>
      </p:sp>
      <p:sp>
        <p:nvSpPr>
          <p:cNvPr id="20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212B80"/>
                </a:solidFill>
                <a:latin typeface="Open Sans"/>
              </a:rPr>
              <a:t>Regel: "Keine vagen Referenzen — konkrete Versionen"</a:t>
            </a:r>
          </a:p>
        </p:txBody>
      </p:sp>
      <p:sp>
        <p:nvSpPr>
          <p:cNvPr id="201" name="Bad"/>
          <p:cNvSpPr/>
          <p:nvPr/>
        </p:nvSpPr>
        <p:spPr>
          <a:xfrm>
            <a:off x="600000" y="2400000"/>
            <a:ext cx="10800000" cy="1100000"/>
          </a:xfrm>
          <a:prstGeom prst="roundRect">
            <a:avLst>
              <a:gd name="adj" fmla="val 5000"/>
            </a:avLst>
          </a:prstGeom>
          <a:solidFill>
            <a:srgbClr val="FED7D7"/>
          </a:solidFill>
          <a:ln>
            <a:solidFill>
              <a:srgbClr val="FF6B6B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C53030"/>
                </a:solidFill>
                <a:latin typeface="Open Sans"/>
              </a:rPr>
              <a:t>Schlecht:</a:t>
            </a:r>
          </a:p>
          <a:p>
            <a:r>
              <a:rPr lang="de-DE" sz="1600" dirty="0">
                <a:solidFill>
                  <a:srgbClr val="212121"/>
                </a:solidFill>
                <a:latin typeface="Consolas"/>
              </a:rPr>
              <a:t>"Nutze aktuelle Best Practices"</a:t>
            </a:r>
          </a:p>
        </p:txBody>
      </p:sp>
      <p:sp>
        <p:nvSpPr>
          <p:cNvPr id="202" name="Good"/>
          <p:cNvSpPr/>
          <p:nvPr/>
        </p:nvSpPr>
        <p:spPr>
          <a:xfrm>
            <a:off x="600000" y="3800000"/>
            <a:ext cx="10800000" cy="1400000"/>
          </a:xfrm>
          <a:prstGeom prst="roundRect">
            <a:avLst>
              <a:gd name="adj" fmla="val 5000"/>
            </a:avLst>
          </a:prstGeom>
          <a:solidFill>
            <a:srgbClr val="C6F6D5"/>
          </a:solidFill>
          <a:ln>
            <a:solidFill>
              <a:srgbClr val="34D399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276749"/>
                </a:solidFill>
                <a:latin typeface="Open Sans"/>
              </a:rPr>
              <a:t>Gut:</a:t>
            </a:r>
          </a:p>
          <a:p>
            <a:r>
              <a:rPr lang="de-DE" sz="1600" dirty="0">
                <a:solidFill>
                  <a:srgbClr val="212121"/>
                </a:solidFill>
                <a:latin typeface="Consolas"/>
              </a:rPr>
              <a:t>"Java 17, Spring Boot 3.2, JPA/Hibernate, PostgreSQL 15"</a:t>
            </a:r>
          </a:p>
        </p:txBody>
      </p:sp>
    </p:spTree>
    <p:extLst>
      <p:ext uri="{BB962C8B-B14F-4D97-AF65-F5344CB8AC3E}">
        <p14:creationId xmlns:p14="http://schemas.microsoft.com/office/powerpoint/2010/main" val="3465692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6E610-0475-2061-92B8-203AF0FD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N — Narrow scope</a:t>
            </a:r>
          </a:p>
        </p:txBody>
      </p:sp>
      <p:sp>
        <p:nvSpPr>
          <p:cNvPr id="21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212B80"/>
                </a:solidFill>
                <a:latin typeface="Open Sans"/>
              </a:rPr>
              <a:t>Regel: "Ein Prompt, ein Ziel"</a:t>
            </a:r>
          </a:p>
        </p:txBody>
      </p:sp>
      <p:sp>
        <p:nvSpPr>
          <p:cNvPr id="211" name="Bad"/>
          <p:cNvSpPr/>
          <p:nvPr/>
        </p:nvSpPr>
        <p:spPr>
          <a:xfrm>
            <a:off x="600000" y="2400000"/>
            <a:ext cx="10800000" cy="1100000"/>
          </a:xfrm>
          <a:prstGeom prst="roundRect">
            <a:avLst>
              <a:gd name="adj" fmla="val 5000"/>
            </a:avLst>
          </a:prstGeom>
          <a:solidFill>
            <a:srgbClr val="FED7D7"/>
          </a:solidFill>
          <a:ln>
            <a:solidFill>
              <a:srgbClr val="FF6B6B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C53030"/>
                </a:solidFill>
                <a:latin typeface="Open Sans"/>
              </a:rPr>
              <a:t>Schlecht:</a:t>
            </a:r>
          </a:p>
          <a:p>
            <a:r>
              <a:rPr lang="de-DE" sz="1600" dirty="0">
                <a:solidFill>
                  <a:srgbClr val="212121"/>
                </a:solidFill>
                <a:latin typeface="Open Sans"/>
              </a:rPr>
              <a:t>Code + Tests + Dokumentation in einem Prompt</a:t>
            </a:r>
          </a:p>
        </p:txBody>
      </p:sp>
      <p:sp>
        <p:nvSpPr>
          <p:cNvPr id="212" name="Good"/>
          <p:cNvSpPr/>
          <p:nvPr/>
        </p:nvSpPr>
        <p:spPr>
          <a:xfrm>
            <a:off x="600000" y="3800000"/>
            <a:ext cx="10800000" cy="1400000"/>
          </a:xfrm>
          <a:prstGeom prst="roundRect">
            <a:avLst>
              <a:gd name="adj" fmla="val 5000"/>
            </a:avLst>
          </a:prstGeom>
          <a:solidFill>
            <a:srgbClr val="C6F6D5"/>
          </a:solidFill>
          <a:ln>
            <a:solidFill>
              <a:srgbClr val="34D399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276749"/>
                </a:solidFill>
                <a:latin typeface="Open Sans"/>
              </a:rPr>
              <a:t>Gut: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212121"/>
                </a:solidFill>
                <a:latin typeface="Open Sans"/>
              </a:rPr>
              <a:t>Prompt 1: Code implementieren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212121"/>
                </a:solidFill>
                <a:latin typeface="Open Sans"/>
              </a:rPr>
              <a:t>Prompt 2: Tests schreiben (separater Prompt)</a:t>
            </a:r>
          </a:p>
          <a:p>
            <a:r>
              <a:rPr lang="de-DE" sz="1600" dirty="0">
                <a:solidFill>
                  <a:srgbClr val="212121"/>
                </a:solidFill>
                <a:latin typeface="Open Sans"/>
              </a:rPr>
              <a:t>Prompt 3: Dokumentation erstellen</a:t>
            </a:r>
          </a:p>
        </p:txBody>
      </p:sp>
    </p:spTree>
    <p:extLst>
      <p:ext uri="{BB962C8B-B14F-4D97-AF65-F5344CB8AC3E}">
        <p14:creationId xmlns:p14="http://schemas.microsoft.com/office/powerpoint/2010/main" val="2076190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4669-4445-8A8B-7BA6-0664ED7C4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E — Easy to verify</a:t>
            </a:r>
          </a:p>
        </p:txBody>
      </p:sp>
      <p:sp>
        <p:nvSpPr>
          <p:cNvPr id="22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212B80"/>
                </a:solidFill>
                <a:latin typeface="Open Sans"/>
              </a:rPr>
              <a:t>Regel: "Klare Erfolgskriterien definieren"</a:t>
            </a:r>
          </a:p>
        </p:txBody>
      </p:sp>
      <p:sp>
        <p:nvSpPr>
          <p:cNvPr id="221" name="Example"/>
          <p:cNvSpPr/>
          <p:nvPr/>
        </p:nvSpPr>
        <p:spPr>
          <a:xfrm>
            <a:off x="600000" y="2500000"/>
            <a:ext cx="10800000" cy="2600000"/>
          </a:xfrm>
          <a:prstGeom prst="roundRect">
            <a:avLst>
              <a:gd name="adj" fmla="val 5000"/>
            </a:avLst>
          </a:prstGeom>
          <a:solidFill>
            <a:srgbClr val="C6F6D5"/>
          </a:solidFill>
          <a:ln>
            <a:noFill/>
          </a:ln>
        </p:spPr>
        <p:txBody>
          <a:bodyPr wrap="square" lIns="182880" tIns="137160" anchor="t"/>
          <a:lstStyle/>
          <a:p>
            <a:pPr>
              <a:spcAft>
                <a:spcPts val="600"/>
              </a:spcAft>
            </a:pPr>
            <a:r>
              <a:rPr lang="de-DE" sz="1600" b="1" dirty="0">
                <a:solidFill>
                  <a:srgbClr val="276749"/>
                </a:solidFill>
                <a:latin typeface="Open Sans"/>
              </a:rPr>
              <a:t>Beispiel:</a:t>
            </a:r>
          </a:p>
          <a:p>
            <a:pPr>
              <a:spcAft>
                <a:spcPts val="600"/>
              </a:spcAft>
            </a:pPr>
            <a:r>
              <a:rPr lang="de-DE" sz="1800" dirty="0">
                <a:solidFill>
                  <a:srgbClr val="212121"/>
                </a:solidFill>
                <a:latin typeface="Consolas"/>
              </a:rPr>
              <a:t>"Schreib einen Test:</a:t>
            </a:r>
          </a:p>
          <a:p>
            <a:pPr>
              <a:spcAft>
                <a:spcPts val="400"/>
              </a:spcAft>
            </a:pPr>
            <a:r>
              <a:rPr lang="de-DE" sz="1800" dirty="0">
                <a:solidFill>
                  <a:srgbClr val="212121"/>
                </a:solidFill>
                <a:latin typeface="Consolas"/>
              </a:rPr>
              <a:t>  POST /api/users mit gültigem Body</a:t>
            </a:r>
          </a:p>
          <a:p>
            <a:r>
              <a:rPr lang="de-DE" sz="1800" dirty="0">
                <a:solidFill>
                  <a:srgbClr val="212121"/>
                </a:solidFill>
                <a:latin typeface="Consolas"/>
              </a:rPr>
              <a:t>  → 201 Created"</a:t>
            </a:r>
          </a:p>
        </p:txBody>
      </p:sp>
    </p:spTree>
    <p:extLst>
      <p:ext uri="{BB962C8B-B14F-4D97-AF65-F5344CB8AC3E}">
        <p14:creationId xmlns:p14="http://schemas.microsoft.com/office/powerpoint/2010/main" val="526990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277C4F-0576-E2BF-68CA-AC6BBC35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>
                <a:ea typeface="Open Sans"/>
                <a:cs typeface="Open Sans"/>
              </a:rPr>
              <a:t>L — Logical structure + KERNEL-Gesamtbeispiel</a:t>
            </a:r>
          </a:p>
        </p:txBody>
      </p:sp>
      <p:sp>
        <p:nvSpPr>
          <p:cNvPr id="230" name="WoH"/>
          <p:cNvSpPr/>
          <p:nvPr/>
        </p:nvSpPr>
        <p:spPr>
          <a:xfrm>
            <a:off x="300000" y="1400000"/>
            <a:ext cx="5500000" cy="40000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txBody>
          <a:bodyPr lIns="137160" anchor="ctr"/>
          <a:lstStyle/>
          <a:p>
            <a:pPr algn="ctr"/>
            <a:r>
              <a:rPr lang="de-DE" sz="1600" b="1" dirty="0">
                <a:solidFill>
                  <a:srgbClr val="C53030"/>
                </a:solidFill>
                <a:latin typeface="Open Sans"/>
              </a:rPr>
              <a:t>OHNE KERNEL</a:t>
            </a:r>
          </a:p>
        </p:txBody>
      </p:sp>
      <p:sp>
        <p:nvSpPr>
          <p:cNvPr id="231" name="WoC"/>
          <p:cNvSpPr/>
          <p:nvPr/>
        </p:nvSpPr>
        <p:spPr>
          <a:xfrm>
            <a:off x="300000" y="1900000"/>
            <a:ext cx="5500000" cy="3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txBody>
          <a:bodyPr wrap="square" lIns="137160" tIns="91440" r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9CA3AF"/>
                </a:solidFill>
                <a:latin typeface="Open Sans"/>
              </a:rPr>
              <a:t>Prompt:</a:t>
            </a:r>
          </a:p>
          <a:p>
            <a:pPr>
              <a:spcAft>
                <a:spcPts val="600"/>
              </a:spcAft>
            </a:pPr>
            <a:r>
              <a:rPr lang="de-DE" sz="1400" dirty="0">
                <a:solidFill>
                  <a:srgbClr val="FC8181"/>
                </a:solidFill>
                <a:latin typeface="Consolas"/>
              </a:rPr>
              <a:t>"Hilf mir eine Spring-App zu bauen"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9CA3AF"/>
                </a:solidFill>
                <a:latin typeface="Open Sans"/>
              </a:rPr>
              <a:t>Ergebnis: generisches Hello-World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68D391"/>
                </a:solidFill>
                <a:latin typeface="Consolas"/>
              </a:rPr>
              <a:t>@RestController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FFFFFF"/>
                </a:solidFill>
                <a:latin typeface="Consolas"/>
              </a:rPr>
              <a:t>class HelloController {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FFFFFF"/>
                </a:solidFill>
                <a:latin typeface="Consolas"/>
              </a:rPr>
              <a:t>  @GetMapping("/")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FFFFFF"/>
                </a:solidFill>
                <a:latin typeface="Consolas"/>
              </a:rPr>
              <a:t>  String hello() {</a:t>
            </a:r>
          </a:p>
          <a:p>
            <a:r>
              <a:rPr lang="de-DE" sz="1200" dirty="0">
                <a:solidFill>
                  <a:srgbClr val="FFFFFF"/>
                </a:solidFill>
                <a:latin typeface="Consolas"/>
              </a:rPr>
              <a:t>    return "Hello World"; }</a:t>
            </a:r>
          </a:p>
        </p:txBody>
      </p:sp>
      <p:sp>
        <p:nvSpPr>
          <p:cNvPr id="232" name="MitH"/>
          <p:cNvSpPr/>
          <p:nvPr/>
        </p:nvSpPr>
        <p:spPr>
          <a:xfrm>
            <a:off x="6200000" y="1400000"/>
            <a:ext cx="5500000" cy="40000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txBody>
          <a:bodyPr lIns="137160" anchor="ctr"/>
          <a:lstStyle/>
          <a:p>
            <a:pPr algn="ctr"/>
            <a:r>
              <a:rPr lang="de-DE" sz="1600" b="1" dirty="0">
                <a:solidFill>
                  <a:srgbClr val="276749"/>
                </a:solidFill>
                <a:latin typeface="Open Sans"/>
              </a:rPr>
              <a:t>MIT KERNEL</a:t>
            </a:r>
          </a:p>
        </p:txBody>
      </p:sp>
      <p:sp>
        <p:nvSpPr>
          <p:cNvPr id="233" name="MitC"/>
          <p:cNvSpPr/>
          <p:nvPr/>
        </p:nvSpPr>
        <p:spPr>
          <a:xfrm>
            <a:off x="6200000" y="1900000"/>
            <a:ext cx="5500000" cy="3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txBody>
          <a:bodyPr wrap="square" lIns="137160" tIns="91440" rIns="91440" anchor="t"/>
          <a:lstStyle/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9CA3AF"/>
                </a:solidFill>
                <a:latin typeface="Open Sans"/>
              </a:rPr>
              <a:t>Context/Task/Constraints/Format →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68D391"/>
                </a:solidFill>
                <a:latin typeface="Consolas"/>
              </a:rPr>
              <a:t>@RestController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class UserController {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  private final UserService svc;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68D391"/>
                </a:solidFill>
                <a:latin typeface="Consolas"/>
              </a:rPr>
              <a:t>  @PostMapping("/api/users")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  ResponseEntity&lt;UserDTO&gt; create(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    @Valid @RequestBody req) {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    var user = svc.register(req);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    // BCrypt, Interface-Pattern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    return ResponseEntity</a:t>
            </a:r>
          </a:p>
          <a:p>
            <a:r>
              <a:rPr lang="de-DE" sz="1100" dirty="0">
                <a:solidFill>
                  <a:srgbClr val="FFFFFF"/>
                </a:solidFill>
                <a:latin typeface="Consolas"/>
              </a:rPr>
              <a:t>      .created(uri).body(dto);}</a:t>
            </a:r>
          </a:p>
        </p:txBody>
      </p:sp>
    </p:spTree>
    <p:extLst>
      <p:ext uri="{BB962C8B-B14F-4D97-AF65-F5344CB8AC3E}">
        <p14:creationId xmlns:p14="http://schemas.microsoft.com/office/powerpoint/2010/main" val="4187352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972E84-7436-1C99-8538-1AB1F15C6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Erweiterte Prompting-Techniken</a:t>
            </a:r>
          </a:p>
        </p:txBody>
      </p:sp>
      <p:sp>
        <p:nvSpPr>
          <p:cNvPr id="260" name="TileBg0"/>
          <p:cNvSpPr/>
          <p:nvPr/>
        </p:nvSpPr>
        <p:spPr>
          <a:xfrm>
            <a:off x="400000" y="160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212B80"/>
          </a:solidFill>
          <a:ln>
            <a:solidFill>
              <a:srgbClr val="3F59FF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FFFFFF">
                    <a:alpha val="60000"/>
                  </a:srgbClr>
                </a:solidFill>
                <a:latin typeface="Open Sans"/>
              </a:rPr>
              <a:t>1</a:t>
            </a:r>
          </a:p>
          <a:p>
            <a:pPr>
              <a:spcAft>
                <a:spcPts val="400"/>
              </a:spcAft>
            </a:pPr>
            <a:r>
              <a:rPr lang="de-DE" sz="2000" b="1" dirty="0">
                <a:solidFill>
                  <a:srgbClr val="FFFFFF"/>
                </a:solidFill>
                <a:latin typeface="Open Sans"/>
              </a:rPr>
              <a:t>Kontext + Motivation</a:t>
            </a:r>
          </a:p>
          <a:p>
            <a:r>
              <a:rPr lang="de-DE" sz="1600" dirty="0">
                <a:solidFill>
                  <a:srgbClr val="FFFFFF">
                    <a:alpha val="80000"/>
                  </a:srgbClr>
                </a:solidFill>
                <a:latin typeface="Open Sans"/>
              </a:rPr>
              <a:t>Warum &gt; Was
Erkläre der KI den Hintergrund</a:t>
            </a:r>
          </a:p>
        </p:txBody>
      </p:sp>
      <p:sp>
        <p:nvSpPr>
          <p:cNvPr id="263" name="TileBg1"/>
          <p:cNvSpPr/>
          <p:nvPr/>
        </p:nvSpPr>
        <p:spPr>
          <a:xfrm>
            <a:off x="6200000" y="160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3F59FF"/>
          </a:solidFill>
          <a:ln>
            <a:solidFill>
              <a:srgbClr val="3F59FF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FFFFFF">
                    <a:alpha val="60000"/>
                  </a:srgbClr>
                </a:solidFill>
                <a:latin typeface="Open Sans"/>
              </a:rPr>
              <a:t>2</a:t>
            </a:r>
          </a:p>
          <a:p>
            <a:pPr>
              <a:spcAft>
                <a:spcPts val="400"/>
              </a:spcAft>
            </a:pPr>
            <a:r>
              <a:rPr lang="de-DE" sz="2000" b="1" dirty="0">
                <a:solidFill>
                  <a:srgbClr val="FFFFFF"/>
                </a:solidFill>
                <a:latin typeface="Open Sans"/>
              </a:rPr>
              <a:t>Few-Shot Beispiele</a:t>
            </a:r>
          </a:p>
          <a:p>
            <a:r>
              <a:rPr lang="de-DE" sz="1600" dirty="0">
                <a:solidFill>
                  <a:srgbClr val="FFFFFF">
                    <a:alpha val="80000"/>
                  </a:srgbClr>
                </a:solidFill>
                <a:latin typeface="Open Sans"/>
              </a:rPr>
              <a:t>3-5 Beispiele verdoppeln
die Treffsicherheit</a:t>
            </a:r>
          </a:p>
        </p:txBody>
      </p:sp>
      <p:sp>
        <p:nvSpPr>
          <p:cNvPr id="266" name="TileBg2"/>
          <p:cNvSpPr/>
          <p:nvPr/>
        </p:nvSpPr>
        <p:spPr>
          <a:xfrm>
            <a:off x="400000" y="370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FD440"/>
          </a:solidFill>
          <a:ln>
            <a:solidFill>
              <a:srgbClr val="3F59FF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FFFFFF">
                    <a:alpha val="60000"/>
                  </a:srgbClr>
                </a:solidFill>
                <a:latin typeface="Open Sans"/>
              </a:rPr>
              <a:t>3</a:t>
            </a:r>
          </a:p>
          <a:p>
            <a:pPr>
              <a:spcAft>
                <a:spcPts val="400"/>
              </a:spcAft>
            </a:pPr>
            <a:r>
              <a:rPr lang="de-DE" sz="2000" b="1" dirty="0">
                <a:solidFill>
                  <a:srgbClr val="FFFFFF"/>
                </a:solidFill>
                <a:latin typeface="Open Sans"/>
              </a:rPr>
              <a:t>XML-Tags nutzen</a:t>
            </a:r>
          </a:p>
          <a:p>
            <a:r>
              <a:rPr lang="de-DE" sz="1600" dirty="0">
                <a:solidFill>
                  <a:srgbClr val="FFFFFF">
                    <a:alpha val="80000"/>
                  </a:srgbClr>
                </a:solidFill>
                <a:latin typeface="Open Sans"/>
              </a:rPr>
              <a:t>Strukturiere komplexe
Prompts mit Tags</a:t>
            </a:r>
          </a:p>
        </p:txBody>
      </p:sp>
      <p:sp>
        <p:nvSpPr>
          <p:cNvPr id="269" name="TileBg3"/>
          <p:cNvSpPr/>
          <p:nvPr/>
        </p:nvSpPr>
        <p:spPr>
          <a:xfrm>
            <a:off x="6200000" y="370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E6BE00"/>
          </a:solidFill>
          <a:ln>
            <a:solidFill>
              <a:srgbClr val="3F59FF"/>
            </a:solidFill>
          </a:ln>
        </p:spPr>
        <p:txBody>
          <a:bodyPr wrap="square" lIns="137160" tIns="91440" r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FFFFFF">
                    <a:alpha val="60000"/>
                  </a:srgbClr>
                </a:solidFill>
                <a:latin typeface="Open Sans"/>
              </a:rPr>
              <a:t>4</a:t>
            </a:r>
          </a:p>
          <a:p>
            <a:pPr>
              <a:spcAft>
                <a:spcPts val="400"/>
              </a:spcAft>
            </a:pPr>
            <a:r>
              <a:rPr lang="de-DE" sz="2000" b="1" dirty="0">
                <a:solidFill>
                  <a:srgbClr val="FFFFFF"/>
                </a:solidFill>
                <a:latin typeface="Open Sans"/>
              </a:rPr>
              <a:t>Schrittweise denken</a:t>
            </a:r>
          </a:p>
          <a:p>
            <a:r>
              <a:rPr lang="de-DE" sz="1600" dirty="0">
                <a:solidFill>
                  <a:srgbClr val="FFFFFF">
                    <a:alpha val="80000"/>
                  </a:srgbClr>
                </a:solidFill>
                <a:latin typeface="Open Sans"/>
              </a:rPr>
              <a:t>"Denk Schritt für Schritt"
verbessert Logik-Aufgaben</a:t>
            </a:r>
          </a:p>
        </p:txBody>
      </p:sp>
    </p:spTree>
    <p:extLst>
      <p:ext uri="{BB962C8B-B14F-4D97-AF65-F5344CB8AC3E}">
        <p14:creationId xmlns:p14="http://schemas.microsoft.com/office/powerpoint/2010/main" val="834618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2069F-782C-6F39-6651-C2871AA0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Tool-Vergleich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AD69BE75-9DF8-B14C-9724-F4BF59DB1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55429"/>
              </p:ext>
            </p:extLst>
          </p:nvPr>
        </p:nvGraphicFramePr>
        <p:xfrm>
          <a:off x="635000" y="1524000"/>
          <a:ext cx="109220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1607750985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594713558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1069945537"/>
                    </a:ext>
                  </a:extLst>
                </a:gridCol>
              </a:tblGrid>
              <a:tr h="965200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Merkmal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Claude Code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GitHub Copilot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045829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Stärke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Autonome Agents,
Plan Mode, Swarms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Inline-Autocomplete,
IDE-Integration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857784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Wann nutzen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Große Features,
Refactoring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Tägliches Coding,
Vervollständigung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926962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CLI-Native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Ja (Terminal)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Nein (nur IDE)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065297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Kosten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Usage-based oder
$100/Mo flat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$10-39/Mo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849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05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6D1BD-B238-DDD6-F42B-C5EF5E23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CLAUDE.md — Projektkontext geben</a:t>
            </a:r>
          </a:p>
        </p:txBody>
      </p:sp>
      <p:sp>
        <p:nvSpPr>
          <p:cNvPr id="300" name="WithoutH"/>
          <p:cNvSpPr/>
          <p:nvPr/>
        </p:nvSpPr>
        <p:spPr>
          <a:xfrm>
            <a:off x="400000" y="1500000"/>
            <a:ext cx="5400000" cy="45000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txBody>
          <a:bodyPr lIns="91440" anchor="ctr"/>
          <a:lstStyle/>
          <a:p>
            <a:pPr algn="ctr"/>
            <a:r>
              <a:rPr lang="de-DE" sz="1800" b="1" dirty="0">
                <a:solidFill>
                  <a:srgbClr val="C53030"/>
                </a:solidFill>
                <a:latin typeface="Open Sans"/>
              </a:rPr>
              <a:t>Ohne CLAUDE.md</a:t>
            </a:r>
          </a:p>
        </p:txBody>
      </p:sp>
      <p:sp>
        <p:nvSpPr>
          <p:cNvPr id="301" name="WithoutC"/>
          <p:cNvSpPr/>
          <p:nvPr/>
        </p:nvSpPr>
        <p:spPr>
          <a:xfrm>
            <a:off x="400000" y="2050000"/>
            <a:ext cx="5400000" cy="16000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>
            <a:noFill/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FC8181"/>
                </a:solidFill>
                <a:latin typeface="Open Sans"/>
              </a:rPr>
              <a:t>→ KI kennt euer Projekt nicht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FC8181"/>
                </a:solidFill>
                <a:latin typeface="Open Sans"/>
              </a:rPr>
              <a:t>→ Rät Technologie-Stack</a:t>
            </a:r>
          </a:p>
          <a:p>
            <a:r>
              <a:rPr lang="de-DE" sz="1400" dirty="0">
                <a:solidFill>
                  <a:srgbClr val="FC8181"/>
                </a:solidFill>
                <a:latin typeface="Open Sans"/>
              </a:rPr>
              <a:t>→ Ignoriert Konventionen</a:t>
            </a:r>
          </a:p>
        </p:txBody>
      </p:sp>
      <p:sp>
        <p:nvSpPr>
          <p:cNvPr id="302" name="WithH"/>
          <p:cNvSpPr/>
          <p:nvPr/>
        </p:nvSpPr>
        <p:spPr>
          <a:xfrm>
            <a:off x="6200000" y="1500000"/>
            <a:ext cx="5400000" cy="45000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txBody>
          <a:bodyPr lIns="91440" anchor="ctr"/>
          <a:lstStyle/>
          <a:p>
            <a:pPr algn="ctr"/>
            <a:r>
              <a:rPr lang="de-DE" sz="1800" b="1" dirty="0">
                <a:solidFill>
                  <a:srgbClr val="276749"/>
                </a:solidFill>
                <a:latin typeface="Open Sans"/>
              </a:rPr>
              <a:t>Mit CLAUDE.md</a:t>
            </a:r>
          </a:p>
        </p:txBody>
      </p:sp>
      <p:sp>
        <p:nvSpPr>
          <p:cNvPr id="303" name="WithC"/>
          <p:cNvSpPr/>
          <p:nvPr/>
        </p:nvSpPr>
        <p:spPr>
          <a:xfrm>
            <a:off x="6200000" y="2050000"/>
            <a:ext cx="5400000" cy="16000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>
            <a:noFill/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68D391"/>
                </a:solidFill>
                <a:latin typeface="Open Sans"/>
              </a:rPr>
              <a:t>→ Kennt Stack + Konventionen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68D391"/>
                </a:solidFill>
                <a:latin typeface="Open Sans"/>
              </a:rPr>
              <a:t>→ Folgt Projektregeln</a:t>
            </a:r>
          </a:p>
          <a:p>
            <a:r>
              <a:rPr lang="de-DE" sz="1400" dirty="0">
                <a:solidFill>
                  <a:srgbClr val="68D391"/>
                </a:solidFill>
                <a:latin typeface="Open Sans"/>
              </a:rPr>
              <a:t>→ Konsistenter Output</a:t>
            </a:r>
          </a:p>
        </p:txBody>
      </p:sp>
      <p:sp>
        <p:nvSpPr>
          <p:cNvPr id="304" name="Example"/>
          <p:cNvSpPr/>
          <p:nvPr/>
        </p:nvSpPr>
        <p:spPr>
          <a:xfrm>
            <a:off x="400000" y="3900000"/>
            <a:ext cx="11200000" cy="2200000"/>
          </a:xfrm>
          <a:prstGeom prst="roundRect">
            <a:avLst>
              <a:gd name="adj" fmla="val 3000"/>
            </a:avLst>
          </a:prstGeom>
          <a:solidFill>
            <a:srgbClr val="212B80"/>
          </a:solidFill>
          <a:ln>
            <a:noFill/>
          </a:ln>
        </p:spPr>
        <p:txBody>
          <a:bodyPr wrap="square" lIns="182880" tIns="91440" anchor="t"/>
          <a:lstStyle/>
          <a:p>
            <a:pPr>
              <a:spcAft>
                <a:spcPts val="200"/>
              </a:spcAft>
            </a:pPr>
            <a:r>
              <a:rPr lang="de-DE" sz="1400" b="1" dirty="0">
                <a:solidFill>
                  <a:srgbClr val="FFD440"/>
                </a:solidFill>
                <a:latin typeface="Consolas"/>
              </a:rPr>
              <a:t># CLAUDE.md</a:t>
            </a:r>
          </a:p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9CA3AF"/>
                </a:solidFill>
                <a:latin typeface="Consolas"/>
              </a:rPr>
              <a:t>Stack: Java 17, Spring Boot 3.2, PostgreSQL 15</a:t>
            </a:r>
          </a:p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9CA3AF"/>
                </a:solidFill>
                <a:latin typeface="Consolas"/>
              </a:rPr>
              <a:t>Build: ./gradlew build | Tests: ./gradlew test</a:t>
            </a:r>
          </a:p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9CA3AF"/>
                </a:solidFill>
                <a:latin typeface="Consolas"/>
              </a:rPr>
              <a:t>Konventionen: REST-API, DTOs, Service-Layer</a:t>
            </a:r>
          </a:p>
          <a:p>
            <a:r>
              <a:rPr lang="de-DE" sz="1400" dirty="0">
                <a:solidFill>
                  <a:srgbClr val="9CA3AF"/>
                </a:solidFill>
                <a:latin typeface="Consolas"/>
              </a:rPr>
              <a:t>Keine: Lombok, externe Auth-Libs</a:t>
            </a:r>
          </a:p>
        </p:txBody>
      </p:sp>
    </p:spTree>
    <p:extLst>
      <p:ext uri="{BB962C8B-B14F-4D97-AF65-F5344CB8AC3E}">
        <p14:creationId xmlns:p14="http://schemas.microsoft.com/office/powerpoint/2010/main" val="29703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520F7-ACB6-4FE9-4D41-ED1A8C36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Rules &amp; Plugins</a:t>
            </a:r>
          </a:p>
        </p:txBody>
      </p:sp>
      <p:sp>
        <p:nvSpPr>
          <p:cNvPr id="310" name="RulesH"/>
          <p:cNvSpPr/>
          <p:nvPr/>
        </p:nvSpPr>
        <p:spPr>
          <a:xfrm>
            <a:off x="400000" y="1500000"/>
            <a:ext cx="5500000" cy="500000"/>
          </a:xfrm>
          <a:prstGeom prst="roundRect">
            <a:avLst>
              <a:gd name="adj" fmla="val 15000"/>
            </a:avLst>
          </a:prstGeom>
          <a:solidFill>
            <a:srgbClr val="212B80"/>
          </a:solidFill>
          <a:ln>
            <a:noFill/>
          </a:ln>
        </p:spPr>
        <p:txBody>
          <a:bodyPr lIns="137160" anchor="ctr"/>
          <a:lstStyle/>
          <a:p>
            <a:r>
              <a:rPr lang="de-DE" sz="2000" b="1" dirty="0">
                <a:solidFill>
                  <a:srgbClr val="FFFFFF"/>
                </a:solidFill>
                <a:latin typeface="Open Sans"/>
              </a:rPr>
              <a:t>Rules — Automatisch aktiv</a:t>
            </a:r>
          </a:p>
        </p:txBody>
      </p:sp>
      <p:sp>
        <p:nvSpPr>
          <p:cNvPr id="311" name="RulesC"/>
          <p:cNvSpPr/>
          <p:nvPr/>
        </p:nvSpPr>
        <p:spPr>
          <a:xfrm>
            <a:off x="400000" y="2100000"/>
            <a:ext cx="5500000" cy="2400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9CA3AF"/>
                </a:solidFill>
                <a:latin typeface="Open Sans"/>
              </a:rPr>
              <a:t>Automatisch aktiv bei bestimmten Dateitypen: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68D391"/>
                </a:solidFill>
                <a:latin typeface="Consolas"/>
              </a:rPr>
              <a:t>.claude/rules/java-spring.md</a:t>
            </a:r>
            <a:r>
              <a:rPr lang="de-DE" sz="1400" dirty="0">
                <a:solidFill>
                  <a:srgbClr val="9CA3AF"/>
                </a:solidFill>
                <a:latin typeface="Open Sans"/>
              </a:rPr>
              <a:t>  → bei *.java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68D391"/>
                </a:solidFill>
                <a:latin typeface="Consolas"/>
              </a:rPr>
              <a:t>.claude/rules/vue-frontend.md</a:t>
            </a:r>
            <a:r>
              <a:rPr lang="de-DE" sz="1400" dirty="0">
                <a:solidFill>
                  <a:srgbClr val="9CA3AF"/>
                </a:solidFill>
                <a:latin typeface="Open Sans"/>
              </a:rPr>
              <a:t>  → bei *.vue, *.ts</a:t>
            </a:r>
          </a:p>
        </p:txBody>
      </p:sp>
      <p:sp>
        <p:nvSpPr>
          <p:cNvPr id="312" name="PlugH"/>
          <p:cNvSpPr/>
          <p:nvPr/>
        </p:nvSpPr>
        <p:spPr>
          <a:xfrm>
            <a:off x="6300000" y="1500000"/>
            <a:ext cx="5300000" cy="500000"/>
          </a:xfrm>
          <a:prstGeom prst="roundRect">
            <a:avLst>
              <a:gd name="adj" fmla="val 15000"/>
            </a:avLst>
          </a:prstGeom>
          <a:solidFill>
            <a:srgbClr val="212B80"/>
          </a:solidFill>
          <a:ln>
            <a:noFill/>
          </a:ln>
        </p:spPr>
        <p:txBody>
          <a:bodyPr lIns="137160" anchor="ctr"/>
          <a:lstStyle/>
          <a:p>
            <a:r>
              <a:rPr lang="de-DE" sz="2000" b="1" dirty="0">
                <a:solidFill>
                  <a:srgbClr val="FFFFFF"/>
                </a:solidFill>
                <a:latin typeface="Open Sans"/>
              </a:rPr>
              <a:t>Plugins — Erweiterungen</a:t>
            </a:r>
          </a:p>
        </p:txBody>
      </p:sp>
      <p:sp>
        <p:nvSpPr>
          <p:cNvPr id="313" name="PlugC"/>
          <p:cNvSpPr/>
          <p:nvPr/>
        </p:nvSpPr>
        <p:spPr>
          <a:xfrm>
            <a:off x="6300000" y="2100000"/>
            <a:ext cx="5300000" cy="2400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9CA3AF"/>
                </a:solidFill>
                <a:latin typeface="Open Sans"/>
              </a:rPr>
              <a:t>Empfohlene Plugins:</a:t>
            </a:r>
          </a:p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FFD440"/>
                </a:solidFill>
                <a:latin typeface="Consolas"/>
              </a:rPr>
              <a:t>ralph-loop</a:t>
            </a:r>
          </a:p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FFD440"/>
                </a:solidFill>
                <a:latin typeface="Consolas"/>
              </a:rPr>
              <a:t>context7</a:t>
            </a:r>
          </a:p>
          <a:p>
            <a:r>
              <a:rPr lang="de-DE" sz="1600" b="1" dirty="0">
                <a:solidFill>
                  <a:srgbClr val="FFD440"/>
                </a:solidFill>
                <a:latin typeface="Consolas"/>
              </a:rPr>
              <a:t>security-guidance</a:t>
            </a:r>
          </a:p>
        </p:txBody>
      </p:sp>
    </p:spTree>
    <p:extLst>
      <p:ext uri="{BB962C8B-B14F-4D97-AF65-F5344CB8AC3E}">
        <p14:creationId xmlns:p14="http://schemas.microsoft.com/office/powerpoint/2010/main" val="2222800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F34BC-A055-755A-3C40-6571E661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MEMORY.md — Projektgedächtnis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B4D47A7-0D61-1342-A44A-2B4C2C94B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120265"/>
              </p:ext>
            </p:extLst>
          </p:nvPr>
        </p:nvGraphicFramePr>
        <p:xfrm>
          <a:off x="1016000" y="2032000"/>
          <a:ext cx="10160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48522762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21547734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712634049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ctr"/>
                      <a:endParaRPr lang="de-DE" sz="1800" b="1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CLAUDE.md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MEMORY.md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79286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Zweck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Anweisungen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Projekt-Wissen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301925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Wer pflegt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Ihr (manuell)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KI (automatisch)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1020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Im Repo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Nein (lokal)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41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95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5E54C1-17A6-82F5-EACB-2A124857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Plan Mode &amp; Verifikation</a:t>
            </a:r>
          </a:p>
        </p:txBody>
      </p:sp>
      <p:sp>
        <p:nvSpPr>
          <p:cNvPr id="320" name="PMH"/>
          <p:cNvSpPr/>
          <p:nvPr/>
        </p:nvSpPr>
        <p:spPr>
          <a:xfrm>
            <a:off x="400000" y="1400000"/>
            <a:ext cx="11200000" cy="4000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anchor="b"/>
          <a:lstStyle/>
          <a:p>
            <a:r>
              <a:rPr lang="de-DE" sz="2000" b="1" dirty="0">
                <a:solidFill>
                  <a:srgbClr val="212B80"/>
                </a:solidFill>
                <a:latin typeface="Open Sans"/>
              </a:rPr>
              <a:t>Plan Mode Workflow</a:t>
            </a:r>
          </a:p>
        </p:txBody>
      </p:sp>
      <p:sp>
        <p:nvSpPr>
          <p:cNvPr id="321" name="PM0"/>
          <p:cNvSpPr/>
          <p:nvPr/>
        </p:nvSpPr>
        <p:spPr>
          <a:xfrm>
            <a:off x="400000" y="1900000"/>
            <a:ext cx="2400000" cy="8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Open Sans"/>
              </a:rPr>
              <a:t>Prompt
schreiben</a:t>
            </a:r>
          </a:p>
        </p:txBody>
      </p:sp>
      <p:sp>
        <p:nvSpPr>
          <p:cNvPr id="322" name="PMArr0"/>
          <p:cNvSpPr/>
          <p:nvPr/>
        </p:nvSpPr>
        <p:spPr>
          <a:xfrm>
            <a:off x="2900000" y="2100000"/>
            <a:ext cx="300000" cy="250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23" name="PM1"/>
          <p:cNvSpPr/>
          <p:nvPr/>
        </p:nvSpPr>
        <p:spPr>
          <a:xfrm>
            <a:off x="3300000" y="1900000"/>
            <a:ext cx="2400000" cy="800000"/>
          </a:xfrm>
          <a:prstGeom prst="roundRect">
            <a:avLst>
              <a:gd name="adj" fmla="val 12000"/>
            </a:avLst>
          </a:prstGeom>
          <a:solidFill>
            <a:srgbClr val="212B8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Open Sans"/>
              </a:rPr>
              <a:t>Plan
reviewen</a:t>
            </a:r>
          </a:p>
        </p:txBody>
      </p:sp>
      <p:sp>
        <p:nvSpPr>
          <p:cNvPr id="324" name="PMArr1"/>
          <p:cNvSpPr/>
          <p:nvPr/>
        </p:nvSpPr>
        <p:spPr>
          <a:xfrm>
            <a:off x="5800000" y="2100000"/>
            <a:ext cx="300000" cy="250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25" name="PM2"/>
          <p:cNvSpPr/>
          <p:nvPr/>
        </p:nvSpPr>
        <p:spPr>
          <a:xfrm>
            <a:off x="6200000" y="1900000"/>
            <a:ext cx="2400000" cy="800000"/>
          </a:xfrm>
          <a:prstGeom prst="roundRect">
            <a:avLst>
              <a:gd name="adj" fmla="val 12000"/>
            </a:avLst>
          </a:prstGeom>
          <a:solidFill>
            <a:srgbClr val="FFD44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Open Sans"/>
              </a:rPr>
              <a:t>Freigeben</a:t>
            </a:r>
          </a:p>
        </p:txBody>
      </p:sp>
      <p:sp>
        <p:nvSpPr>
          <p:cNvPr id="326" name="PMArr2"/>
          <p:cNvSpPr/>
          <p:nvPr/>
        </p:nvSpPr>
        <p:spPr>
          <a:xfrm>
            <a:off x="8700000" y="2100000"/>
            <a:ext cx="300000" cy="250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27" name="PM3"/>
          <p:cNvSpPr/>
          <p:nvPr/>
        </p:nvSpPr>
        <p:spPr>
          <a:xfrm>
            <a:off x="9100000" y="1900000"/>
            <a:ext cx="2400000" cy="800000"/>
          </a:xfrm>
          <a:prstGeom prst="roundRect">
            <a:avLst>
              <a:gd name="adj" fmla="val 12000"/>
            </a:avLst>
          </a:prstGeom>
          <a:solidFill>
            <a:srgbClr val="212B8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Open Sans"/>
              </a:rPr>
              <a:t>KI
arbeitet ab</a:t>
            </a:r>
          </a:p>
        </p:txBody>
      </p:sp>
      <p:sp>
        <p:nvSpPr>
          <p:cNvPr id="340" name="COVH"/>
          <p:cNvSpPr/>
          <p:nvPr/>
        </p:nvSpPr>
        <p:spPr>
          <a:xfrm>
            <a:off x="400000" y="3000000"/>
            <a:ext cx="11200000" cy="4000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anchor="b"/>
          <a:lstStyle/>
          <a:p>
            <a:r>
              <a:rPr lang="de-DE" sz="2000" b="1" dirty="0">
                <a:solidFill>
                  <a:srgbClr val="212B80"/>
                </a:solidFill>
                <a:latin typeface="Open Sans"/>
              </a:rPr>
              <a:t>Chain-of-Verification</a:t>
            </a:r>
          </a:p>
        </p:txBody>
      </p:sp>
      <p:sp>
        <p:nvSpPr>
          <p:cNvPr id="341" name="COV0"/>
          <p:cNvSpPr/>
          <p:nvPr/>
        </p:nvSpPr>
        <p:spPr>
          <a:xfrm>
            <a:off x="400000" y="3500000"/>
            <a:ext cx="2400000" cy="8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Open Sans"/>
              </a:rPr>
              <a:t>Antwort
generieren</a:t>
            </a:r>
          </a:p>
        </p:txBody>
      </p:sp>
      <p:sp>
        <p:nvSpPr>
          <p:cNvPr id="342" name="COVArr0"/>
          <p:cNvSpPr/>
          <p:nvPr/>
        </p:nvSpPr>
        <p:spPr>
          <a:xfrm>
            <a:off x="2900000" y="3700000"/>
            <a:ext cx="300000" cy="250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43" name="COV1"/>
          <p:cNvSpPr/>
          <p:nvPr/>
        </p:nvSpPr>
        <p:spPr>
          <a:xfrm>
            <a:off x="3300000" y="3500000"/>
            <a:ext cx="2400000" cy="800000"/>
          </a:xfrm>
          <a:prstGeom prst="roundRect">
            <a:avLst>
              <a:gd name="adj" fmla="val 12000"/>
            </a:avLst>
          </a:prstGeom>
          <a:solidFill>
            <a:srgbClr val="FFD44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Open Sans"/>
              </a:rPr>
              <a:t>Verifikations-
fragen stellen</a:t>
            </a:r>
          </a:p>
        </p:txBody>
      </p:sp>
      <p:sp>
        <p:nvSpPr>
          <p:cNvPr id="344" name="COVArr1"/>
          <p:cNvSpPr/>
          <p:nvPr/>
        </p:nvSpPr>
        <p:spPr>
          <a:xfrm>
            <a:off x="5800000" y="3700000"/>
            <a:ext cx="300000" cy="250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45" name="COV2"/>
          <p:cNvSpPr/>
          <p:nvPr/>
        </p:nvSpPr>
        <p:spPr>
          <a:xfrm>
            <a:off x="6200000" y="3500000"/>
            <a:ext cx="2400000" cy="800000"/>
          </a:xfrm>
          <a:prstGeom prst="roundRect">
            <a:avLst>
              <a:gd name="adj" fmla="val 12000"/>
            </a:avLst>
          </a:prstGeom>
          <a:solidFill>
            <a:srgbClr val="E6BE0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Open Sans"/>
              </a:rPr>
              <a:t>Fragen
beantworten</a:t>
            </a:r>
          </a:p>
        </p:txBody>
      </p:sp>
      <p:sp>
        <p:nvSpPr>
          <p:cNvPr id="346" name="COVArr2"/>
          <p:cNvSpPr/>
          <p:nvPr/>
        </p:nvSpPr>
        <p:spPr>
          <a:xfrm>
            <a:off x="8700000" y="3700000"/>
            <a:ext cx="300000" cy="250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47" name="COV3"/>
          <p:cNvSpPr/>
          <p:nvPr/>
        </p:nvSpPr>
        <p:spPr>
          <a:xfrm>
            <a:off x="9100000" y="3500000"/>
            <a:ext cx="2400000" cy="800000"/>
          </a:xfrm>
          <a:prstGeom prst="roundRect">
            <a:avLst>
              <a:gd name="adj" fmla="val 12000"/>
            </a:avLst>
          </a:prstGeom>
          <a:solidFill>
            <a:srgbClr val="212B8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Open Sans"/>
              </a:rPr>
              <a:t>Antwort
korrigieren</a:t>
            </a:r>
          </a:p>
        </p:txBody>
      </p:sp>
    </p:spTree>
    <p:extLst>
      <p:ext uri="{BB962C8B-B14F-4D97-AF65-F5344CB8AC3E}">
        <p14:creationId xmlns:p14="http://schemas.microsoft.com/office/powerpoint/2010/main" val="3884486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0D480D-68D6-C444-BE8A-9DB9FA70B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Ollama — Lokale KI</a:t>
            </a:r>
          </a:p>
        </p:txBody>
      </p:sp>
      <p:sp>
        <p:nvSpPr>
          <p:cNvPr id="350" name="WhenH"/>
          <p:cNvSpPr/>
          <p:nvPr/>
        </p:nvSpPr>
        <p:spPr>
          <a:xfrm>
            <a:off x="400000" y="1500000"/>
            <a:ext cx="5300000" cy="400000"/>
          </a:xfrm>
          <a:prstGeom prst="roundRect">
            <a:avLst>
              <a:gd name="adj" fmla="val 15000"/>
            </a:avLst>
          </a:prstGeom>
          <a:solidFill>
            <a:srgbClr val="212B80"/>
          </a:solidFill>
          <a:ln>
            <a:noFill/>
          </a:ln>
        </p:spPr>
        <p:txBody>
          <a:bodyPr lIns="137160" anchor="ctr"/>
          <a:lstStyle/>
          <a:p>
            <a:r>
              <a:rPr lang="de-DE" sz="1800" b="1" dirty="0">
                <a:solidFill>
                  <a:srgbClr val="FFFFFF"/>
                </a:solidFill>
                <a:latin typeface="Open Sans"/>
              </a:rPr>
              <a:t>Wann lokal?</a:t>
            </a:r>
          </a:p>
        </p:txBody>
      </p:sp>
      <p:sp>
        <p:nvSpPr>
          <p:cNvPr id="351" name="WhenC"/>
          <p:cNvSpPr/>
          <p:nvPr/>
        </p:nvSpPr>
        <p:spPr>
          <a:xfrm>
            <a:off x="400000" y="2000000"/>
            <a:ext cx="5300000" cy="11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137160" tIns="91440" anchor="t"/>
          <a:lstStyle/>
          <a:p>
            <a:pPr>
              <a:spcAft>
                <a:spcPts val="300"/>
              </a:spcAft>
            </a:pPr>
            <a:r>
              <a:rPr lang="de-DE" sz="1600" dirty="0">
                <a:solidFill>
                  <a:srgbClr val="212121"/>
                </a:solidFill>
                <a:latin typeface="Open Sans"/>
              </a:rPr>
              <a:t>→ Datenschutz-Anforderungen</a:t>
            </a:r>
          </a:p>
          <a:p>
            <a:pPr>
              <a:spcAft>
                <a:spcPts val="300"/>
              </a:spcAft>
            </a:pPr>
            <a:r>
              <a:rPr lang="de-DE" sz="1600" dirty="0">
                <a:solidFill>
                  <a:srgbClr val="212121"/>
                </a:solidFill>
                <a:latin typeface="Open Sans"/>
              </a:rPr>
              <a:t>→ Offline-Entwicklung</a:t>
            </a:r>
          </a:p>
          <a:p>
            <a:r>
              <a:rPr lang="de-DE" sz="1600" dirty="0">
                <a:solidFill>
                  <a:srgbClr val="212121"/>
                </a:solidFill>
                <a:latin typeface="Open Sans"/>
              </a:rPr>
              <a:t>→ Kostenoptimierung</a:t>
            </a:r>
          </a:p>
        </p:txBody>
      </p:sp>
      <p:sp>
        <p:nvSpPr>
          <p:cNvPr id="352" name="SetupH"/>
          <p:cNvSpPr/>
          <p:nvPr/>
        </p:nvSpPr>
        <p:spPr>
          <a:xfrm>
            <a:off x="6200000" y="1500000"/>
            <a:ext cx="5400000" cy="400000"/>
          </a:xfrm>
          <a:prstGeom prst="roundRect">
            <a:avLst>
              <a:gd name="adj" fmla="val 15000"/>
            </a:avLst>
          </a:prstGeom>
          <a:solidFill>
            <a:srgbClr val="212B80"/>
          </a:solidFill>
          <a:ln>
            <a:noFill/>
          </a:ln>
        </p:spPr>
        <p:txBody>
          <a:bodyPr lIns="137160" anchor="ctr"/>
          <a:lstStyle/>
          <a:p>
            <a:r>
              <a:rPr lang="de-DE" sz="1800" b="1" dirty="0">
                <a:solidFill>
                  <a:srgbClr val="FFFFFF"/>
                </a:solidFill>
                <a:latin typeface="Open Sans"/>
              </a:rPr>
              <a:t>3 Zeilen Setup</a:t>
            </a:r>
          </a:p>
        </p:txBody>
      </p:sp>
      <p:sp>
        <p:nvSpPr>
          <p:cNvPr id="353" name="SetupC"/>
          <p:cNvSpPr/>
          <p:nvPr/>
        </p:nvSpPr>
        <p:spPr>
          <a:xfrm>
            <a:off x="6200000" y="2000000"/>
            <a:ext cx="5400000" cy="1100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txBody>
          <a:bodyPr wrap="square" lIns="137160" tIns="91440" anchor="t"/>
          <a:lstStyle/>
          <a:p>
            <a:pPr>
              <a:spcAft>
                <a:spcPts val="300"/>
              </a:spcAft>
            </a:pPr>
            <a:r>
              <a:rPr lang="de-DE" sz="1500" dirty="0">
                <a:solidFill>
                  <a:srgbClr val="68D391"/>
                </a:solidFill>
                <a:latin typeface="Consolas"/>
              </a:rPr>
              <a:t>$ brew install ollama</a:t>
            </a:r>
          </a:p>
          <a:p>
            <a:pPr>
              <a:spcAft>
                <a:spcPts val="300"/>
              </a:spcAft>
            </a:pPr>
            <a:r>
              <a:rPr lang="de-DE" sz="1500" dirty="0">
                <a:solidFill>
                  <a:srgbClr val="68D391"/>
                </a:solidFill>
                <a:latin typeface="Consolas"/>
              </a:rPr>
              <a:t>$ ollama pull qwen2.5-coder:7b</a:t>
            </a:r>
          </a:p>
          <a:p>
            <a:r>
              <a:rPr lang="de-DE" sz="1500" dirty="0">
                <a:solidFill>
                  <a:srgbClr val="68D391"/>
                </a:solidFill>
                <a:latin typeface="Consolas"/>
              </a:rPr>
              <a:t>$ ollama serve</a:t>
            </a:r>
          </a:p>
        </p:txBody>
      </p:sp>
      <p:sp>
        <p:nvSpPr>
          <p:cNvPr id="354" name="Model"/>
          <p:cNvSpPr/>
          <p:nvPr/>
        </p:nvSpPr>
        <p:spPr>
          <a:xfrm>
            <a:off x="1500000" y="3500000"/>
            <a:ext cx="9000000" cy="600000"/>
          </a:xfrm>
          <a:prstGeom prst="roundRect">
            <a:avLst/>
          </a:prstGeom>
          <a:solidFill>
            <a:srgbClr val="3F59FF"/>
          </a:solidFill>
          <a:ln w="25400">
            <a:solidFill>
              <a:srgbClr val="FFD440"/>
            </a:solidFill>
          </a:ln>
        </p:spPr>
        <p:txBody>
          <a:bodyPr lIns="137160" anchor="ctr"/>
          <a:lstStyle/>
          <a:p>
            <a:pPr algn="ctr"/>
            <a:r>
              <a:rPr lang="de-DE" sz="1800" b="1" dirty="0">
                <a:solidFill>
                  <a:srgbClr val="FFD440"/>
                </a:solidFill>
                <a:latin typeface="Open Sans"/>
              </a:rPr>
              <a:t>Empfohlen: qwen2.5-coder:7b</a:t>
            </a:r>
          </a:p>
        </p:txBody>
      </p:sp>
    </p:spTree>
    <p:extLst>
      <p:ext uri="{BB962C8B-B14F-4D97-AF65-F5344CB8AC3E}">
        <p14:creationId xmlns:p14="http://schemas.microsoft.com/office/powerpoint/2010/main" val="1292969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36B780-52D1-654C-A6A3-CD9BFA56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Datenschutz-Regeln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B52BADB-2923-454A-B123-D87503F1F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29175"/>
              </p:ext>
            </p:extLst>
          </p:nvPr>
        </p:nvGraphicFramePr>
        <p:xfrm>
          <a:off x="635000" y="1651000"/>
          <a:ext cx="10922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1963405662"/>
                    </a:ext>
                  </a:extLst>
                </a:gridCol>
                <a:gridCol w="6604000">
                  <a:extLst>
                    <a:ext uri="{9D8B030D-6E8A-4147-A177-3AD203B41FA5}">
                      <a16:colId xmlns:a16="http://schemas.microsoft.com/office/drawing/2014/main" val="3876078614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Situation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Daten-Handling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107265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Claude Code (API)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Nicht für Training (Enterprise)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8102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Copilot Business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Nicht für Training (vertraglich)</a:t>
                      </a:r>
                    </a:p>
                  </a:txBody>
                  <a:tcPr anchor="ctr">
                    <a:solidFill>
                      <a:srgbClr val="F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130367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Lokale Modelle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Nichts verlässt den Rechner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241620"/>
                  </a:ext>
                </a:extLst>
              </a:tr>
            </a:tbl>
          </a:graphicData>
        </a:graphic>
      </p:graphicFrame>
      <p:sp>
        <p:nvSpPr>
          <p:cNvPr id="360" name="Faustregel"/>
          <p:cNvSpPr/>
          <p:nvPr/>
        </p:nvSpPr>
        <p:spPr>
          <a:xfrm>
            <a:off x="600000" y="5080000"/>
            <a:ext cx="10800000" cy="700000"/>
          </a:xfrm>
          <a:prstGeom prst="roundRect">
            <a:avLst/>
          </a:prstGeom>
          <a:solidFill>
            <a:srgbClr val="212B80"/>
          </a:solidFill>
          <a:ln>
            <a:noFill/>
          </a:ln>
        </p:spPr>
        <p:txBody>
          <a:bodyPr lIns="137160" anchor="ctr"/>
          <a:lstStyle/>
          <a:p>
            <a:pPr algn="ctr"/>
            <a:r>
              <a:rPr lang="de-DE" sz="2000" b="1" dirty="0">
                <a:solidFill>
                  <a:srgbClr val="FFD440"/>
                </a:solidFill>
                <a:latin typeface="Open Sans"/>
              </a:rPr>
              <a:t>Faustregel: </a:t>
            </a:r>
            <a:r>
              <a:rPr lang="de-DE" sz="2000" dirty="0">
                <a:solidFill>
                  <a:srgbClr val="FFFFFF"/>
                </a:solidFill>
                <a:latin typeface="Open Sans"/>
              </a:rPr>
              <a:t>Kein Kundencode, keine Passwörter, keine internen IPs</a:t>
            </a:r>
          </a:p>
        </p:txBody>
      </p:sp>
    </p:spTree>
    <p:extLst>
      <p:ext uri="{BB962C8B-B14F-4D97-AF65-F5344CB8AC3E}">
        <p14:creationId xmlns:p14="http://schemas.microsoft.com/office/powerpoint/2010/main" val="1490811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785542-164B-A093-0A0B-4A803B6E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Hands-on Aufgabe — Architektur</a:t>
            </a:r>
          </a:p>
        </p:txBody>
      </p:sp>
      <p:sp>
        <p:nvSpPr>
          <p:cNvPr id="370" name="Vue"/>
          <p:cNvSpPr/>
          <p:nvPr/>
        </p:nvSpPr>
        <p:spPr>
          <a:xfrm>
            <a:off x="400000" y="2000000"/>
            <a:ext cx="2800000" cy="1800000"/>
          </a:xfrm>
          <a:prstGeom prst="roundRect">
            <a:avLst>
              <a:gd name="adj" fmla="val 8000"/>
            </a:avLst>
          </a:prstGeom>
          <a:solidFill>
            <a:srgbClr val="3F59FF"/>
          </a:solidFill>
          <a:ln>
            <a:noFill/>
          </a:ln>
        </p:spPr>
        <p:txBody>
          <a:bodyPr wrap="square" lIns="91440" rIns="91440" anchor="ctr"/>
          <a:lstStyle/>
          <a:p>
            <a:pPr algn="ctr">
              <a:spcAft>
                <a:spcPts val="300"/>
              </a:spcAft>
            </a:pPr>
            <a:r>
              <a:rPr lang="de-DE" sz="2000" b="1" dirty="0">
                <a:solidFill>
                  <a:srgbClr val="FFFFFF"/>
                </a:solidFill>
                <a:latin typeface="Open Sans"/>
              </a:rPr>
              <a:t>Vue.js Chat-UI</a:t>
            </a:r>
          </a:p>
          <a:p>
            <a:pPr algn="ctr"/>
            <a:r>
              <a:rPr lang="de-DE" sz="1400" dirty="0">
                <a:solidFill>
                  <a:srgbClr val="C7D2FE"/>
                </a:solidFill>
                <a:latin typeface="Consolas"/>
              </a:rPr>
              <a:t>localhost:5173</a:t>
            </a:r>
          </a:p>
        </p:txBody>
      </p:sp>
      <p:sp>
        <p:nvSpPr>
          <p:cNvPr id="371" name="Arr1"/>
          <p:cNvSpPr/>
          <p:nvPr/>
        </p:nvSpPr>
        <p:spPr>
          <a:xfrm>
            <a:off x="3400000" y="2500000"/>
            <a:ext cx="1200000" cy="80000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200"/>
              </a:spcAft>
            </a:pPr>
            <a:r>
              <a:rPr lang="de-DE" sz="2400" dirty="0">
                <a:solidFill>
                  <a:srgbClr val="FFD440"/>
                </a:solidFill>
                <a:latin typeface="Open Sans"/>
              </a:rPr>
              <a:t>↔</a:t>
            </a:r>
          </a:p>
          <a:p>
            <a:pPr algn="ctr"/>
            <a:r>
              <a:rPr lang="de-DE" sz="1200" dirty="0">
                <a:solidFill>
                  <a:srgbClr val="4A5568"/>
                </a:solidFill>
                <a:latin typeface="Consolas"/>
              </a:rPr>
              <a:t>POST /api/v1/chat</a:t>
            </a:r>
          </a:p>
        </p:txBody>
      </p:sp>
      <p:sp>
        <p:nvSpPr>
          <p:cNvPr id="372" name="Spring"/>
          <p:cNvSpPr/>
          <p:nvPr/>
        </p:nvSpPr>
        <p:spPr>
          <a:xfrm>
            <a:off x="4700000" y="2000000"/>
            <a:ext cx="2800000" cy="1800000"/>
          </a:xfrm>
          <a:prstGeom prst="roundRect">
            <a:avLst>
              <a:gd name="adj" fmla="val 8000"/>
            </a:avLst>
          </a:prstGeom>
          <a:solidFill>
            <a:srgbClr val="3F59FF"/>
          </a:solidFill>
          <a:ln>
            <a:noFill/>
          </a:ln>
        </p:spPr>
        <p:txBody>
          <a:bodyPr wrap="square" lIns="91440" rIns="91440" anchor="ctr"/>
          <a:lstStyle/>
          <a:p>
            <a:pPr algn="ctr">
              <a:spcAft>
                <a:spcPts val="300"/>
              </a:spcAft>
            </a:pPr>
            <a:r>
              <a:rPr lang="de-DE" sz="2000" b="1" dirty="0">
                <a:solidFill>
                  <a:srgbClr val="FFFFFF"/>
                </a:solidFill>
                <a:latin typeface="Open Sans"/>
              </a:rPr>
              <a:t>Spring Boot Backend</a:t>
            </a:r>
          </a:p>
          <a:p>
            <a:pPr algn="ctr"/>
            <a:r>
              <a:rPr lang="de-DE" sz="1400" dirty="0">
                <a:solidFill>
                  <a:srgbClr val="C7D2FE"/>
                </a:solidFill>
                <a:latin typeface="Consolas"/>
              </a:rPr>
              <a:t>localhost:8080</a:t>
            </a:r>
          </a:p>
        </p:txBody>
      </p:sp>
      <p:sp>
        <p:nvSpPr>
          <p:cNvPr id="373" name="Arr2"/>
          <p:cNvSpPr/>
          <p:nvPr/>
        </p:nvSpPr>
        <p:spPr>
          <a:xfrm>
            <a:off x="7700000" y="2600000"/>
            <a:ext cx="1200000" cy="60000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2400" dirty="0">
                <a:solidFill>
                  <a:srgbClr val="FFD440"/>
                </a:solidFill>
                <a:latin typeface="Open Sans"/>
              </a:rPr>
              <a:t>↔</a:t>
            </a:r>
          </a:p>
        </p:txBody>
      </p:sp>
      <p:sp>
        <p:nvSpPr>
          <p:cNvPr id="374" name="Claude"/>
          <p:cNvSpPr/>
          <p:nvPr/>
        </p:nvSpPr>
        <p:spPr>
          <a:xfrm>
            <a:off x="9000000" y="2000000"/>
            <a:ext cx="2600000" cy="1800000"/>
          </a:xfrm>
          <a:prstGeom prst="roundRect">
            <a:avLst>
              <a:gd name="adj" fmla="val 8000"/>
            </a:avLst>
          </a:prstGeom>
          <a:solidFill>
            <a:srgbClr val="3F59FF"/>
          </a:solidFill>
          <a:ln>
            <a:noFill/>
          </a:ln>
        </p:spPr>
        <p:txBody>
          <a:bodyPr wrap="square" lIns="91440" rIns="91440" anchor="ctr"/>
          <a:lstStyle/>
          <a:p>
            <a:pPr algn="ctr"/>
            <a:r>
              <a:rPr lang="de-DE" sz="2000" b="1" dirty="0">
                <a:solidFill>
                  <a:srgbClr val="FFFFFF"/>
                </a:solidFill>
                <a:latin typeface="Open Sans"/>
              </a:rPr>
              <a:t>Claude API</a:t>
            </a:r>
          </a:p>
        </p:txBody>
      </p:sp>
    </p:spTree>
    <p:extLst>
      <p:ext uri="{BB962C8B-B14F-4D97-AF65-F5344CB8AC3E}">
        <p14:creationId xmlns:p14="http://schemas.microsoft.com/office/powerpoint/2010/main" val="3090470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65165D-9B21-EFF0-5EE2-FC62ACCE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Hands-on — Ablauf</a:t>
            </a:r>
          </a:p>
        </p:txBody>
      </p:sp>
      <p:sp>
        <p:nvSpPr>
          <p:cNvPr id="380" name="T1H"/>
          <p:cNvSpPr/>
          <p:nvPr/>
        </p:nvSpPr>
        <p:spPr>
          <a:xfrm>
            <a:off x="400000" y="1500000"/>
            <a:ext cx="5400000" cy="500000"/>
          </a:xfrm>
          <a:prstGeom prst="roundRect">
            <a:avLst>
              <a:gd name="adj" fmla="val 15000"/>
            </a:avLst>
          </a:prstGeom>
          <a:solidFill>
            <a:srgbClr val="212B80"/>
          </a:solidFill>
          <a:ln>
            <a:noFill/>
          </a:ln>
        </p:spPr>
        <p:txBody>
          <a:bodyPr lIns="137160" anchor="ctr"/>
          <a:lstStyle/>
          <a:p>
            <a:r>
              <a:rPr lang="de-DE" sz="2000" b="1" dirty="0">
                <a:solidFill>
                  <a:srgbClr val="FFFFFF"/>
                </a:solidFill>
                <a:latin typeface="Open Sans"/>
              </a:rPr>
              <a:t>Teil 1: Claude Code — Backend</a:t>
            </a:r>
          </a:p>
        </p:txBody>
      </p:sp>
      <p:sp>
        <p:nvSpPr>
          <p:cNvPr id="381" name="T1C"/>
          <p:cNvSpPr/>
          <p:nvPr/>
        </p:nvSpPr>
        <p:spPr>
          <a:xfrm>
            <a:off x="400000" y="2100000"/>
            <a:ext cx="5400000" cy="24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212B80"/>
            </a:solidFill>
          </a:ln>
        </p:spPr>
        <p:txBody>
          <a:bodyPr wrap="square" lIns="137160" tIns="91440" anchor="t"/>
          <a:lstStyle/>
          <a:p>
            <a:pPr>
              <a:spcAft>
                <a:spcPts val="300"/>
              </a:spcAft>
            </a:pPr>
            <a:r>
              <a:rPr lang="de-DE" sz="1600" b="1" dirty="0">
                <a:solidFill>
                  <a:srgbClr val="212B80"/>
                </a:solidFill>
                <a:latin typeface="Open Sans"/>
              </a:rPr>
              <a:t>Spring Boot Backend:</a:t>
            </a:r>
          </a:p>
          <a:p>
            <a:pPr>
              <a:spcAft>
                <a:spcPts val="200"/>
              </a:spcAft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Setup</a:t>
            </a:r>
          </a:p>
          <a:p>
            <a:pPr>
              <a:spcAft>
                <a:spcPts val="200"/>
              </a:spcAft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Plan erstellen</a:t>
            </a:r>
          </a:p>
          <a:p>
            <a:pPr>
              <a:spcAft>
                <a:spcPts val="200"/>
              </a:spcAft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DTOs implementieren</a:t>
            </a:r>
          </a:p>
          <a:p>
            <a:pPr>
              <a:spcAft>
                <a:spcPts val="200"/>
              </a:spcAft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LlmService bauen</a:t>
            </a:r>
          </a:p>
          <a:p>
            <a:pPr>
              <a:spcAft>
                <a:spcPts val="200"/>
              </a:spcAft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ChatController</a:t>
            </a:r>
          </a:p>
          <a:p>
            <a:pPr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Test</a:t>
            </a:r>
          </a:p>
        </p:txBody>
      </p:sp>
      <p:sp>
        <p:nvSpPr>
          <p:cNvPr id="382" name="T2H"/>
          <p:cNvSpPr/>
          <p:nvPr/>
        </p:nvSpPr>
        <p:spPr>
          <a:xfrm>
            <a:off x="6200000" y="1500000"/>
            <a:ext cx="5400000" cy="500000"/>
          </a:xfrm>
          <a:prstGeom prst="roundRect">
            <a:avLst>
              <a:gd name="adj" fmla="val 15000"/>
            </a:avLst>
          </a:prstGeom>
          <a:solidFill>
            <a:srgbClr val="212B80"/>
          </a:solidFill>
          <a:ln>
            <a:noFill/>
          </a:ln>
        </p:spPr>
        <p:txBody>
          <a:bodyPr lIns="137160" anchor="ctr"/>
          <a:lstStyle/>
          <a:p>
            <a:r>
              <a:rPr lang="de-DE" sz="2000" b="1" dirty="0">
                <a:solidFill>
                  <a:srgbClr val="FFFFFF"/>
                </a:solidFill>
                <a:latin typeface="Open Sans"/>
              </a:rPr>
              <a:t>Teil 2: Copilot — Frontend</a:t>
            </a:r>
          </a:p>
        </p:txBody>
      </p:sp>
      <p:sp>
        <p:nvSpPr>
          <p:cNvPr id="383" name="T2C"/>
          <p:cNvSpPr/>
          <p:nvPr/>
        </p:nvSpPr>
        <p:spPr>
          <a:xfrm>
            <a:off x="6200000" y="2100000"/>
            <a:ext cx="5400000" cy="240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FD440"/>
            </a:solidFill>
          </a:ln>
        </p:spPr>
        <p:txBody>
          <a:bodyPr wrap="square" lIns="137160" tIns="91440" anchor="t"/>
          <a:lstStyle/>
          <a:p>
            <a:pPr>
              <a:spcAft>
                <a:spcPts val="300"/>
              </a:spcAft>
            </a:pPr>
            <a:r>
              <a:rPr lang="de-DE" sz="1600" b="1" dirty="0">
                <a:solidFill>
                  <a:srgbClr val="FFD440"/>
                </a:solidFill>
                <a:latin typeface="Open Sans"/>
              </a:rPr>
              <a:t>Vue.js Frontend:</a:t>
            </a:r>
          </a:p>
          <a:p>
            <a:pPr>
              <a:spcAft>
                <a:spcPts val="200"/>
              </a:spcAft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Vite-Projekt anlegen</a:t>
            </a:r>
          </a:p>
          <a:p>
            <a:pPr>
              <a:spcAft>
                <a:spcPts val="200"/>
              </a:spcAft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Pinia Store erstellen</a:t>
            </a:r>
          </a:p>
          <a:p>
            <a:pPr>
              <a:spcAft>
                <a:spcPts val="200"/>
              </a:spcAft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ChatWindow Komponente</a:t>
            </a:r>
          </a:p>
          <a:p>
            <a:pPr>
              <a:spcAft>
                <a:spcPts val="200"/>
              </a:spcAft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Typing Indicator</a:t>
            </a:r>
          </a:p>
          <a:p>
            <a:pPr>
              <a:buFont typeface="Arial"/>
              <a:buChar char="→"/>
            </a:pPr>
            <a:r>
              <a:rPr lang="de-DE" sz="1500" dirty="0">
                <a:solidFill>
                  <a:srgbClr val="212121"/>
                </a:solidFill>
                <a:latin typeface="Open Sans"/>
              </a:rPr>
              <a:t> Mit Backend verbinden</a:t>
            </a:r>
          </a:p>
        </p:txBody>
      </p:sp>
    </p:spTree>
    <p:extLst>
      <p:ext uri="{BB962C8B-B14F-4D97-AF65-F5344CB8AC3E}">
        <p14:creationId xmlns:p14="http://schemas.microsoft.com/office/powerpoint/2010/main" val="1747075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FAB33-C48C-91DC-A708-201FBBE8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Context-Window-Management</a:t>
            </a:r>
          </a:p>
        </p:txBody>
      </p:sp>
      <p:sp>
        <p:nvSpPr>
          <p:cNvPr id="400" name="BL0"/>
          <p:cNvSpPr/>
          <p:nvPr/>
        </p:nvSpPr>
        <p:spPr>
          <a:xfrm>
            <a:off x="300000" y="150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lIns="0" rIns="45720" anchor="ctr"/>
          <a:lstStyle/>
          <a:p>
            <a:pPr algn="r"/>
            <a:r>
              <a:rPr lang="de-DE" sz="1400" b="1" dirty="0">
                <a:solidFill>
                  <a:srgbClr val="212121"/>
                </a:solidFill>
                <a:latin typeface="Open Sans"/>
              </a:rPr>
              <a:t>Neuer Chat</a:t>
            </a:r>
          </a:p>
        </p:txBody>
      </p:sp>
      <p:sp>
        <p:nvSpPr>
          <p:cNvPr id="401" name="BBg0"/>
          <p:cNvSpPr/>
          <p:nvPr/>
        </p:nvSpPr>
        <p:spPr>
          <a:xfrm>
            <a:off x="2200000" y="155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E8EB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02" name="BF0"/>
          <p:cNvSpPr/>
          <p:nvPr/>
        </p:nvSpPr>
        <p:spPr>
          <a:xfrm>
            <a:off x="2200000" y="1550000"/>
            <a:ext cx="300000" cy="250000"/>
          </a:xfrm>
          <a:prstGeom prst="roundRect">
            <a:avLst>
              <a:gd name="adj" fmla="val 25000"/>
            </a:avLst>
          </a:prstGeom>
          <a:solidFill>
            <a:srgbClr val="3F59FF"/>
          </a:solidFill>
          <a:ln>
            <a:noFill/>
          </a:ln>
        </p:spPr>
        <p:txBody>
          <a:bodyPr lIns="91440" anchor="ctr"/>
          <a:lstStyle/>
          <a:p>
            <a:r>
              <a:rPr lang="de-DE" sz="1200" b="1" dirty="0">
                <a:solidFill>
                  <a:srgbClr val="212121"/>
                </a:solidFill>
                <a:latin typeface="Open Sans"/>
              </a:rPr>
              <a:t>5%</a:t>
            </a:r>
          </a:p>
        </p:txBody>
      </p:sp>
      <p:sp>
        <p:nvSpPr>
          <p:cNvPr id="403" name="BL1"/>
          <p:cNvSpPr/>
          <p:nvPr/>
        </p:nvSpPr>
        <p:spPr>
          <a:xfrm>
            <a:off x="300000" y="195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lIns="0" rIns="45720" anchor="ctr"/>
          <a:lstStyle/>
          <a:p>
            <a:pPr algn="r"/>
            <a:r>
              <a:rPr lang="de-DE" sz="1400" b="1" dirty="0">
                <a:solidFill>
                  <a:srgbClr val="212121"/>
                </a:solidFill>
                <a:latin typeface="Open Sans"/>
              </a:rPr>
              <a:t>Nach 30 Min</a:t>
            </a:r>
          </a:p>
        </p:txBody>
      </p:sp>
      <p:sp>
        <p:nvSpPr>
          <p:cNvPr id="404" name="BBg1"/>
          <p:cNvSpPr/>
          <p:nvPr/>
        </p:nvSpPr>
        <p:spPr>
          <a:xfrm>
            <a:off x="2200000" y="200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E8EB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05" name="BF1"/>
          <p:cNvSpPr/>
          <p:nvPr/>
        </p:nvSpPr>
        <p:spPr>
          <a:xfrm>
            <a:off x="2200000" y="2000000"/>
            <a:ext cx="2400000" cy="250000"/>
          </a:xfrm>
          <a:prstGeom prst="roundRect">
            <a:avLst>
              <a:gd name="adj" fmla="val 25000"/>
            </a:avLst>
          </a:prstGeom>
          <a:solidFill>
            <a:srgbClr val="3F59FF"/>
          </a:solidFill>
          <a:ln>
            <a:noFill/>
          </a:ln>
        </p:spPr>
        <p:txBody>
          <a:bodyPr lIns="91440" anchor="ctr"/>
          <a:lstStyle/>
          <a:p>
            <a:r>
              <a:rPr lang="de-DE" sz="1200" b="1" dirty="0">
                <a:solidFill>
                  <a:srgbClr val="212121"/>
                </a:solidFill>
                <a:latin typeface="Open Sans"/>
              </a:rPr>
              <a:t>40%</a:t>
            </a:r>
          </a:p>
        </p:txBody>
      </p:sp>
      <p:sp>
        <p:nvSpPr>
          <p:cNvPr id="406" name="BL2"/>
          <p:cNvSpPr/>
          <p:nvPr/>
        </p:nvSpPr>
        <p:spPr>
          <a:xfrm>
            <a:off x="300000" y="240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lIns="0" rIns="45720" anchor="ctr"/>
          <a:lstStyle/>
          <a:p>
            <a:pPr algn="r"/>
            <a:r>
              <a:rPr lang="de-DE" sz="1400" b="1" dirty="0">
                <a:solidFill>
                  <a:srgbClr val="212121"/>
                </a:solidFill>
                <a:latin typeface="Open Sans"/>
              </a:rPr>
              <a:t>Nach 2h</a:t>
            </a:r>
          </a:p>
        </p:txBody>
      </p:sp>
      <p:sp>
        <p:nvSpPr>
          <p:cNvPr id="407" name="BBg2"/>
          <p:cNvSpPr/>
          <p:nvPr/>
        </p:nvSpPr>
        <p:spPr>
          <a:xfrm>
            <a:off x="2200000" y="245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E8EB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08" name="BF2"/>
          <p:cNvSpPr/>
          <p:nvPr/>
        </p:nvSpPr>
        <p:spPr>
          <a:xfrm>
            <a:off x="2200000" y="2450000"/>
            <a:ext cx="4200000" cy="250000"/>
          </a:xfrm>
          <a:prstGeom prst="roundRect">
            <a:avLst>
              <a:gd name="adj" fmla="val 25000"/>
            </a:avLst>
          </a:prstGeom>
          <a:solidFill>
            <a:srgbClr val="3F59FF"/>
          </a:solidFill>
          <a:ln>
            <a:noFill/>
          </a:ln>
        </p:spPr>
        <p:txBody>
          <a:bodyPr lIns="91440" anchor="ctr"/>
          <a:lstStyle/>
          <a:p>
            <a:r>
              <a:rPr lang="de-DE" sz="1200" b="1" dirty="0">
                <a:solidFill>
                  <a:srgbClr val="FFFFFF"/>
                </a:solidFill>
                <a:latin typeface="Open Sans"/>
              </a:rPr>
              <a:t>70%</a:t>
            </a:r>
          </a:p>
        </p:txBody>
      </p:sp>
      <p:sp>
        <p:nvSpPr>
          <p:cNvPr id="409" name="BL3"/>
          <p:cNvSpPr/>
          <p:nvPr/>
        </p:nvSpPr>
        <p:spPr>
          <a:xfrm>
            <a:off x="300000" y="285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lIns="0" rIns="45720" anchor="ctr"/>
          <a:lstStyle/>
          <a:p>
            <a:pPr algn="r"/>
            <a:r>
              <a:rPr lang="de-DE" sz="1400" b="1" dirty="0">
                <a:solidFill>
                  <a:srgbClr val="212121"/>
                </a:solidFill>
                <a:latin typeface="Open Sans"/>
              </a:rPr>
              <a:t>Voll</a:t>
            </a:r>
          </a:p>
        </p:txBody>
      </p:sp>
      <p:sp>
        <p:nvSpPr>
          <p:cNvPr id="410" name="BBg3"/>
          <p:cNvSpPr/>
          <p:nvPr/>
        </p:nvSpPr>
        <p:spPr>
          <a:xfrm>
            <a:off x="2200000" y="290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E8EB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11" name="BF3"/>
          <p:cNvSpPr/>
          <p:nvPr/>
        </p:nvSpPr>
        <p:spPr>
          <a:xfrm>
            <a:off x="2200000" y="290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3F59FF"/>
          </a:solidFill>
          <a:ln>
            <a:noFill/>
          </a:ln>
        </p:spPr>
        <p:txBody>
          <a:bodyPr lIns="91440" anchor="ctr"/>
          <a:lstStyle/>
          <a:p>
            <a:r>
              <a:rPr lang="de-DE" sz="1200" b="1" dirty="0">
                <a:solidFill>
                  <a:srgbClr val="FFFFFF"/>
                </a:solidFill>
                <a:latin typeface="Open Sans"/>
              </a:rPr>
              <a:t>100%</a:t>
            </a:r>
          </a:p>
        </p:txBody>
      </p:sp>
      <p:sp>
        <p:nvSpPr>
          <p:cNvPr id="420" name="StratH"/>
          <p:cNvSpPr/>
          <p:nvPr/>
        </p:nvSpPr>
        <p:spPr>
          <a:xfrm>
            <a:off x="300000" y="3500000"/>
            <a:ext cx="11400000" cy="4000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anchor="b"/>
          <a:lstStyle/>
          <a:p>
            <a:r>
              <a:rPr lang="de-DE" sz="1600" b="1" dirty="0">
                <a:solidFill>
                  <a:srgbClr val="212B80"/>
                </a:solidFill>
                <a:latin typeface="Open Sans"/>
              </a:rPr>
              <a:t>Strategien:</a:t>
            </a:r>
          </a:p>
        </p:txBody>
      </p:sp>
      <p:sp>
        <p:nvSpPr>
          <p:cNvPr id="421" name="Strat0"/>
          <p:cNvSpPr/>
          <p:nvPr/>
        </p:nvSpPr>
        <p:spPr>
          <a:xfrm>
            <a:off x="300000" y="3950000"/>
            <a:ext cx="3600000" cy="9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9050">
            <a:solidFill>
              <a:srgbClr val="3F59FF"/>
            </a:solidFill>
          </a:ln>
        </p:spPr>
        <p:txBody>
          <a:bodyPr wrap="square" lIns="137160" rIns="91440" anchor="ctr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666666"/>
                </a:solidFill>
                <a:latin typeface="Open Sans"/>
              </a:rPr>
              <a:t>Feature fertig</a:t>
            </a:r>
          </a:p>
          <a:p>
            <a:r>
              <a:rPr lang="de-DE" sz="1600" b="1" dirty="0">
                <a:solidFill>
                  <a:srgbClr val="212B80"/>
                </a:solidFill>
                <a:latin typeface="Open Sans"/>
              </a:rPr>
              <a:t>Neuen Chat starten</a:t>
            </a:r>
          </a:p>
        </p:txBody>
      </p:sp>
      <p:sp>
        <p:nvSpPr>
          <p:cNvPr id="422" name="Strat1"/>
          <p:cNvSpPr/>
          <p:nvPr/>
        </p:nvSpPr>
        <p:spPr>
          <a:xfrm>
            <a:off x="4200000" y="3950000"/>
            <a:ext cx="3600000" cy="9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9050">
            <a:solidFill>
              <a:srgbClr val="3F59FF"/>
            </a:solidFill>
          </a:ln>
        </p:spPr>
        <p:txBody>
          <a:bodyPr wrap="square" lIns="137160" rIns="91440" anchor="ctr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666666"/>
                </a:solidFill>
                <a:latin typeface="Open Sans"/>
              </a:rPr>
              <a:t>Context voll</a:t>
            </a:r>
          </a:p>
          <a:p>
            <a:r>
              <a:rPr lang="de-DE" sz="1600" b="1" dirty="0">
                <a:solidFill>
                  <a:srgbClr val="212B80"/>
                </a:solidFill>
                <a:latin typeface="Open Sans"/>
              </a:rPr>
              <a:t>/compact</a:t>
            </a:r>
          </a:p>
        </p:txBody>
      </p:sp>
      <p:sp>
        <p:nvSpPr>
          <p:cNvPr id="423" name="Strat2"/>
          <p:cNvSpPr/>
          <p:nvPr/>
        </p:nvSpPr>
        <p:spPr>
          <a:xfrm>
            <a:off x="8100000" y="3950000"/>
            <a:ext cx="3600000" cy="9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9050">
            <a:solidFill>
              <a:srgbClr val="3F59FF"/>
            </a:solidFill>
          </a:ln>
        </p:spPr>
        <p:txBody>
          <a:bodyPr wrap="square" lIns="137160" rIns="91440" anchor="ctr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666666"/>
                </a:solidFill>
                <a:latin typeface="Open Sans"/>
              </a:rPr>
              <a:t>Großes Feature</a:t>
            </a:r>
          </a:p>
          <a:p>
            <a:r>
              <a:rPr lang="de-DE" sz="1600" b="1" dirty="0">
                <a:solidFill>
                  <a:srgbClr val="212B80"/>
                </a:solidFill>
                <a:latin typeface="Open Sans"/>
              </a:rPr>
              <a:t>Sub-Agents von Anfang an</a:t>
            </a:r>
          </a:p>
        </p:txBody>
      </p:sp>
      <p:sp>
        <p:nvSpPr>
          <p:cNvPr id="430" name="Rule"/>
          <p:cNvSpPr/>
          <p:nvPr/>
        </p:nvSpPr>
        <p:spPr>
          <a:xfrm>
            <a:off x="2000000" y="5200000"/>
            <a:ext cx="8000000" cy="500000"/>
          </a:xfrm>
          <a:prstGeom prst="roundRect">
            <a:avLst/>
          </a:prstGeom>
          <a:solidFill>
            <a:srgbClr val="212B80"/>
          </a:solidFill>
          <a:ln>
            <a:noFill/>
          </a:ln>
        </p:spPr>
        <p:txBody>
          <a:bodyPr lIns="137160" anchor="ctr"/>
          <a:lstStyle/>
          <a:p>
            <a:pPr algn="ctr"/>
            <a:r>
              <a:rPr lang="de-DE" sz="1800" b="1" dirty="0">
                <a:solidFill>
                  <a:srgbClr val="FFD440"/>
                </a:solidFill>
                <a:latin typeface="Open Sans"/>
              </a:rPr>
              <a:t>Faustregel: Ein Chat = ein Feature</a:t>
            </a:r>
          </a:p>
        </p:txBody>
      </p:sp>
    </p:spTree>
    <p:extLst>
      <p:ext uri="{BB962C8B-B14F-4D97-AF65-F5344CB8AC3E}">
        <p14:creationId xmlns:p14="http://schemas.microsoft.com/office/powerpoint/2010/main" val="1876910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69E360-5CC2-69EC-7502-461767C8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Zusammenfassung — Tag 1</a:t>
            </a:r>
          </a:p>
        </p:txBody>
      </p:sp>
      <p:sp>
        <p:nvSpPr>
          <p:cNvPr id="390" name="Num0"/>
          <p:cNvSpPr/>
          <p:nvPr/>
        </p:nvSpPr>
        <p:spPr>
          <a:xfrm>
            <a:off x="600000" y="1500000"/>
            <a:ext cx="550000" cy="55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2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391" name="Text0"/>
          <p:cNvSpPr/>
          <p:nvPr/>
        </p:nvSpPr>
        <p:spPr>
          <a:xfrm>
            <a:off x="1400000" y="1500000"/>
            <a:ext cx="10000000" cy="550000"/>
          </a:xfrm>
          <a:prstGeom prst="rect">
            <a:avLst/>
          </a:prstGeom>
          <a:noFill/>
          <a:ln>
            <a:noFill/>
          </a:ln>
        </p:spPr>
        <p:txBody>
          <a:bodyPr lIns="91440" anchor="ctr"/>
          <a:lstStyle/>
          <a:p>
            <a:r>
              <a:rPr lang="de-DE" sz="1800" dirty="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LLMs sind Wahrscheinlichkeits-Maschinen — immer verifizieren</a:t>
            </a:r>
          </a:p>
        </p:txBody>
      </p:sp>
      <p:sp>
        <p:nvSpPr>
          <p:cNvPr id="392" name="Num1"/>
          <p:cNvSpPr/>
          <p:nvPr/>
        </p:nvSpPr>
        <p:spPr>
          <a:xfrm>
            <a:off x="600000" y="2400000"/>
            <a:ext cx="550000" cy="55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2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393" name="Text1"/>
          <p:cNvSpPr/>
          <p:nvPr/>
        </p:nvSpPr>
        <p:spPr>
          <a:xfrm>
            <a:off x="1400000" y="2400000"/>
            <a:ext cx="10000000" cy="550000"/>
          </a:xfrm>
          <a:prstGeom prst="rect">
            <a:avLst/>
          </a:prstGeom>
          <a:noFill/>
          <a:ln>
            <a:noFill/>
          </a:ln>
        </p:spPr>
        <p:txBody>
          <a:bodyPr lIns="91440" anchor="ctr"/>
          <a:lstStyle/>
          <a:p>
            <a:r>
              <a:rPr lang="de-DE" sz="1800" dirty="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Entwickler = Problem Solver, KI = Umsetzer</a:t>
            </a:r>
          </a:p>
        </p:txBody>
      </p:sp>
      <p:sp>
        <p:nvSpPr>
          <p:cNvPr id="394" name="Num2"/>
          <p:cNvSpPr/>
          <p:nvPr/>
        </p:nvSpPr>
        <p:spPr>
          <a:xfrm>
            <a:off x="600000" y="3300000"/>
            <a:ext cx="550000" cy="55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2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395" name="Text2"/>
          <p:cNvSpPr/>
          <p:nvPr/>
        </p:nvSpPr>
        <p:spPr>
          <a:xfrm>
            <a:off x="1400000" y="3300000"/>
            <a:ext cx="10000000" cy="550000"/>
          </a:xfrm>
          <a:prstGeom prst="rect">
            <a:avLst/>
          </a:prstGeom>
          <a:noFill/>
          <a:ln>
            <a:noFill/>
          </a:ln>
        </p:spPr>
        <p:txBody>
          <a:bodyPr lIns="91440" anchor="ctr"/>
          <a:lstStyle/>
          <a:p>
            <a:r>
              <a:rPr lang="de-DE" sz="1800" dirty="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KERNEL-Framework für systematisch bessere Prompts</a:t>
            </a:r>
          </a:p>
        </p:txBody>
      </p:sp>
      <p:sp>
        <p:nvSpPr>
          <p:cNvPr id="396" name="Num3"/>
          <p:cNvSpPr/>
          <p:nvPr/>
        </p:nvSpPr>
        <p:spPr>
          <a:xfrm>
            <a:off x="600000" y="4200000"/>
            <a:ext cx="550000" cy="55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2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397" name="Text3"/>
          <p:cNvSpPr/>
          <p:nvPr/>
        </p:nvSpPr>
        <p:spPr>
          <a:xfrm>
            <a:off x="1400000" y="4200000"/>
            <a:ext cx="10000000" cy="550000"/>
          </a:xfrm>
          <a:prstGeom prst="rect">
            <a:avLst/>
          </a:prstGeom>
          <a:noFill/>
          <a:ln>
            <a:noFill/>
          </a:ln>
        </p:spPr>
        <p:txBody>
          <a:bodyPr lIns="91440" anchor="ctr"/>
          <a:lstStyle/>
          <a:p>
            <a:r>
              <a:rPr lang="de-DE" sz="1800" dirty="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CLAUDE.md + MEMORY.md = KI kennt euer Projekt</a:t>
            </a:r>
          </a:p>
        </p:txBody>
      </p:sp>
      <p:sp>
        <p:nvSpPr>
          <p:cNvPr id="398" name="Num4"/>
          <p:cNvSpPr/>
          <p:nvPr/>
        </p:nvSpPr>
        <p:spPr>
          <a:xfrm>
            <a:off x="600000" y="5100000"/>
            <a:ext cx="550000" cy="55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2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399" name="Text4"/>
          <p:cNvSpPr/>
          <p:nvPr/>
        </p:nvSpPr>
        <p:spPr>
          <a:xfrm>
            <a:off x="1400000" y="5100000"/>
            <a:ext cx="10000000" cy="550000"/>
          </a:xfrm>
          <a:prstGeom prst="rect">
            <a:avLst/>
          </a:prstGeom>
          <a:noFill/>
          <a:ln>
            <a:noFill/>
          </a:ln>
        </p:spPr>
        <p:txBody>
          <a:bodyPr lIns="91440" anchor="ctr"/>
          <a:lstStyle/>
          <a:p>
            <a:r>
              <a:rPr lang="de-DE" sz="1800" dirty="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Plan Mode → Implementierung → Verifikation → 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427644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AI Blueprint v2">
      <a:dk1>
        <a:srgbClr val="212121"/>
      </a:dk1>
      <a:lt1>
        <a:srgbClr val="FFFFFF"/>
      </a:lt1>
      <a:dk2>
        <a:srgbClr val="212B80"/>
      </a:dk2>
      <a:lt2>
        <a:srgbClr val="F5F5F5"/>
      </a:lt2>
      <a:accent1>
        <a:srgbClr val="3F59FF"/>
      </a:accent1>
      <a:accent2>
        <a:srgbClr val="FFD440"/>
      </a:accent2>
      <a:accent3>
        <a:srgbClr val="212B80"/>
      </a:accent3>
      <a:accent4>
        <a:srgbClr val="6B7FFF"/>
      </a:accent4>
      <a:accent5>
        <a:srgbClr val="FF6B6B"/>
      </a:accent5>
      <a:accent6>
        <a:srgbClr val="34D399"/>
      </a:accent6>
      <a:hlink>
        <a:srgbClr val="467886"/>
      </a:hlink>
      <a:folHlink>
        <a:srgbClr val="96607D"/>
      </a:folHlink>
    </a:clrScheme>
    <a:fontScheme name="AI Blueprint v2 Fonts">
      <a:majorFont>
        <a:latin typeface="Open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102C46-22B6-9045-93C9-A26A21346E9B}">
  <we:reference id="wa200010001" version="1.0.0.0" store="de-DE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1289</Words>
  <Application>Microsoft Macintosh PowerPoint</Application>
  <PresentationFormat>Breitbild</PresentationFormat>
  <Paragraphs>326</Paragraphs>
  <Slides>28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2" baseType="lpstr">
      <vt:lpstr>Arial</vt:lpstr>
      <vt:lpstr>Consolas</vt:lpstr>
      <vt:lpstr>Open Sans</vt:lpstr>
      <vt:lpstr>Office</vt:lpstr>
      <vt:lpstr>PowerPoint-Präsentation</vt:lpstr>
      <vt:lpstr>Agenda — Tag 1</vt:lpstr>
      <vt:lpstr>Wie ein LLM technisch arbeitet</vt:lpstr>
      <vt:lpstr>3 typische Code-Halluzinationen</vt:lpstr>
      <vt:lpstr>Der Mindset-Shift</vt:lpstr>
      <vt:lpstr>Der Paradigmenwechsel im Detail</vt:lpstr>
      <vt:lpstr>Was das fürs Unternehmen heißt</vt:lpstr>
      <vt:lpstr>Vibe Coding — Was ist das?</vt:lpstr>
      <vt:lpstr>Vibe Coding — Der Unterschied</vt:lpstr>
      <vt:lpstr>KERNEL-Framework — Übersicht</vt:lpstr>
      <vt:lpstr>K — Keep it simple</vt:lpstr>
      <vt:lpstr>E — Explicit constraints</vt:lpstr>
      <vt:lpstr>R — Reproducible results</vt:lpstr>
      <vt:lpstr>N — Narrow scope</vt:lpstr>
      <vt:lpstr>E — Easy to verify</vt:lpstr>
      <vt:lpstr>L — Logical structure + KERNEL-Gesamtbeispiel</vt:lpstr>
      <vt:lpstr>Erweiterte Prompting-Techniken</vt:lpstr>
      <vt:lpstr>Tool-Vergleich</vt:lpstr>
      <vt:lpstr>CLAUDE.md — Projektkontext geben</vt:lpstr>
      <vt:lpstr>Rules &amp; Plugins</vt:lpstr>
      <vt:lpstr>MEMORY.md — Projektgedächtnis</vt:lpstr>
      <vt:lpstr>Plan Mode &amp; Verifikation</vt:lpstr>
      <vt:lpstr>Ollama — Lokale KI</vt:lpstr>
      <vt:lpstr>Datenschutz-Regeln</vt:lpstr>
      <vt:lpstr>Hands-on Aufgabe — Architektur</vt:lpstr>
      <vt:lpstr>Hands-on — Ablauf</vt:lpstr>
      <vt:lpstr>Context-Window-Management</vt:lpstr>
      <vt:lpstr>Zusammenfassung — Tag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Tkalcic</dc:creator>
  <cp:lastModifiedBy>Patrick Tkalcic</cp:lastModifiedBy>
  <cp:revision>6</cp:revision>
  <dcterms:created xsi:type="dcterms:W3CDTF">2026-03-09T11:18:59Z</dcterms:created>
  <dcterms:modified xsi:type="dcterms:W3CDTF">2026-03-09T12:40:41Z</dcterms:modified>
</cp:coreProperties>
</file>