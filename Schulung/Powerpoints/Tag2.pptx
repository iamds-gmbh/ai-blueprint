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92" r:id="rId2"/>
    <p:sldId id="293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98" r:id="rId17"/>
    <p:sldId id="299" r:id="rId18"/>
    <p:sldId id="300" r:id="rId19"/>
    <p:sldId id="301" r:id="rId20"/>
    <p:sldId id="302" r:id="rId21"/>
    <p:sldId id="272" r:id="rId22"/>
    <p:sldId id="273" r:id="rId23"/>
    <p:sldId id="274" r:id="rId24"/>
    <p:sldId id="275" r:id="rId25"/>
    <p:sldId id="294" r:id="rId26"/>
    <p:sldId id="277" r:id="rId27"/>
    <p:sldId id="278" r:id="rId28"/>
    <p:sldId id="279" r:id="rId29"/>
    <p:sldId id="280" r:id="rId30"/>
    <p:sldId id="281" r:id="rId31"/>
    <p:sldId id="282" r:id="rId32"/>
    <p:sldId id="295" r:id="rId33"/>
    <p:sldId id="284" r:id="rId34"/>
    <p:sldId id="296" r:id="rId35"/>
    <p:sldId id="286" r:id="rId36"/>
    <p:sldId id="287" r:id="rId37"/>
    <p:sldId id="297" r:id="rId38"/>
    <p:sldId id="289" r:id="rId39"/>
    <p:sldId id="290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6"/>
    <p:restoredTop sz="94703"/>
  </p:normalViewPr>
  <p:slideViewPr>
    <p:cSldViewPr snapToGrid="0">
      <p:cViewPr varScale="1">
        <p:scale>
          <a:sx n="116" d="100"/>
          <a:sy n="116" d="100"/>
        </p:scale>
        <p:origin x="21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B7ACC-6F95-A617-7313-A7A8A622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38EE01-41D9-1C2A-643F-58BED677D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C5697A-8F9F-7733-BF28-50B7F0A1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650D11-29F2-9846-3999-DB05DD29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A24025-28C7-A8E3-EBE7-9A17D56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077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57ADC-BA3C-3415-EEF5-616BB056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53D9C-5F74-39C8-5887-B4E12EE4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5CA93D-94B4-99C1-1FC6-13233A80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F959B6-F142-959B-0B36-A1457649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D3E876-E198-E045-CE81-D5503A36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02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67A64-71C4-E915-2E1C-0DCABC27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FAEB8F-FD86-0489-4F52-E0455BF5C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666052-2F3E-4F2E-60D9-01E723E6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1EB02D-423A-5EC9-7D73-5194F789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BDA22A-2200-453A-8184-AD80F7F4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9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7FDDE-E58E-3D53-6B8E-61AB659A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8B3F27-6BCA-98DD-55B1-905BAADA3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DA7A0B-81D0-3B4D-6D78-6E6E0F10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BA081A-42E4-904B-0F0E-50934D7D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F39A86-97A2-4ECB-F033-7FC4EB60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33910-5148-489C-308E-D460382F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85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E6FCC-4F30-EF83-47E8-60ED0B6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9AC5BF-CCB1-13C6-2EDD-B435D3C7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E4E4A6-AA75-320F-801B-F421B299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9DF54A-BD45-CB64-CE87-6CAFD8F4E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EDF5FFF-B2AA-F991-3FF9-6DAE74E75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4E284E-B44B-3365-E2E2-99756453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06C8B3-0DEE-28C1-E021-6B7B41CD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7A407E-3478-4448-541A-10F5EBA8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9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CE367-AF33-CCA9-CEEE-D78F3FEF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D7A492-7F59-6E0A-8754-43B8719B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D24972-A130-9136-744D-8FCF3F3F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DFEFB2-C502-EDCE-F9D4-454ACA3D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245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1FF117-321A-D2E0-DBA2-737B86DF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A15986-352A-F598-EA90-BC98482C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E8BF86-5395-0C6F-547C-298C0A3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29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4F249-C7D6-90E2-4218-FCCBC605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5343E9-B07B-D11D-41BA-7D762B15F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49B530-A33D-BAD3-E474-4040287EF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84F021-DBFA-41C6-BAB6-5D89B6EB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C8E99C-0204-E16B-4BFB-79A728F5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D9B2D5-C03A-2B2C-5AB7-58F4991C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020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9A055-F82C-B284-8B6D-0ACB62B2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059F54-366A-66DE-828D-0E969FF26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84A890-2900-7797-DFAE-7BA4D1C37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A18260-6953-82B1-DBEA-6B8E087F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4F531E-B33C-F243-45CB-B3269EB5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48710F-2851-C22D-3860-99B890B0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725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B0B2A-C048-76D9-EFA5-0B445E47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B57B51-3B08-4A24-E4F9-75114FB1C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B84DE7-D0F5-C416-52AC-96C5AF03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E4A39D-0061-095D-876F-18576AF5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843498-0D12-AC47-350A-C6544936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80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281041-82D3-8F51-43D5-27F1535E7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C879643-B581-C428-4A7E-52BF135C0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1246E4-68E2-1E59-30D5-D52F0DC9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200483-3299-F96F-580F-3909769A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99C6BC-75B4-0C57-8239-9BA4B925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B7295A-AC7E-3C62-AD10-CD1C1045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5EC81B-8EF8-2F94-DEB1-F748CAE4C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07DB4A-F64A-C689-AE6C-F9A4032FB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D740A-CC24-904C-BBDB-A3AC12BD6AC8}" type="datetimeFigureOut">
              <a:rPr lang="de-DE" smtClean="0"/>
              <a:t>09.03.26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8209F0-41B7-5D47-6FC1-B133B1054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05266D-BBA4-CB70-92B0-902D91258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EF1F8-5226-994F-A0B4-EC4727C590A9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04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2B8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96686-4C2B-4C75-81F4-FCBF72D94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2603500"/>
            <a:ext cx="10160000" cy="762000"/>
          </a:xfrm>
        </p:spPr>
        <p:txBody>
          <a:bodyPr>
            <a:normAutofit/>
          </a:bodyPr>
          <a:lstStyle/>
          <a:p>
            <a:r>
              <a:rPr lang="de-DE" sz="3600" b="1"/>
              <a:t>Tag 2: KI als Coding-Partner + MCP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E7CA50-855E-AC15-4BE6-07BB73DCD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0" y="3683000"/>
            <a:ext cx="7112000" cy="508000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3F59FF"/>
                </a:solidFill>
              </a:rPr>
              <a:t>AI-Blueprint Schulung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85F136B-64E5-3049-8B17-C8693150E824}"/>
              </a:ext>
            </a:extLst>
          </p:cNvPr>
          <p:cNvSpPr/>
          <p:nvPr/>
        </p:nvSpPr>
        <p:spPr>
          <a:xfrm>
            <a:off x="4826000" y="3492500"/>
            <a:ext cx="2540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9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F7FB9-42FF-3BA7-4129-B14DE66F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Agenda — Tag 2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41B03B8B-CA6E-6F45-BF07-1BB55F9EA6EF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1333500"/>
          <a:ext cx="10160000" cy="4826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578123712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1983597791"/>
                    </a:ext>
                  </a:extLst>
                </a:gridCol>
              </a:tblGrid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Zeit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Thema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85549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09:00 – 09:30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Recap Tag 1 + Warm-up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343747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09:30 – 10:30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Theorie: KI als Coding Assistant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711828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10:30 – 11:00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Live-Demo: Kontext-Hierarchie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593712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11:00 – 12:00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Theorie: MCP-Protokoll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285865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9E8600"/>
                          </a:solidFill>
                          <a:latin typeface="Open Sans"/>
                          <a:ea typeface="Open Sans"/>
                          <a:cs typeface="Open Sans"/>
                        </a:rPr>
                        <a:t>12:00 – 12:45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9E8600"/>
                          </a:solidFill>
                          <a:latin typeface="Open Sans"/>
                          <a:ea typeface="Open Sans"/>
                          <a:cs typeface="Open Sans"/>
                        </a:rPr>
                        <a:t>Mittagspause</a:t>
                      </a:r>
                    </a:p>
                  </a:txBody>
                  <a:tcPr anchor="ctr"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427942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12:45 – 15:15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Hands-on: MCP-Server für PostgreSQL 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39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9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BA7A0-0577-7AFB-4FBA-F336DCFB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Das Problem — KI ohne Kontext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2E159EDB-7B41-0342-8130-9642DC0BF607}"/>
              </a:ext>
            </a:extLst>
          </p:cNvPr>
          <p:cNvSpPr/>
          <p:nvPr/>
        </p:nvSpPr>
        <p:spPr>
          <a:xfrm>
            <a:off x="508000" y="1778000"/>
            <a:ext cx="5334000" cy="3556000"/>
          </a:xfrm>
          <a:prstGeom prst="roundRect">
            <a:avLst/>
          </a:prstGeom>
          <a:solidFill>
            <a:srgbClr val="FFF0F0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162520B-B075-424E-A426-D48163D10464}"/>
              </a:ext>
            </a:extLst>
          </p:cNvPr>
          <p:cNvSpPr/>
          <p:nvPr/>
        </p:nvSpPr>
        <p:spPr>
          <a:xfrm>
            <a:off x="6350000" y="1778000"/>
            <a:ext cx="5334000" cy="3556000"/>
          </a:xfrm>
          <a:prstGeom prst="roundRect">
            <a:avLst/>
          </a:prstGeom>
          <a:solidFill>
            <a:srgbClr val="F0FFF0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05DE3B8-FB34-E04F-9AB7-30DE5AE0C44F}"/>
              </a:ext>
            </a:extLst>
          </p:cNvPr>
          <p:cNvSpPr txBox="1"/>
          <p:nvPr/>
        </p:nvSpPr>
        <p:spPr>
          <a:xfrm>
            <a:off x="698500" y="1778000"/>
            <a:ext cx="495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FF5252"/>
                </a:solidFill>
              </a:rPr>
              <a:t>OHNE Kontext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E289C5A-41B5-6A49-8B86-9095D1C9C22F}"/>
              </a:ext>
            </a:extLst>
          </p:cNvPr>
          <p:cNvSpPr txBox="1"/>
          <p:nvPr/>
        </p:nvSpPr>
        <p:spPr>
          <a:xfrm>
            <a:off x="698500" y="2349500"/>
            <a:ext cx="4953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"Füge einen Endpoint hinzu"
→ Generischer Code
→ Falsche Dependencies
→ Ignorierte Konventionen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BDF12B-620A-E144-9910-7A5D723D48D4}"/>
              </a:ext>
            </a:extLst>
          </p:cNvPr>
          <p:cNvSpPr txBox="1"/>
          <p:nvPr/>
        </p:nvSpPr>
        <p:spPr>
          <a:xfrm>
            <a:off x="6540500" y="1778000"/>
            <a:ext cx="4953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4CAF50"/>
                </a:solidFill>
              </a:rPr>
              <a:t>MIT Kontext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29542B-666D-2C40-97AC-504DC15AEB1D}"/>
              </a:ext>
            </a:extLst>
          </p:cNvPr>
          <p:cNvSpPr txBox="1"/>
          <p:nvPr/>
        </p:nvSpPr>
        <p:spPr>
          <a:xfrm>
            <a:off x="6540500" y="2349500"/>
            <a:ext cx="4953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Gleicher Prompt
→ Passt zum Projekt
→ Richtige Libraries
→ Team-Konventionen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4CB260-7E09-FF40-AF77-0B80CDADEF2F}"/>
              </a:ext>
            </a:extLst>
          </p:cNvPr>
          <p:cNvSpPr txBox="1"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Kontext aktiv liefern — nicht darauf warten, dass KI ihn findet.</a:t>
            </a:r>
          </a:p>
        </p:txBody>
      </p:sp>
    </p:spTree>
    <p:extLst>
      <p:ext uri="{BB962C8B-B14F-4D97-AF65-F5344CB8AC3E}">
        <p14:creationId xmlns:p14="http://schemas.microsoft.com/office/powerpoint/2010/main" val="85569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4D042-D42D-D18B-F666-9DC39A16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Die Kontext-Hierarchie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A99108D-8E31-864D-A905-912C7144E55C}"/>
              </a:ext>
            </a:extLst>
          </p:cNvPr>
          <p:cNvSpPr/>
          <p:nvPr/>
        </p:nvSpPr>
        <p:spPr>
          <a:xfrm>
            <a:off x="889000" y="4699000"/>
            <a:ext cx="6350000" cy="762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CLAUDE.md / copilot-instructions.md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3BF1809-B37C-654F-A5EE-C1E1AFC505CA}"/>
              </a:ext>
            </a:extLst>
          </p:cNvPr>
          <p:cNvSpPr/>
          <p:nvPr/>
        </p:nvSpPr>
        <p:spPr>
          <a:xfrm>
            <a:off x="1651000" y="3683000"/>
            <a:ext cx="4826000" cy="762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Rules / Instructions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DC47BA2-7C28-7D44-A1EB-8AE78A8EE426}"/>
              </a:ext>
            </a:extLst>
          </p:cNvPr>
          <p:cNvSpPr/>
          <p:nvPr/>
        </p:nvSpPr>
        <p:spPr>
          <a:xfrm>
            <a:off x="2413000" y="2667000"/>
            <a:ext cx="3302000" cy="762000"/>
          </a:xfrm>
          <a:prstGeom prst="roundRect">
            <a:avLst/>
          </a:prstGeom>
          <a:solidFill>
            <a:srgbClr val="5B7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Skills / Reusable Prompts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303B23E-3CD8-F241-9BE5-B0AE8DCC1561}"/>
              </a:ext>
            </a:extLst>
          </p:cNvPr>
          <p:cNvSpPr/>
          <p:nvPr/>
        </p:nvSpPr>
        <p:spPr>
          <a:xfrm>
            <a:off x="3048000" y="1778000"/>
            <a:ext cx="2032000" cy="762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Dein Prompt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1B4BBA29-46D8-2E4B-B9E6-00322BEF9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071436"/>
              </p:ext>
            </p:extLst>
          </p:nvPr>
        </p:nvGraphicFramePr>
        <p:xfrm>
          <a:off x="7239000" y="2032000"/>
          <a:ext cx="4699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9397355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45641236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Was?</a:t>
                      </a:r>
                    </a:p>
                  </a:txBody>
                  <a:tcPr>
                    <a:solidFill>
                      <a:srgbClr val="3F5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Wohin?</a:t>
                      </a:r>
                    </a:p>
                  </a:txBody>
                  <a:tcPr>
                    <a:solidFill>
                      <a:srgbClr val="3F5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491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Tech Stack, Projekt-Struktur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39379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Dateityp-Standards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Rule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95029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Domänen-Wissen,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47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76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3CF393-5A69-540B-0DAE-987E5733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lessons.md — Team-Gedächtnis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5F12978-A544-2746-B4CA-2F69828E25A4}"/>
              </a:ext>
            </a:extLst>
          </p:cNvPr>
          <p:cNvSpPr/>
          <p:nvPr/>
        </p:nvSpPr>
        <p:spPr>
          <a:xfrm>
            <a:off x="508000" y="1778000"/>
            <a:ext cx="11176000" cy="1143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## 2024-03-15
KI nutzt Options API statt Composition API
→ Regel: Explizit Composition API mit &lt;script setup&gt; fordern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CC6133-8135-1946-BFB0-F4164A6B87E6}"/>
              </a:ext>
            </a:extLst>
          </p:cNvPr>
          <p:cNvSpPr/>
          <p:nvPr/>
        </p:nvSpPr>
        <p:spPr>
          <a:xfrm>
            <a:off x="2159000" y="3302000"/>
            <a:ext cx="762000" cy="762000"/>
          </a:xfrm>
          <a:prstGeom prst="ellipse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29D713C-160C-0546-BB6D-6C62900F73CA}"/>
              </a:ext>
            </a:extLst>
          </p:cNvPr>
          <p:cNvSpPr txBox="1"/>
          <p:nvPr/>
        </p:nvSpPr>
        <p:spPr>
          <a:xfrm>
            <a:off x="1587500" y="41910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KI macht Fehler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45EC9E8B-45DB-D54E-A049-EB7B3A2B2979}"/>
              </a:ext>
            </a:extLst>
          </p:cNvPr>
          <p:cNvSpPr/>
          <p:nvPr/>
        </p:nvSpPr>
        <p:spPr>
          <a:xfrm>
            <a:off x="3873500" y="3492500"/>
            <a:ext cx="635000" cy="3810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C2D9CB-29E1-DC40-B2D7-4925C7B99606}"/>
              </a:ext>
            </a:extLst>
          </p:cNvPr>
          <p:cNvSpPr/>
          <p:nvPr/>
        </p:nvSpPr>
        <p:spPr>
          <a:xfrm>
            <a:off x="5461000" y="3302000"/>
            <a:ext cx="762000" cy="7620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B45E62-7AE0-EE4D-BA94-A27BFE9998A3}"/>
              </a:ext>
            </a:extLst>
          </p:cNvPr>
          <p:cNvSpPr txBox="1"/>
          <p:nvPr/>
        </p:nvSpPr>
        <p:spPr>
          <a:xfrm>
            <a:off x="4889500" y="41910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Lesson aufschreiben</a:t>
            </a:r>
          </a:p>
        </p:txBody>
      </p:sp>
      <p:sp>
        <p:nvSpPr>
          <p:cNvPr id="9" name="Pfeil nach rechts 8">
            <a:extLst>
              <a:ext uri="{FF2B5EF4-FFF2-40B4-BE49-F238E27FC236}">
                <a16:creationId xmlns:a16="http://schemas.microsoft.com/office/drawing/2014/main" id="{ADC4AEC3-4045-7A4D-9E0F-EC11B7C75056}"/>
              </a:ext>
            </a:extLst>
          </p:cNvPr>
          <p:cNvSpPr/>
          <p:nvPr/>
        </p:nvSpPr>
        <p:spPr>
          <a:xfrm>
            <a:off x="7175500" y="3492500"/>
            <a:ext cx="635000" cy="381000"/>
          </a:xfrm>
          <a:prstGeom prst="rightArrow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1CE1BD-9D06-8C42-A5EE-F5F5F9E19F97}"/>
              </a:ext>
            </a:extLst>
          </p:cNvPr>
          <p:cNvSpPr/>
          <p:nvPr/>
        </p:nvSpPr>
        <p:spPr>
          <a:xfrm>
            <a:off x="8763000" y="3302000"/>
            <a:ext cx="762000" cy="762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60CE95F-8FF1-5B4A-995C-5727D99D5A86}"/>
              </a:ext>
            </a:extLst>
          </p:cNvPr>
          <p:cNvSpPr txBox="1"/>
          <p:nvPr/>
        </p:nvSpPr>
        <p:spPr>
          <a:xfrm>
            <a:off x="8191500" y="41910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KI liest beim Start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082EA86-6E2B-0543-BC0F-89C32466B257}"/>
              </a:ext>
            </a:extLst>
          </p:cNvPr>
          <p:cNvSpPr txBox="1"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Jeder korrigierte Fehler gehört in lessons.md</a:t>
            </a:r>
          </a:p>
        </p:txBody>
      </p:sp>
    </p:spTree>
    <p:extLst>
      <p:ext uri="{BB962C8B-B14F-4D97-AF65-F5344CB8AC3E}">
        <p14:creationId xmlns:p14="http://schemas.microsoft.com/office/powerpoint/2010/main" val="224606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D9A90-3597-044A-8052-7C184D9F1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Copilot — Inline vs. Agent Mode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A85123E-AD70-B14E-8A1C-B35C76661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285839"/>
              </p:ext>
            </p:extLst>
          </p:nvPr>
        </p:nvGraphicFramePr>
        <p:xfrm>
          <a:off x="508000" y="1714500"/>
          <a:ext cx="1117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882628146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519205037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0398526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 lang="de-DE" sz="16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Inline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Agent Mode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864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Aktuelle Datei (~2-5 Dateien)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Gesamtes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708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Latenz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50-200ms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2-15 Sekunden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0470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Token-Kosten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~100-500 pro Completion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~5.000-50.000 pro Anfrage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3473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Instructions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Nicht geladen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copilot-instructions.md geladen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423510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771B4D36-D79A-9440-A663-FD2BEC644CF2}"/>
              </a:ext>
            </a:extLst>
          </p:cNvPr>
          <p:cNvSpPr txBox="1"/>
          <p:nvPr/>
        </p:nvSpPr>
        <p:spPr>
          <a:xfrm>
            <a:off x="508000" y="4826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Entscheidungsbaum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A04F4E6-9A24-EA43-9473-A033CFFE5891}"/>
              </a:ext>
            </a:extLst>
          </p:cNvPr>
          <p:cNvSpPr/>
          <p:nvPr/>
        </p:nvSpPr>
        <p:spPr>
          <a:xfrm>
            <a:off x="508000" y="5334000"/>
            <a:ext cx="3302000" cy="698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Vervollständigung?
→ Inline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2FE7FF04-8801-0645-BBA5-2EAF10987588}"/>
              </a:ext>
            </a:extLst>
          </p:cNvPr>
          <p:cNvSpPr/>
          <p:nvPr/>
        </p:nvSpPr>
        <p:spPr>
          <a:xfrm>
            <a:off x="4191000" y="5334000"/>
            <a:ext cx="3302000" cy="698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Mehrere Dateien?
→ Agent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00F1F4F-72F8-FD40-A475-A565BA01A465}"/>
              </a:ext>
            </a:extLst>
          </p:cNvPr>
          <p:cNvSpPr/>
          <p:nvPr/>
        </p:nvSpPr>
        <p:spPr>
          <a:xfrm>
            <a:off x="7874000" y="5334000"/>
            <a:ext cx="3302000" cy="698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Konventionen nötig?
→ Agent</a:t>
            </a:r>
          </a:p>
        </p:txBody>
      </p:sp>
    </p:spTree>
    <p:extLst>
      <p:ext uri="{BB962C8B-B14F-4D97-AF65-F5344CB8AC3E}">
        <p14:creationId xmlns:p14="http://schemas.microsoft.com/office/powerpoint/2010/main" val="86395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9D2551-9699-2C42-86BA-CE1C9A77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Sub-Agents — Kontext sauber halten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C98E1AD-3865-DD46-AA66-D46A6F5A037F}"/>
              </a:ext>
            </a:extLst>
          </p:cNvPr>
          <p:cNvSpPr/>
          <p:nvPr/>
        </p:nvSpPr>
        <p:spPr>
          <a:xfrm>
            <a:off x="508000" y="1778000"/>
            <a:ext cx="2540000" cy="1270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Hauptkontext
30% belegt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AC5A57CE-EC80-9E44-95BC-D2726A8E61A1}"/>
              </a:ext>
            </a:extLst>
          </p:cNvPr>
          <p:cNvSpPr/>
          <p:nvPr/>
        </p:nvSpPr>
        <p:spPr>
          <a:xfrm>
            <a:off x="3238500" y="2159000"/>
            <a:ext cx="635000" cy="381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66B9205-1B2F-C443-ACD4-B55ACCCAFC8F}"/>
              </a:ext>
            </a:extLst>
          </p:cNvPr>
          <p:cNvSpPr/>
          <p:nvPr/>
        </p:nvSpPr>
        <p:spPr>
          <a:xfrm>
            <a:off x="4064000" y="1778000"/>
            <a:ext cx="2794000" cy="1270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Sub-Agent
200k Window
0% belegt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0A7D6DF8-D56D-7748-B90E-7BE3F7772E62}"/>
              </a:ext>
            </a:extLst>
          </p:cNvPr>
          <p:cNvSpPr/>
          <p:nvPr/>
        </p:nvSpPr>
        <p:spPr>
          <a:xfrm>
            <a:off x="7048500" y="2159000"/>
            <a:ext cx="635000" cy="381000"/>
          </a:xfrm>
          <a:prstGeom prst="rightArrow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7E5CD427-C5AC-2649-BD8A-04E8849ADB72}"/>
              </a:ext>
            </a:extLst>
          </p:cNvPr>
          <p:cNvSpPr/>
          <p:nvPr/>
        </p:nvSpPr>
        <p:spPr>
          <a:xfrm>
            <a:off x="7874000" y="1778000"/>
            <a:ext cx="2286000" cy="1270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Ergebnis
zurück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F229C068-9200-7E40-A0B9-96B913F5B3C2}"/>
              </a:ext>
            </a:extLst>
          </p:cNvPr>
          <p:cNvSpPr/>
          <p:nvPr/>
        </p:nvSpPr>
        <p:spPr>
          <a:xfrm>
            <a:off x="508000" y="3429000"/>
            <a:ext cx="5588000" cy="10160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5 parallele Agents = 5× Token-Kosten
ABER: Alle laufen gleichzeitig!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24C4215-555B-6248-8C22-3F5E0BFFD054}"/>
              </a:ext>
            </a:extLst>
          </p:cNvPr>
          <p:cNvSpPr txBox="1"/>
          <p:nvPr/>
        </p:nvSpPr>
        <p:spPr>
          <a:xfrm>
            <a:off x="6477000" y="34290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5252"/>
                </a:solidFill>
              </a:rPr>
              <a:t>Warnsignale für vollen Kontext: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0CAB52-CD3A-8944-AF53-E6A2B6F60A21}"/>
              </a:ext>
            </a:extLst>
          </p:cNvPr>
          <p:cNvSpPr txBox="1"/>
          <p:nvPr/>
        </p:nvSpPr>
        <p:spPr>
          <a:xfrm>
            <a:off x="6477000" y="3873500"/>
            <a:ext cx="533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⚠ Wiederholte Fragen
⚠ Ignorierte Constraints
⚠ Stil-Abweichungen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C7AD72-5533-5747-96A2-FF022BA196F8}"/>
              </a:ext>
            </a:extLst>
          </p:cNvPr>
          <p:cNvSpPr txBox="1"/>
          <p:nvPr/>
        </p:nvSpPr>
        <p:spPr>
          <a:xfrm>
            <a:off x="508000" y="48260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Wann lohnt es sich?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7505BA-1F51-124E-BC25-596BB4C87EA5}"/>
              </a:ext>
            </a:extLst>
          </p:cNvPr>
          <p:cNvSpPr txBox="1"/>
          <p:nvPr/>
        </p:nvSpPr>
        <p:spPr>
          <a:xfrm>
            <a:off x="508000" y="5270500"/>
            <a:ext cx="1117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Parallele Tasks: Sub-Agents   |   Sequenzielle Tasks: Main-Context</a:t>
            </a:r>
          </a:p>
        </p:txBody>
      </p:sp>
    </p:spTree>
    <p:extLst>
      <p:ext uri="{BB962C8B-B14F-4D97-AF65-F5344CB8AC3E}">
        <p14:creationId xmlns:p14="http://schemas.microsoft.com/office/powerpoint/2010/main" val="305659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A8A15-0E69-EDE2-7178-586D3BAA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Context-Window-Management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1D5BC812-95DF-FB45-A5AB-A3791FD5A365}"/>
              </a:ext>
            </a:extLst>
          </p:cNvPr>
          <p:cNvSpPr/>
          <p:nvPr/>
        </p:nvSpPr>
        <p:spPr>
          <a:xfrm>
            <a:off x="508000" y="1841500"/>
            <a:ext cx="3302000" cy="152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Kurze Session
Alles klar
Kontextuell präzise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FE044387-865E-3943-BF87-16C32DB962A3}"/>
              </a:ext>
            </a:extLst>
          </p:cNvPr>
          <p:cNvSpPr/>
          <p:nvPr/>
        </p:nvSpPr>
        <p:spPr>
          <a:xfrm>
            <a:off x="3937000" y="2413000"/>
            <a:ext cx="508000" cy="3175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C288D20-D4FF-7646-8B7A-4078C120372B}"/>
              </a:ext>
            </a:extLst>
          </p:cNvPr>
          <p:cNvSpPr/>
          <p:nvPr/>
        </p:nvSpPr>
        <p:spPr>
          <a:xfrm>
            <a:off x="4191000" y="1841500"/>
            <a:ext cx="3302000" cy="1524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Lange Session
Beginnt zu vergessen
Wiederholte Infos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1C35D4A3-3404-C845-BE91-124920E41505}"/>
              </a:ext>
            </a:extLst>
          </p:cNvPr>
          <p:cNvSpPr/>
          <p:nvPr/>
        </p:nvSpPr>
        <p:spPr>
          <a:xfrm>
            <a:off x="7620000" y="2413000"/>
            <a:ext cx="508000" cy="3175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7AE0B02-E514-B944-9FCC-D46106F0408B}"/>
              </a:ext>
            </a:extLst>
          </p:cNvPr>
          <p:cNvSpPr/>
          <p:nvPr/>
        </p:nvSpPr>
        <p:spPr>
          <a:xfrm>
            <a:off x="7874000" y="1841500"/>
            <a:ext cx="3302000" cy="1524000"/>
          </a:xfrm>
          <a:prstGeom prst="roundRect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Sehr lange Session
Widersprüche
Kontext-Overflow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C88C5C72-F4DC-E44E-9D91-B4F234BB47CC}"/>
              </a:ext>
            </a:extLst>
          </p:cNvPr>
          <p:cNvSpPr/>
          <p:nvPr/>
        </p:nvSpPr>
        <p:spPr>
          <a:xfrm>
            <a:off x="1016000" y="3810000"/>
            <a:ext cx="10160000" cy="698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Faustregel: &gt;30 Min aktives Coding → neuen Chat oder /swarm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26B0CC01-F056-8043-A9F0-47E0D52533F0}"/>
              </a:ext>
            </a:extLst>
          </p:cNvPr>
          <p:cNvSpPr/>
          <p:nvPr/>
        </p:nvSpPr>
        <p:spPr>
          <a:xfrm>
            <a:off x="1016000" y="4826000"/>
            <a:ext cx="10160000" cy="698500"/>
          </a:xfrm>
          <a:prstGeom prst="roundRect">
            <a:avLst/>
          </a:prstGeom>
          <a:solidFill>
            <a:srgbClr val="F0F4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Lösung: Sub-Agents für alles, was nicht zum Kern-Task gehört</a:t>
            </a:r>
          </a:p>
        </p:txBody>
      </p:sp>
    </p:spTree>
    <p:extLst>
      <p:ext uri="{BB962C8B-B14F-4D97-AF65-F5344CB8AC3E}">
        <p14:creationId xmlns:p14="http://schemas.microsoft.com/office/powerpoint/2010/main" val="357726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A93AF-A2A2-509C-4085-71D78A5C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Built-in Commands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321FDB0-6638-E64D-8247-2F0A1965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194886"/>
              </p:ext>
            </p:extLst>
          </p:nvPr>
        </p:nvGraphicFramePr>
        <p:xfrm>
          <a:off x="762000" y="1270000"/>
          <a:ext cx="106680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85140282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2466664483"/>
                    </a:ext>
                  </a:extLst>
                </a:gridCol>
              </a:tblGrid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Command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Was es macht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759764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Plan erstellen, keine Änderungen ohne Freigabe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269047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Code-Review des aktuellen Diffs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271156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/commit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Commit-Message schreiben + committen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159202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Parallele Sub-Agents starten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196539"/>
                  </a:ext>
                </a:extLst>
              </a:tr>
              <a:tr h="671285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Wiederkehrende Tasks (z.B. /loop 5m /review)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474525"/>
                  </a:ext>
                </a:extLst>
              </a:tr>
              <a:tr h="67129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Consolas"/>
                          <a:cs typeface="Consolas"/>
                        </a:rPr>
                        <a:t>/ralph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Iterativer Selbst-Verifikations-Loop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066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69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71218-5CEA-9D76-EC57-54C218CA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/ralph — Qualitäts-Firewall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CF5DA921-1E98-C648-ADA8-39B53B0E08E6}"/>
              </a:ext>
            </a:extLst>
          </p:cNvPr>
          <p:cNvSpPr/>
          <p:nvPr/>
        </p:nvSpPr>
        <p:spPr>
          <a:xfrm>
            <a:off x="508000" y="1778000"/>
            <a:ext cx="5080000" cy="4318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1. Vollständig? (alle Requirements)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E2BCC66E-73E5-B841-B29B-AEFAA5433277}"/>
              </a:ext>
            </a:extLst>
          </p:cNvPr>
          <p:cNvSpPr/>
          <p:nvPr/>
        </p:nvSpPr>
        <p:spPr>
          <a:xfrm>
            <a:off x="508000" y="2159000"/>
            <a:ext cx="5080000" cy="4318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2. Korrekt? (syntaktisch + logisch)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B998B6F1-D91D-464F-934A-9F30A564FFEB}"/>
              </a:ext>
            </a:extLst>
          </p:cNvPr>
          <p:cNvSpPr/>
          <p:nvPr/>
        </p:nvSpPr>
        <p:spPr>
          <a:xfrm>
            <a:off x="508000" y="2667000"/>
            <a:ext cx="5080000" cy="4318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3. Konventionen? (Standards eingehalten)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AD552F54-74F4-1B45-942F-5E784D02A205}"/>
              </a:ext>
            </a:extLst>
          </p:cNvPr>
          <p:cNvSpPr/>
          <p:nvPr/>
        </p:nvSpPr>
        <p:spPr>
          <a:xfrm>
            <a:off x="508000" y="3175000"/>
            <a:ext cx="5080000" cy="431800"/>
          </a:xfrm>
          <a:prstGeom prst="roundRect">
            <a:avLst/>
          </a:prstGeom>
          <a:solidFill>
            <a:srgbClr val="FFF8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4. Sicher? (keine Security-Lücken)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684AA02E-394A-9A43-842A-F26F4B5E5411}"/>
              </a:ext>
            </a:extLst>
          </p:cNvPr>
          <p:cNvSpPr/>
          <p:nvPr/>
        </p:nvSpPr>
        <p:spPr>
          <a:xfrm>
            <a:off x="508000" y="3683000"/>
            <a:ext cx="5080000" cy="431800"/>
          </a:xfrm>
          <a:prstGeom prst="roundRect">
            <a:avLst/>
          </a:prstGeom>
          <a:solidFill>
            <a:srgbClr val="FFF8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5. Minimal? (nichts außerhalb Scope)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6C01AB9-8B84-F44A-BD12-58A8B9CBA393}"/>
              </a:ext>
            </a:extLst>
          </p:cNvPr>
          <p:cNvSpPr/>
          <p:nvPr/>
        </p:nvSpPr>
        <p:spPr>
          <a:xfrm>
            <a:off x="508000" y="4191000"/>
            <a:ext cx="5080000" cy="431800"/>
          </a:xfrm>
          <a:prstGeom prst="roundRect">
            <a:avLst/>
          </a:prstGeom>
          <a:solidFill>
            <a:srgbClr val="FFF8E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6. Elegant? (Staff-Engineer-Standard)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1194E6-F685-2E47-9DF4-EAF84ED08521}"/>
              </a:ext>
            </a:extLst>
          </p:cNvPr>
          <p:cNvSpPr txBox="1"/>
          <p:nvPr/>
        </p:nvSpPr>
        <p:spPr>
          <a:xfrm>
            <a:off x="5969000" y="17780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Beispiel-Output: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DE14C20B-6F27-EE45-95D6-532EE3EDE518}"/>
              </a:ext>
            </a:extLst>
          </p:cNvPr>
          <p:cNvSpPr/>
          <p:nvPr/>
        </p:nvSpPr>
        <p:spPr>
          <a:xfrm>
            <a:off x="5969000" y="2095500"/>
            <a:ext cx="5842000" cy="1524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✅ Vollständig: 3 Endpoints
✅ Korrekt: Tests grün
⚠️ Konventionen: Interface fehlt
   → FIX: Interface erstellt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49AA34E0-2530-3E49-B495-8ED18A72F604}"/>
              </a:ext>
            </a:extLst>
          </p:cNvPr>
          <p:cNvSpPr/>
          <p:nvPr/>
        </p:nvSpPr>
        <p:spPr>
          <a:xfrm>
            <a:off x="5969000" y="3937000"/>
            <a:ext cx="5842000" cy="889000"/>
          </a:xfrm>
          <a:prstGeom prst="roundRect">
            <a:avLst/>
          </a:prstGeom>
          <a:solidFill>
            <a:srgbClr val="FFF0F0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5252"/>
                </a:solidFill>
              </a:rPr>
              <a:t>⚠ /ralph kann selbst halluzinieren —
nach /ralph immer mvn test laufen lassen!</a:t>
            </a:r>
          </a:p>
        </p:txBody>
      </p:sp>
    </p:spTree>
    <p:extLst>
      <p:ext uri="{BB962C8B-B14F-4D97-AF65-F5344CB8AC3E}">
        <p14:creationId xmlns:p14="http://schemas.microsoft.com/office/powerpoint/2010/main" val="12860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CF38A-F081-78D3-BC00-277CD416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KI autonom arbeiten lassen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9B00AF5F-0B31-E242-92CA-C7E33B3EB91E}"/>
              </a:ext>
            </a:extLst>
          </p:cNvPr>
          <p:cNvSpPr/>
          <p:nvPr/>
        </p:nvSpPr>
        <p:spPr>
          <a:xfrm>
            <a:off x="762000" y="1778000"/>
            <a:ext cx="3302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69D9D1-7B2A-8B40-A850-B112593678E7}"/>
              </a:ext>
            </a:extLst>
          </p:cNvPr>
          <p:cNvSpPr/>
          <p:nvPr/>
        </p:nvSpPr>
        <p:spPr>
          <a:xfrm>
            <a:off x="2063750" y="1968500"/>
            <a:ext cx="698500" cy="698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C86D17D-FADD-414D-8A87-D074E73F2596}"/>
              </a:ext>
            </a:extLst>
          </p:cNvPr>
          <p:cNvSpPr txBox="1"/>
          <p:nvPr/>
        </p:nvSpPr>
        <p:spPr>
          <a:xfrm>
            <a:off x="952500" y="279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Konkreter Prompt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A6BF2AE-620C-0749-84E8-1B19D5C032FD}"/>
              </a:ext>
            </a:extLst>
          </p:cNvPr>
          <p:cNvSpPr txBox="1"/>
          <p:nvPr/>
        </p:nvSpPr>
        <p:spPr>
          <a:xfrm>
            <a:off x="952500" y="3302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Ein Feature direkt beschreiben
mit klaren Anforderungen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DAECC36-27F7-E447-9728-C9E70592D0F6}"/>
              </a:ext>
            </a:extLst>
          </p:cNvPr>
          <p:cNvSpPr/>
          <p:nvPr/>
        </p:nvSpPr>
        <p:spPr>
          <a:xfrm>
            <a:off x="4445000" y="1778000"/>
            <a:ext cx="3302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3836A7-3221-9B4D-8337-D1B76D1D0398}"/>
              </a:ext>
            </a:extLst>
          </p:cNvPr>
          <p:cNvSpPr/>
          <p:nvPr/>
        </p:nvSpPr>
        <p:spPr>
          <a:xfrm>
            <a:off x="5746750" y="1968500"/>
            <a:ext cx="698500" cy="698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169DB0-90FF-B04B-B457-6A61B1156D41}"/>
              </a:ext>
            </a:extLst>
          </p:cNvPr>
          <p:cNvSpPr txBox="1"/>
          <p:nvPr/>
        </p:nvSpPr>
        <p:spPr>
          <a:xfrm>
            <a:off x="4635500" y="279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tasks/prd.md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DDD1DA1-0DBE-6847-B62F-DA85DDCF01A3}"/>
              </a:ext>
            </a:extLst>
          </p:cNvPr>
          <p:cNvSpPr txBox="1"/>
          <p:nvPr/>
        </p:nvSpPr>
        <p:spPr>
          <a:xfrm>
            <a:off x="4635500" y="3302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Feature-Liste als Datei
übergeben — KI arbeitet ab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9FE8EFB7-8110-8341-A49C-78264A44E028}"/>
              </a:ext>
            </a:extLst>
          </p:cNvPr>
          <p:cNvSpPr/>
          <p:nvPr/>
        </p:nvSpPr>
        <p:spPr>
          <a:xfrm>
            <a:off x="8128000" y="1778000"/>
            <a:ext cx="3302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818B70-AB66-2A4F-B5C8-F660735BB9F3}"/>
              </a:ext>
            </a:extLst>
          </p:cNvPr>
          <p:cNvSpPr/>
          <p:nvPr/>
        </p:nvSpPr>
        <p:spPr>
          <a:xfrm>
            <a:off x="9429750" y="1968500"/>
            <a:ext cx="698500" cy="698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3617317-294D-A443-AFFF-0873D16C8A86}"/>
              </a:ext>
            </a:extLst>
          </p:cNvPr>
          <p:cNvSpPr txBox="1"/>
          <p:nvPr/>
        </p:nvSpPr>
        <p:spPr>
          <a:xfrm>
            <a:off x="8318500" y="279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4CAF50"/>
                </a:solidFill>
              </a:rPr>
              <a:t>/swarm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BD96B99-E7BE-9D4D-8305-33B975B61F4C}"/>
              </a:ext>
            </a:extLst>
          </p:cNvPr>
          <p:cNvSpPr txBox="1"/>
          <p:nvPr/>
        </p:nvSpPr>
        <p:spPr>
          <a:xfrm>
            <a:off x="8318500" y="33020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Parallele Agents für
unabhängige Features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A8D142EA-3CE5-DB4E-845F-BE15C09FC59B}"/>
              </a:ext>
            </a:extLst>
          </p:cNvPr>
          <p:cNvSpPr/>
          <p:nvPr/>
        </p:nvSpPr>
        <p:spPr>
          <a:xfrm>
            <a:off x="1270000" y="5080000"/>
            <a:ext cx="9652000" cy="635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Der Schlüssel: Konkreter Prompt = autonome KI</a:t>
            </a:r>
          </a:p>
        </p:txBody>
      </p:sp>
    </p:spTree>
    <p:extLst>
      <p:ext uri="{BB962C8B-B14F-4D97-AF65-F5344CB8AC3E}">
        <p14:creationId xmlns:p14="http://schemas.microsoft.com/office/powerpoint/2010/main" val="3662600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53E9B-8F77-7489-2E80-7968578B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/swarm — Parallele Agents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077A6EEF-B6DC-E04A-AD04-2F95D84C20FD}"/>
              </a:ext>
            </a:extLst>
          </p:cNvPr>
          <p:cNvSpPr/>
          <p:nvPr/>
        </p:nvSpPr>
        <p:spPr>
          <a:xfrm>
            <a:off x="508000" y="1778000"/>
            <a:ext cx="1651000" cy="762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Runde 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2DE1245-8B43-864D-A2A0-63260768B691}"/>
              </a:ext>
            </a:extLst>
          </p:cNvPr>
          <p:cNvSpPr txBox="1"/>
          <p:nvPr/>
        </p:nvSpPr>
        <p:spPr>
          <a:xfrm>
            <a:off x="2286000" y="1714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parallel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FB6BCC1-A6FB-0446-95AA-B22ED51A94A5}"/>
              </a:ext>
            </a:extLst>
          </p:cNvPr>
          <p:cNvSpPr/>
          <p:nvPr/>
        </p:nvSpPr>
        <p:spPr>
          <a:xfrm>
            <a:off x="2413000" y="1778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1 → Service A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47E58AA0-A4C1-AF43-971F-C69E29744C42}"/>
              </a:ext>
            </a:extLst>
          </p:cNvPr>
          <p:cNvSpPr/>
          <p:nvPr/>
        </p:nvSpPr>
        <p:spPr>
          <a:xfrm>
            <a:off x="6350000" y="1778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2 → Service B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4AE34B0-0663-D045-B8DC-5870EC74A9DF}"/>
              </a:ext>
            </a:extLst>
          </p:cNvPr>
          <p:cNvSpPr/>
          <p:nvPr/>
        </p:nvSpPr>
        <p:spPr>
          <a:xfrm>
            <a:off x="508000" y="2921000"/>
            <a:ext cx="1651000" cy="762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Runde 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EF1E39D-EC56-984F-B455-CE54361521AC}"/>
              </a:ext>
            </a:extLst>
          </p:cNvPr>
          <p:cNvSpPr txBox="1"/>
          <p:nvPr/>
        </p:nvSpPr>
        <p:spPr>
          <a:xfrm>
            <a:off x="2286000" y="2857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parallel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DFE96FD4-11E9-3F49-BCAE-FA4905CB3AD9}"/>
              </a:ext>
            </a:extLst>
          </p:cNvPr>
          <p:cNvSpPr/>
          <p:nvPr/>
        </p:nvSpPr>
        <p:spPr>
          <a:xfrm>
            <a:off x="2413000" y="2921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3 → Tests A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D481BE0D-7461-2C48-8E24-791DAF2C9062}"/>
              </a:ext>
            </a:extLst>
          </p:cNvPr>
          <p:cNvSpPr/>
          <p:nvPr/>
        </p:nvSpPr>
        <p:spPr>
          <a:xfrm>
            <a:off x="6350000" y="2921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4 → Tests B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847F47D-E5B6-884B-B230-05073F03162A}"/>
              </a:ext>
            </a:extLst>
          </p:cNvPr>
          <p:cNvSpPr/>
          <p:nvPr/>
        </p:nvSpPr>
        <p:spPr>
          <a:xfrm>
            <a:off x="508000" y="4191000"/>
            <a:ext cx="1651000" cy="762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Runde 3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818A4A5C-5F90-B34F-8165-F843FE83F10B}"/>
              </a:ext>
            </a:extLst>
          </p:cNvPr>
          <p:cNvSpPr/>
          <p:nvPr/>
        </p:nvSpPr>
        <p:spPr>
          <a:xfrm>
            <a:off x="2413000" y="4191000"/>
            <a:ext cx="3556000" cy="762000"/>
          </a:xfrm>
          <a:prstGeom prst="roundRect">
            <a:avLst/>
          </a:prstGeom>
          <a:solidFill>
            <a:srgbClr val="F0F4FF"/>
          </a:solidFill>
          <a:ln w="1905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Agent 5 → Review aller Ergebnisse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FA0068FB-B26C-F94E-B4E3-0F90799ABDBF}"/>
              </a:ext>
            </a:extLst>
          </p:cNvPr>
          <p:cNvSpPr/>
          <p:nvPr/>
        </p:nvSpPr>
        <p:spPr>
          <a:xfrm>
            <a:off x="508000" y="5334000"/>
            <a:ext cx="11176000" cy="6350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Wann /swarm?  3+ unabhängige Module  |  Große Refactorings  |  COBOL-Migration</a:t>
            </a:r>
          </a:p>
        </p:txBody>
      </p:sp>
    </p:spTree>
    <p:extLst>
      <p:ext uri="{BB962C8B-B14F-4D97-AF65-F5344CB8AC3E}">
        <p14:creationId xmlns:p14="http://schemas.microsoft.com/office/powerpoint/2010/main" val="3093494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0EE2A6-6BB0-1D84-D55D-79CACCDE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Täglicher Workflow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768046A0-1963-9543-9A5F-036677959399}"/>
              </a:ext>
            </a:extLst>
          </p:cNvPr>
          <p:cNvSpPr/>
          <p:nvPr/>
        </p:nvSpPr>
        <p:spPr>
          <a:xfrm>
            <a:off x="508000" y="1778000"/>
            <a:ext cx="3429000" cy="3175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680F085-9257-F543-8FAB-058DF1DF2AA1}"/>
              </a:ext>
            </a:extLst>
          </p:cNvPr>
          <p:cNvSpPr txBox="1"/>
          <p:nvPr/>
        </p:nvSpPr>
        <p:spPr>
          <a:xfrm>
            <a:off x="698500" y="19685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☀ Morgens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796615F-0D2C-2042-A7A5-01D5FB5591FA}"/>
              </a:ext>
            </a:extLst>
          </p:cNvPr>
          <p:cNvSpPr txBox="1"/>
          <p:nvPr/>
        </p:nvSpPr>
        <p:spPr>
          <a:xfrm>
            <a:off x="698500" y="2603500"/>
            <a:ext cx="3048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Claude/Copilot öffnen
→ lessons.md geladen
→ todo.md checken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70ACA9DD-CAB3-3440-B861-74E89A1615DB}"/>
              </a:ext>
            </a:extLst>
          </p:cNvPr>
          <p:cNvSpPr/>
          <p:nvPr/>
        </p:nvSpPr>
        <p:spPr>
          <a:xfrm>
            <a:off x="4064000" y="3175000"/>
            <a:ext cx="508000" cy="3175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0B98366-6932-E348-9DA5-680C8A1FEFC7}"/>
              </a:ext>
            </a:extLst>
          </p:cNvPr>
          <p:cNvSpPr/>
          <p:nvPr/>
        </p:nvSpPr>
        <p:spPr>
          <a:xfrm>
            <a:off x="4318000" y="1778000"/>
            <a:ext cx="3429000" cy="3175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57BAF06-70A8-AC44-B645-2191B3C64A57}"/>
              </a:ext>
            </a:extLst>
          </p:cNvPr>
          <p:cNvSpPr txBox="1"/>
          <p:nvPr/>
        </p:nvSpPr>
        <p:spPr>
          <a:xfrm>
            <a:off x="4508500" y="19685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⚙ Feature-Arbeit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0C9A34-102B-804A-907E-DDC5E9176F84}"/>
              </a:ext>
            </a:extLst>
          </p:cNvPr>
          <p:cNvSpPr txBox="1"/>
          <p:nvPr/>
        </p:nvSpPr>
        <p:spPr>
          <a:xfrm>
            <a:off x="4508500" y="2603500"/>
            <a:ext cx="3048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&gt;3 Schritte? → /plan
Klare Req.? → autonom
Fertig? → /ralph + /review</a:t>
            </a:r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FB898960-46C7-4046-991B-1E77D77FC3B7}"/>
              </a:ext>
            </a:extLst>
          </p:cNvPr>
          <p:cNvSpPr/>
          <p:nvPr/>
        </p:nvSpPr>
        <p:spPr>
          <a:xfrm>
            <a:off x="7874000" y="3175000"/>
            <a:ext cx="508000" cy="3175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270794B1-37A5-4E44-85FB-0FDAC6FA2188}"/>
              </a:ext>
            </a:extLst>
          </p:cNvPr>
          <p:cNvSpPr/>
          <p:nvPr/>
        </p:nvSpPr>
        <p:spPr>
          <a:xfrm>
            <a:off x="8128000" y="1778000"/>
            <a:ext cx="3429000" cy="317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DA0D10-952A-E14E-8A24-C408D9FBF96B}"/>
              </a:ext>
            </a:extLst>
          </p:cNvPr>
          <p:cNvSpPr txBox="1"/>
          <p:nvPr/>
        </p:nvSpPr>
        <p:spPr>
          <a:xfrm>
            <a:off x="8318500" y="19685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🌙 Abends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17793C6-973B-8149-BDAF-6835DBB8E822}"/>
              </a:ext>
            </a:extLst>
          </p:cNvPr>
          <p:cNvSpPr txBox="1"/>
          <p:nvPr/>
        </p:nvSpPr>
        <p:spPr>
          <a:xfrm>
            <a:off x="8318500" y="2603500"/>
            <a:ext cx="3048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Lessons learned
aufschreiben
→ lessons.md pflegen</a:t>
            </a:r>
          </a:p>
        </p:txBody>
      </p:sp>
    </p:spTree>
    <p:extLst>
      <p:ext uri="{BB962C8B-B14F-4D97-AF65-F5344CB8AC3E}">
        <p14:creationId xmlns:p14="http://schemas.microsoft.com/office/powerpoint/2010/main" val="175960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79515-D1DE-CE9C-21CD-8D770361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Überleitung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2AD2DDEE-C7CE-264F-9BCD-9618AB80BF11}"/>
              </a:ext>
            </a:extLst>
          </p:cNvPr>
          <p:cNvSpPr/>
          <p:nvPr/>
        </p:nvSpPr>
        <p:spPr>
          <a:xfrm>
            <a:off x="1016000" y="2032000"/>
            <a:ext cx="10160000" cy="1270000"/>
          </a:xfrm>
          <a:prstGeom prst="roundRect">
            <a:avLst/>
          </a:prstGeom>
          <a:solidFill>
            <a:srgbClr val="F0F4FF"/>
          </a:solidFill>
          <a:ln w="381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400" b="1">
                <a:solidFill>
                  <a:srgbClr val="212B80"/>
                </a:solidFill>
              </a:rPr>
              <a:t>Was wenn KI nicht nur Code schreiben soll,
sondern mit echten Systemen interagieren?</a:t>
            </a:r>
          </a:p>
        </p:txBody>
      </p:sp>
      <p:sp>
        <p:nvSpPr>
          <p:cNvPr id="4" name="Pfeil nach unten 3">
            <a:extLst>
              <a:ext uri="{FF2B5EF4-FFF2-40B4-BE49-F238E27FC236}">
                <a16:creationId xmlns:a16="http://schemas.microsoft.com/office/drawing/2014/main" id="{239B6289-A1C5-8B4C-AF8E-0B315C0A84D7}"/>
              </a:ext>
            </a:extLst>
          </p:cNvPr>
          <p:cNvSpPr/>
          <p:nvPr/>
        </p:nvSpPr>
        <p:spPr>
          <a:xfrm>
            <a:off x="5461000" y="3683000"/>
            <a:ext cx="762000" cy="762000"/>
          </a:xfrm>
          <a:prstGeom prst="down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E256B507-72E0-C145-9E71-9AAAE4886B4D}"/>
              </a:ext>
            </a:extLst>
          </p:cNvPr>
          <p:cNvSpPr/>
          <p:nvPr/>
        </p:nvSpPr>
        <p:spPr>
          <a:xfrm>
            <a:off x="2540000" y="4699000"/>
            <a:ext cx="6604000" cy="1016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3000" b="1">
                <a:solidFill>
                  <a:srgbClr val="FFFFFF"/>
                </a:solidFill>
              </a:rPr>
              <a:t>Model Context Protocol</a:t>
            </a:r>
          </a:p>
        </p:txBody>
      </p:sp>
    </p:spTree>
    <p:extLst>
      <p:ext uri="{BB962C8B-B14F-4D97-AF65-F5344CB8AC3E}">
        <p14:creationId xmlns:p14="http://schemas.microsoft.com/office/powerpoint/2010/main" val="2712301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64884-448A-C63A-DB4E-5CA8BE787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159000"/>
            <a:ext cx="10160000" cy="508000"/>
          </a:xfrm>
        </p:spPr>
        <p:txBody>
          <a:bodyPr>
            <a:normAutofit/>
          </a:bodyPr>
          <a:lstStyle/>
          <a:p>
            <a:r>
              <a:rPr lang="de-DE" sz="2400" b="1">
                <a:solidFill>
                  <a:srgbClr val="FFD440"/>
                </a:solidFill>
              </a:rPr>
              <a:t>TEIL 2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3CC31BF-4774-5744-A3EF-EA953384AB5C}"/>
              </a:ext>
            </a:extLst>
          </p:cNvPr>
          <p:cNvSpPr txBox="1"/>
          <p:nvPr/>
        </p:nvSpPr>
        <p:spPr>
          <a:xfrm>
            <a:off x="1016000" y="2794000"/>
            <a:ext cx="10160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FFFFFF"/>
                </a:solidFill>
              </a:rPr>
              <a:t>MCP — KI mit der Außenwelt verbinden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17E477B-7D6B-474F-8F11-74ECFBE3F60B}"/>
              </a:ext>
            </a:extLst>
          </p:cNvPr>
          <p:cNvSpPr txBox="1"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>
                <a:solidFill>
                  <a:srgbClr val="7C8DB5"/>
                </a:solidFill>
              </a:rPr>
              <a:t>Model Context Protocol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DEDD324-67CB-6F4B-BADF-1CBA3A9CBD25}"/>
              </a:ext>
            </a:extLst>
          </p:cNvPr>
          <p:cNvSpPr/>
          <p:nvPr/>
        </p:nvSpPr>
        <p:spPr>
          <a:xfrm>
            <a:off x="4826000" y="3746500"/>
            <a:ext cx="2540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71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F19A9B-CC4A-BE67-5A19-00D57E43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Was ist MCP? — Die USB-Analogie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D4988AD-7921-A74A-B946-8D1F214A3D54}"/>
              </a:ext>
            </a:extLst>
          </p:cNvPr>
          <p:cNvSpPr txBox="1"/>
          <p:nvPr/>
        </p:nvSpPr>
        <p:spPr>
          <a:xfrm>
            <a:off x="508000" y="1333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5252"/>
                </a:solidFill>
              </a:rPr>
              <a:t>VOR USB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CD9253AB-BA3A-EE4E-9FEB-59342774739A}"/>
              </a:ext>
            </a:extLst>
          </p:cNvPr>
          <p:cNvSpPr/>
          <p:nvPr/>
        </p:nvSpPr>
        <p:spPr>
          <a:xfrm>
            <a:off x="508000" y="1714500"/>
            <a:ext cx="5334000" cy="825500"/>
          </a:xfrm>
          <a:prstGeom prst="roundRect">
            <a:avLst/>
          </a:prstGeom>
          <a:solidFill>
            <a:srgbClr val="FFF0F0"/>
          </a:solidFill>
          <a:ln w="1905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Jedes Gerät = eigener Anschluss
(Drucker, Scanner, Kamera — alle unterschiedlich)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3BC91D9-68B1-B549-93C4-62F488AF8B84}"/>
              </a:ext>
            </a:extLst>
          </p:cNvPr>
          <p:cNvSpPr txBox="1"/>
          <p:nvPr/>
        </p:nvSpPr>
        <p:spPr>
          <a:xfrm>
            <a:off x="6223000" y="1333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5252"/>
                </a:solidFill>
              </a:rPr>
              <a:t>VOR MCP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50C470E-DBE5-C244-9B81-2D9F8A2EF837}"/>
              </a:ext>
            </a:extLst>
          </p:cNvPr>
          <p:cNvSpPr/>
          <p:nvPr/>
        </p:nvSpPr>
        <p:spPr>
          <a:xfrm>
            <a:off x="6223000" y="1714500"/>
            <a:ext cx="5461000" cy="825500"/>
          </a:xfrm>
          <a:prstGeom prst="roundRect">
            <a:avLst/>
          </a:prstGeom>
          <a:solidFill>
            <a:srgbClr val="FFF0F0"/>
          </a:solidFill>
          <a:ln w="1905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Jedes Tool = eigene Integration
(DB, Browser, GitHub — alles custom)</a:t>
            </a:r>
          </a:p>
        </p:txBody>
      </p:sp>
      <p:sp>
        <p:nvSpPr>
          <p:cNvPr id="7" name="Pfeil nach unten 6">
            <a:extLst>
              <a:ext uri="{FF2B5EF4-FFF2-40B4-BE49-F238E27FC236}">
                <a16:creationId xmlns:a16="http://schemas.microsoft.com/office/drawing/2014/main" id="{1D6141C1-772A-C943-9B1C-1BB027082830}"/>
              </a:ext>
            </a:extLst>
          </p:cNvPr>
          <p:cNvSpPr/>
          <p:nvPr/>
        </p:nvSpPr>
        <p:spPr>
          <a:xfrm>
            <a:off x="5715000" y="2667000"/>
            <a:ext cx="508000" cy="444500"/>
          </a:xfrm>
          <a:prstGeom prst="down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6DFFFCB-FBF2-7649-B74F-0E8EB198607E}"/>
              </a:ext>
            </a:extLst>
          </p:cNvPr>
          <p:cNvSpPr txBox="1"/>
          <p:nvPr/>
        </p:nvSpPr>
        <p:spPr>
          <a:xfrm>
            <a:off x="508000" y="3238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4CAF50"/>
                </a:solidFill>
              </a:rPr>
              <a:t>MIT USB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3DB2D9B-FC18-FB48-B41A-E2280A26E2BA}"/>
              </a:ext>
            </a:extLst>
          </p:cNvPr>
          <p:cNvSpPr/>
          <p:nvPr/>
        </p:nvSpPr>
        <p:spPr>
          <a:xfrm>
            <a:off x="508000" y="3619500"/>
            <a:ext cx="5334000" cy="825500"/>
          </a:xfrm>
          <a:prstGeom prst="roundRect">
            <a:avLst/>
          </a:prstGeom>
          <a:solidFill>
            <a:srgbClr val="F0FFF0"/>
          </a:solidFill>
          <a:ln w="1905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Ein Standard → jedes Gerät
funktioniert überall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4C25840-2499-0C44-995D-E55EF5CD44B4}"/>
              </a:ext>
            </a:extLst>
          </p:cNvPr>
          <p:cNvSpPr txBox="1"/>
          <p:nvPr/>
        </p:nvSpPr>
        <p:spPr>
          <a:xfrm>
            <a:off x="6223000" y="3238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4CAF50"/>
                </a:solidFill>
              </a:rPr>
              <a:t>MIT MCP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4E8DBCF3-E01E-3E4B-8473-615FEDAB98C5}"/>
              </a:ext>
            </a:extLst>
          </p:cNvPr>
          <p:cNvSpPr/>
          <p:nvPr/>
        </p:nvSpPr>
        <p:spPr>
          <a:xfrm>
            <a:off x="6223000" y="3619500"/>
            <a:ext cx="5461000" cy="825500"/>
          </a:xfrm>
          <a:prstGeom prst="roundRect">
            <a:avLst/>
          </a:prstGeom>
          <a:solidFill>
            <a:srgbClr val="F0FFF0"/>
          </a:solidFill>
          <a:ln w="1905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Ein Protokoll → jeder Server
funktioniert in jedem Client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7E9B4B8-B6CC-5042-BEAE-EE96B4FAFE47}"/>
              </a:ext>
            </a:extLst>
          </p:cNvPr>
          <p:cNvSpPr/>
          <p:nvPr/>
        </p:nvSpPr>
        <p:spPr>
          <a:xfrm>
            <a:off x="508000" y="4699000"/>
            <a:ext cx="11176000" cy="5080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MCP-Clients: Claude Code  ·  Copilot  ·  Cursor  ·  Windsurf  ·  Claude Desktop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170586F4-36A3-4A40-86F4-224D6F4A96E0}"/>
              </a:ext>
            </a:extLst>
          </p:cNvPr>
          <p:cNvSpPr/>
          <p:nvPr/>
        </p:nvSpPr>
        <p:spPr>
          <a:xfrm>
            <a:off x="508000" y="5397500"/>
            <a:ext cx="11176000" cy="508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MCP = offener Standard von Anthropic, basiert auf JSON-RPC 2.0</a:t>
            </a:r>
          </a:p>
        </p:txBody>
      </p:sp>
    </p:spTree>
    <p:extLst>
      <p:ext uri="{BB962C8B-B14F-4D97-AF65-F5344CB8AC3E}">
        <p14:creationId xmlns:p14="http://schemas.microsoft.com/office/powerpoint/2010/main" val="3342541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5984B8-1FD7-F9B6-7DDA-742BE201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0160000" cy="825500"/>
          </a:xfrm>
        </p:spPr>
        <p:txBody>
          <a:bodyPr>
            <a:normAutofit/>
          </a:bodyPr>
          <a:lstStyle/>
          <a:p>
            <a:r>
              <a:rPr lang="de-DE" sz="3000" b="1"/>
              <a:t>MCP auf Protokoll-Ebene (JSON-RPC 2.0)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801E292-3954-C941-A75A-95D534A60695}"/>
              </a:ext>
            </a:extLst>
          </p:cNvPr>
          <p:cNvSpPr txBox="1"/>
          <p:nvPr/>
        </p:nvSpPr>
        <p:spPr>
          <a:xfrm>
            <a:off x="508000" y="13335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Request — Tools auflisten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DE90A33-68D7-A74B-9511-271669CEFDF7}"/>
              </a:ext>
            </a:extLst>
          </p:cNvPr>
          <p:cNvSpPr/>
          <p:nvPr/>
        </p:nvSpPr>
        <p:spPr>
          <a:xfrm>
            <a:off x="508000" y="1778000"/>
            <a:ext cx="5461000" cy="2286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"jsonrpc": "2.0",
  "id": 1,
  "method": "tools/list"
}
→ Server antwortet mit
  Tool-Definitionen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69F58D-2565-A040-8485-D13CF58A3438}"/>
              </a:ext>
            </a:extLst>
          </p:cNvPr>
          <p:cNvSpPr txBox="1"/>
          <p:nvPr/>
        </p:nvSpPr>
        <p:spPr>
          <a:xfrm>
            <a:off x="6223000" y="13335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Tool-Call — Tool aufrufen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901D3E1-CF11-0541-A914-02F05EBFEB54}"/>
              </a:ext>
            </a:extLst>
          </p:cNvPr>
          <p:cNvSpPr/>
          <p:nvPr/>
        </p:nvSpPr>
        <p:spPr>
          <a:xfrm>
            <a:off x="6223000" y="1778000"/>
            <a:ext cx="5461000" cy="2286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"jsonrpc": "2.0",
  "id": 2,
  "method": "tools/call",
  "params": {
    "name": "query-table",
    "arguments": { ... }
  }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A31B844-A9A3-744D-8B03-12C49229AADE}"/>
              </a:ext>
            </a:extLst>
          </p:cNvPr>
          <p:cNvSpPr/>
          <p:nvPr/>
        </p:nvSpPr>
        <p:spPr>
          <a:xfrm>
            <a:off x="1016000" y="4064000"/>
            <a:ext cx="10160000" cy="5715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Einfaches Request/Response über JSON — kein komplexes Framework</a:t>
            </a:r>
          </a:p>
        </p:txBody>
      </p:sp>
    </p:spTree>
    <p:extLst>
      <p:ext uri="{BB962C8B-B14F-4D97-AF65-F5344CB8AC3E}">
        <p14:creationId xmlns:p14="http://schemas.microsoft.com/office/powerpoint/2010/main" val="231783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0C5B3-EF6A-274C-BEA9-40C9E355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Transport — stdio vs. HTTP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CDE1E627-7019-C54A-8511-39394AF4D877}"/>
              </a:ext>
            </a:extLst>
          </p:cNvPr>
          <p:cNvSpPr/>
          <p:nvPr/>
        </p:nvSpPr>
        <p:spPr>
          <a:xfrm>
            <a:off x="508000" y="1397000"/>
            <a:ext cx="5334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BBAC647-E88C-4F42-BCE5-ECC5339D15EF}"/>
              </a:ext>
            </a:extLst>
          </p:cNvPr>
          <p:cNvSpPr txBox="1"/>
          <p:nvPr/>
        </p:nvSpPr>
        <p:spPr>
          <a:xfrm>
            <a:off x="698500" y="15240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stdio (lokal)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B05B39-7CA0-8A4F-9212-95B5BFA5C9FD}"/>
              </a:ext>
            </a:extLst>
          </p:cNvPr>
          <p:cNvSpPr txBox="1"/>
          <p:nvPr/>
        </p:nvSpPr>
        <p:spPr>
          <a:xfrm>
            <a:off x="698500" y="2032000"/>
            <a:ext cx="4953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Server als Child-Process
• Kommunikation via stdin/stdout
• Kein Netzwerk nötig
• Stoppt automatisch mit Client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6E9CA00-9A33-C742-94BC-814A3B03B973}"/>
              </a:ext>
            </a:extLst>
          </p:cNvPr>
          <p:cNvSpPr/>
          <p:nvPr/>
        </p:nvSpPr>
        <p:spPr>
          <a:xfrm>
            <a:off x="6223000" y="1397000"/>
            <a:ext cx="5461000" cy="2794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836C7FA-2BF0-1E44-A959-1D85705CA4D4}"/>
              </a:ext>
            </a:extLst>
          </p:cNvPr>
          <p:cNvSpPr txBox="1"/>
          <p:nvPr/>
        </p:nvSpPr>
        <p:spPr>
          <a:xfrm>
            <a:off x="6413500" y="15240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B80"/>
                </a:solidFill>
              </a:rPr>
              <a:t>HTTP + SSE (remote)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ACFFA9B-91CD-504E-AE2C-C4337E782D35}"/>
              </a:ext>
            </a:extLst>
          </p:cNvPr>
          <p:cNvSpPr txBox="1"/>
          <p:nvPr/>
        </p:nvSpPr>
        <p:spPr>
          <a:xfrm>
            <a:off x="6413500" y="2032000"/>
            <a:ext cx="5080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Server als Web-Service
• Mehrere Clients gleichzeitig
• Server-Sent Events für Streaming
• Unabhängiger Lifecycle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74701505-B31E-2844-A7AC-B250532C58AE}"/>
              </a:ext>
            </a:extLst>
          </p:cNvPr>
          <p:cNvSpPr/>
          <p:nvPr/>
        </p:nvSpPr>
        <p:spPr>
          <a:xfrm>
            <a:off x="508000" y="4445000"/>
            <a:ext cx="11176000" cy="5080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Lokaler MCP-Server → stdio   |   Shared Team-Server → HTTP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63327E68-4C52-8949-A267-194B44657881}"/>
              </a:ext>
            </a:extLst>
          </p:cNvPr>
          <p:cNvSpPr/>
          <p:nvPr/>
        </p:nvSpPr>
        <p:spPr>
          <a:xfrm>
            <a:off x="2540000" y="5143500"/>
            <a:ext cx="6604000" cy="571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Wir nutzen heute stdio — einfacher, sicherer</a:t>
            </a:r>
          </a:p>
        </p:txBody>
      </p:sp>
    </p:spTree>
    <p:extLst>
      <p:ext uri="{BB962C8B-B14F-4D97-AF65-F5344CB8AC3E}">
        <p14:creationId xmlns:p14="http://schemas.microsoft.com/office/powerpoint/2010/main" val="2440964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020F52-4BA5-4909-2052-85A3EE79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Der MCP-Lifecycle (4 Phasen)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58766055-3BA3-A745-BC80-BB4F22E0D7A0}"/>
              </a:ext>
            </a:extLst>
          </p:cNvPr>
          <p:cNvSpPr/>
          <p:nvPr/>
        </p:nvSpPr>
        <p:spPr>
          <a:xfrm>
            <a:off x="3810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6DDC91-803B-7647-9867-23E36C8C0402}"/>
              </a:ext>
            </a:extLst>
          </p:cNvPr>
          <p:cNvSpPr/>
          <p:nvPr/>
        </p:nvSpPr>
        <p:spPr>
          <a:xfrm>
            <a:off x="1397000" y="1587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99706F-8BFA-8649-AF77-DAB04450E2F6}"/>
              </a:ext>
            </a:extLst>
          </p:cNvPr>
          <p:cNvSpPr txBox="1"/>
          <p:nvPr/>
        </p:nvSpPr>
        <p:spPr>
          <a:xfrm>
            <a:off x="5080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INITIALIZE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1BD28F-1BED-6C47-8FBA-23F26AB2FDCB}"/>
              </a:ext>
            </a:extLst>
          </p:cNvPr>
          <p:cNvSpPr txBox="1"/>
          <p:nvPr/>
        </p:nvSpPr>
        <p:spPr>
          <a:xfrm>
            <a:off x="5715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startet Server
→ Server meldet
Capabilities</a:t>
            </a: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F9971818-FA33-FA4F-8A12-2EA2F0C14822}"/>
              </a:ext>
            </a:extLst>
          </p:cNvPr>
          <p:cNvSpPr/>
          <p:nvPr/>
        </p:nvSpPr>
        <p:spPr>
          <a:xfrm>
            <a:off x="3149600" y="2730500"/>
            <a:ext cx="152400" cy="2032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4CBC96E-99C7-224D-9E6F-476460F5016F}"/>
              </a:ext>
            </a:extLst>
          </p:cNvPr>
          <p:cNvSpPr/>
          <p:nvPr/>
        </p:nvSpPr>
        <p:spPr>
          <a:xfrm>
            <a:off x="33274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A2C20B-9982-6144-9EF4-BBD46AFBBBD0}"/>
              </a:ext>
            </a:extLst>
          </p:cNvPr>
          <p:cNvSpPr/>
          <p:nvPr/>
        </p:nvSpPr>
        <p:spPr>
          <a:xfrm>
            <a:off x="4343400" y="15875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792D13-2947-B049-A2CA-984D6DD90D82}"/>
              </a:ext>
            </a:extLst>
          </p:cNvPr>
          <p:cNvSpPr txBox="1"/>
          <p:nvPr/>
        </p:nvSpPr>
        <p:spPr>
          <a:xfrm>
            <a:off x="34544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  <a:latin typeface="Consolas"/>
                <a:cs typeface="Consolas"/>
              </a:rPr>
              <a:t>DISCOVERY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257836B-9A63-214D-BA9E-2E2C9CFF92E5}"/>
              </a:ext>
            </a:extLst>
          </p:cNvPr>
          <p:cNvSpPr txBox="1"/>
          <p:nvPr/>
        </p:nvSpPr>
        <p:spPr>
          <a:xfrm>
            <a:off x="35179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fragt tools/list
→ Server liefert Tools
mit Schemas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0C5DDB7E-AE6D-294A-90F6-9EEE70E6E9E7}"/>
              </a:ext>
            </a:extLst>
          </p:cNvPr>
          <p:cNvSpPr/>
          <p:nvPr/>
        </p:nvSpPr>
        <p:spPr>
          <a:xfrm>
            <a:off x="6096000" y="2730500"/>
            <a:ext cx="152400" cy="2032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0702D2B-8347-BF43-BEA3-7FFF530DBA58}"/>
              </a:ext>
            </a:extLst>
          </p:cNvPr>
          <p:cNvSpPr/>
          <p:nvPr/>
        </p:nvSpPr>
        <p:spPr>
          <a:xfrm>
            <a:off x="62738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B37C31-13CB-D345-9FAC-44E16AAAC51E}"/>
              </a:ext>
            </a:extLst>
          </p:cNvPr>
          <p:cNvSpPr/>
          <p:nvPr/>
        </p:nvSpPr>
        <p:spPr>
          <a:xfrm>
            <a:off x="7289800" y="15875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FF4B984-DC68-D14A-B4E2-733789B50385}"/>
              </a:ext>
            </a:extLst>
          </p:cNvPr>
          <p:cNvSpPr txBox="1"/>
          <p:nvPr/>
        </p:nvSpPr>
        <p:spPr>
          <a:xfrm>
            <a:off x="64008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4CAF50"/>
                </a:solidFill>
                <a:latin typeface="Consolas"/>
                <a:cs typeface="Consolas"/>
              </a:rPr>
              <a:t>OPERATION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E14AF9C-91B8-A843-A0BE-4FD69EEE8A73}"/>
              </a:ext>
            </a:extLst>
          </p:cNvPr>
          <p:cNvSpPr txBox="1"/>
          <p:nvPr/>
        </p:nvSpPr>
        <p:spPr>
          <a:xfrm>
            <a:off x="64643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ruft tools/call
→ Server führt aus
(wiederholbar)</a:t>
            </a:r>
          </a:p>
        </p:txBody>
      </p:sp>
      <p:sp>
        <p:nvSpPr>
          <p:cNvPr id="17" name="Pfeil nach rechts 16">
            <a:extLst>
              <a:ext uri="{FF2B5EF4-FFF2-40B4-BE49-F238E27FC236}">
                <a16:creationId xmlns:a16="http://schemas.microsoft.com/office/drawing/2014/main" id="{EA97B544-BB45-A747-91BD-C750FC538037}"/>
              </a:ext>
            </a:extLst>
          </p:cNvPr>
          <p:cNvSpPr/>
          <p:nvPr/>
        </p:nvSpPr>
        <p:spPr>
          <a:xfrm>
            <a:off x="9042400" y="2730500"/>
            <a:ext cx="152400" cy="2032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81360781-03BD-4D4F-B215-A9240611D4D8}"/>
              </a:ext>
            </a:extLst>
          </p:cNvPr>
          <p:cNvSpPr/>
          <p:nvPr/>
        </p:nvSpPr>
        <p:spPr>
          <a:xfrm>
            <a:off x="9220200" y="1397000"/>
            <a:ext cx="2692400" cy="304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7C8D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F7406A-C5E9-1143-B43F-1686A8319A11}"/>
              </a:ext>
            </a:extLst>
          </p:cNvPr>
          <p:cNvSpPr/>
          <p:nvPr/>
        </p:nvSpPr>
        <p:spPr>
          <a:xfrm>
            <a:off x="10236200" y="1587500"/>
            <a:ext cx="635000" cy="635000"/>
          </a:xfrm>
          <a:prstGeom prst="ellipse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91FD72B-BF19-1D48-87F8-3C4FB32B2493}"/>
              </a:ext>
            </a:extLst>
          </p:cNvPr>
          <p:cNvSpPr txBox="1"/>
          <p:nvPr/>
        </p:nvSpPr>
        <p:spPr>
          <a:xfrm>
            <a:off x="9347200" y="2349500"/>
            <a:ext cx="243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7C8DB5"/>
                </a:solidFill>
                <a:latin typeface="Consolas"/>
                <a:cs typeface="Consolas"/>
              </a:rPr>
              <a:t>SHUTDOWN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264B9BE-67B5-EA41-B502-A9E50FCD8D33}"/>
              </a:ext>
            </a:extLst>
          </p:cNvPr>
          <p:cNvSpPr txBox="1"/>
          <p:nvPr/>
        </p:nvSpPr>
        <p:spPr>
          <a:xfrm>
            <a:off x="9410700" y="2794000"/>
            <a:ext cx="23114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Client beendet
Verbindung
→ Server stoppt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F777FDFD-5A03-714C-920A-58F1E5B0D495}"/>
              </a:ext>
            </a:extLst>
          </p:cNvPr>
          <p:cNvSpPr/>
          <p:nvPr/>
        </p:nvSpPr>
        <p:spPr>
          <a:xfrm>
            <a:off x="1016000" y="4762500"/>
            <a:ext cx="10160000" cy="508000"/>
          </a:xfrm>
          <a:prstGeom prst="roundRect">
            <a:avLst/>
          </a:prstGeom>
          <a:solidFill>
            <a:srgbClr val="F0FFF0"/>
          </a:solidFill>
          <a:ln w="1905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Phase 3 (OPERATION) wiederholt sich — ein Tool-Call pro User-Nachricht</a:t>
            </a:r>
          </a:p>
        </p:txBody>
      </p:sp>
    </p:spTree>
    <p:extLst>
      <p:ext uri="{BB962C8B-B14F-4D97-AF65-F5344CB8AC3E}">
        <p14:creationId xmlns:p14="http://schemas.microsoft.com/office/powerpoint/2010/main" val="1683110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9772D8-6F15-5FD8-03BC-787DE2F4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10160000" cy="825500"/>
          </a:xfrm>
        </p:spPr>
        <p:txBody>
          <a:bodyPr>
            <a:normAutofit/>
          </a:bodyPr>
          <a:lstStyle/>
          <a:p>
            <a:r>
              <a:rPr lang="de-DE" sz="3000" b="1"/>
              <a:t>MCP-Server bauen — 15 Zeilen TypeScript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E32F6E6-7F33-D442-932A-C6F898F9644D}"/>
              </a:ext>
            </a:extLst>
          </p:cNvPr>
          <p:cNvSpPr/>
          <p:nvPr/>
        </p:nvSpPr>
        <p:spPr>
          <a:xfrm>
            <a:off x="508000" y="1270000"/>
            <a:ext cx="11176000" cy="3683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import { McpServer } from "@modelcontextprotocol/sdk";
import { StdioServerTransport } from "@modelcontextprotocol/sdk";
import { z } from "zod";
const server = new McpServer({
  name: "demo", version: "1.0.0"
});
server.tool(
  "greet", "Begrüßt einen User",
  { name: z.string() },
  async ({ name }) =&gt; ({
    content: [{ type: "text", text: `Hallo ${name}!` }]
  })
);
await server.connect(new StdioServerTransport());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E3F6F91-329C-7E42-A778-54EAEB26E498}"/>
              </a:ext>
            </a:extLst>
          </p:cNvPr>
          <p:cNvSpPr/>
          <p:nvPr/>
        </p:nvSpPr>
        <p:spPr>
          <a:xfrm>
            <a:off x="508000" y="5143500"/>
            <a:ext cx="11176000" cy="698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Das ist ein vollständiger MCP-Server.
Sofort nutzbar in Claude Code oder Copilot.</a:t>
            </a:r>
          </a:p>
        </p:txBody>
      </p:sp>
    </p:spTree>
    <p:extLst>
      <p:ext uri="{BB962C8B-B14F-4D97-AF65-F5344CB8AC3E}">
        <p14:creationId xmlns:p14="http://schemas.microsoft.com/office/powerpoint/2010/main" val="2152904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CB039-0FC6-C1DE-481A-587A4370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Warum MCP besser ist als REST für KI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BB42BA6-8D78-204F-BB47-DE029BF7A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1647"/>
              </p:ext>
            </p:extLst>
          </p:nvPr>
        </p:nvGraphicFramePr>
        <p:xfrm>
          <a:off x="508000" y="1651000"/>
          <a:ext cx="11176000" cy="393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774832651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1701562389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4046427347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Aspekt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REST + Tool Use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MCP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97785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Tool-Discovery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Manuell in JSON definieren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Server liefert automatisch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015062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Schema-Inference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JSON Schema pro Endpoint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Server deklariert Parameter + Typen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5229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Fehlerbehandlung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HTTP-Codes interpretieren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Standardisiertes Error-Format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70457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HTTP/HTTPS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stdio (lokal) oder HTTP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15533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Multi-Client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Pro Client neu integrieren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>
                          <a:solidFill>
                            <a:srgbClr val="4CAF50"/>
                          </a:solidFill>
                          <a:latin typeface="Open Sans"/>
                          <a:ea typeface="Open Sans"/>
                          <a:cs typeface="Open Sans"/>
                        </a:rPr>
                        <a:t>Einmal bauen → überall nutzen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71417"/>
                  </a:ext>
                </a:extLst>
              </a:tr>
            </a:tbl>
          </a:graphicData>
        </a:graphic>
      </p:graphicFrame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67F0B42-E9DA-0B4E-8155-865D422FB356}"/>
              </a:ext>
            </a:extLst>
          </p:cNvPr>
          <p:cNvSpPr/>
          <p:nvPr/>
        </p:nvSpPr>
        <p:spPr>
          <a:xfrm>
            <a:off x="1016000" y="5651500"/>
            <a:ext cx="10160000" cy="5080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REST geht auch (Tool Use API). MCP ist der Standard dafür.</a:t>
            </a:r>
          </a:p>
        </p:txBody>
      </p:sp>
    </p:spTree>
    <p:extLst>
      <p:ext uri="{BB962C8B-B14F-4D97-AF65-F5344CB8AC3E}">
        <p14:creationId xmlns:p14="http://schemas.microsoft.com/office/powerpoint/2010/main" val="1858205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EF385-FD38-889A-71C9-A1F431B7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MCP Tool-Call — Technischer Ablauf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82AC0B-E525-7A4C-BE2F-6DC6E5BEF91D}"/>
              </a:ext>
            </a:extLst>
          </p:cNvPr>
          <p:cNvSpPr/>
          <p:nvPr/>
        </p:nvSpPr>
        <p:spPr>
          <a:xfrm>
            <a:off x="762000" y="13335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DC737C-E8F8-E042-82D7-05F8A493D06F}"/>
              </a:ext>
            </a:extLst>
          </p:cNvPr>
          <p:cNvSpPr txBox="1"/>
          <p:nvPr/>
        </p:nvSpPr>
        <p:spPr>
          <a:xfrm>
            <a:off x="1460500" y="13335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 Code startet MCP-Server als Child-Process (stdio)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B86E077-6D51-E649-B462-2B90E6830F03}"/>
              </a:ext>
            </a:extLst>
          </p:cNvPr>
          <p:cNvSpPr/>
          <p:nvPr/>
        </p:nvSpPr>
        <p:spPr>
          <a:xfrm>
            <a:off x="990600" y="18415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40145D-04E8-6D47-8FD3-1179F884D311}"/>
              </a:ext>
            </a:extLst>
          </p:cNvPr>
          <p:cNvSpPr/>
          <p:nvPr/>
        </p:nvSpPr>
        <p:spPr>
          <a:xfrm>
            <a:off x="762000" y="19939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AFA75D7-7A3F-2146-8617-712C0B2A11E5}"/>
              </a:ext>
            </a:extLst>
          </p:cNvPr>
          <p:cNvSpPr txBox="1"/>
          <p:nvPr/>
        </p:nvSpPr>
        <p:spPr>
          <a:xfrm>
            <a:off x="1460500" y="19939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Server schickt Tool-Liste (name, description, inputSchema)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03D0E0B-D595-0146-8BA3-CF7487919CF9}"/>
              </a:ext>
            </a:extLst>
          </p:cNvPr>
          <p:cNvSpPr/>
          <p:nvPr/>
        </p:nvSpPr>
        <p:spPr>
          <a:xfrm>
            <a:off x="990600" y="25019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2B3597-6DC2-3B48-AA6C-505B1EC9DB78}"/>
              </a:ext>
            </a:extLst>
          </p:cNvPr>
          <p:cNvSpPr/>
          <p:nvPr/>
        </p:nvSpPr>
        <p:spPr>
          <a:xfrm>
            <a:off x="762000" y="26543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DA3F443-E3EF-5E49-848E-FD9C97456DB7}"/>
              </a:ext>
            </a:extLst>
          </p:cNvPr>
          <p:cNvSpPr txBox="1"/>
          <p:nvPr/>
        </p:nvSpPr>
        <p:spPr>
          <a:xfrm>
            <a:off x="1460500" y="26543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 matched Prompt gegen Tool-Descriptions → wählt Tool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011BEBA-81BD-FD4D-93AE-32D00B6C3A53}"/>
              </a:ext>
            </a:extLst>
          </p:cNvPr>
          <p:cNvSpPr/>
          <p:nvPr/>
        </p:nvSpPr>
        <p:spPr>
          <a:xfrm>
            <a:off x="990600" y="31623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7776BE-296F-4749-A658-F5FE40B30556}"/>
              </a:ext>
            </a:extLst>
          </p:cNvPr>
          <p:cNvSpPr/>
          <p:nvPr/>
        </p:nvSpPr>
        <p:spPr>
          <a:xfrm>
            <a:off x="762000" y="33147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9A4F1D7-6A73-1A4D-A48A-EEFD9D204C85}"/>
              </a:ext>
            </a:extLst>
          </p:cNvPr>
          <p:cNvSpPr txBox="1"/>
          <p:nvPr/>
        </p:nvSpPr>
        <p:spPr>
          <a:xfrm>
            <a:off x="1460500" y="33147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Claude sendet Tool-Call mit Argumenten → Server führt aus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D33066C-12D0-F447-AF32-B347A007596A}"/>
              </a:ext>
            </a:extLst>
          </p:cNvPr>
          <p:cNvSpPr/>
          <p:nvPr/>
        </p:nvSpPr>
        <p:spPr>
          <a:xfrm>
            <a:off x="990600" y="3822700"/>
            <a:ext cx="38100" cy="203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51738E-7589-E74C-A8ED-B449C6E5014F}"/>
              </a:ext>
            </a:extLst>
          </p:cNvPr>
          <p:cNvSpPr/>
          <p:nvPr/>
        </p:nvSpPr>
        <p:spPr>
          <a:xfrm>
            <a:off x="762000" y="39751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7BEA9FA-392B-0A40-ABDE-3306ECB9B422}"/>
              </a:ext>
            </a:extLst>
          </p:cNvPr>
          <p:cNvSpPr txBox="1"/>
          <p:nvPr/>
        </p:nvSpPr>
        <p:spPr>
          <a:xfrm>
            <a:off x="1460500" y="39751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Server antwortet → Claude formuliert Antwort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7E412B77-C660-F34F-8FA9-F07A761BAB4A}"/>
              </a:ext>
            </a:extLst>
          </p:cNvPr>
          <p:cNvSpPr/>
          <p:nvPr/>
        </p:nvSpPr>
        <p:spPr>
          <a:xfrm>
            <a:off x="762000" y="4699000"/>
            <a:ext cx="10668000" cy="6350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Die description ist ein Prompt an die KI — schlechte Description = falsches Tool</a:t>
            </a:r>
          </a:p>
        </p:txBody>
      </p:sp>
    </p:spTree>
    <p:extLst>
      <p:ext uri="{BB962C8B-B14F-4D97-AF65-F5344CB8AC3E}">
        <p14:creationId xmlns:p14="http://schemas.microsoft.com/office/powerpoint/2010/main" val="4002002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908BE-64CA-F05C-99AD-6BC53880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Tool-Descriptions — Schlecht vs. Gut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9ABE5DB-96AC-3540-A11E-5253B9492C35}"/>
              </a:ext>
            </a:extLst>
          </p:cNvPr>
          <p:cNvSpPr txBox="1"/>
          <p:nvPr/>
        </p:nvSpPr>
        <p:spPr>
          <a:xfrm>
            <a:off x="508000" y="1714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5252"/>
                </a:solidFill>
              </a:rPr>
              <a:t>❌ Schlecht — zu vage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C2BF0BE-6BE8-4F48-8A31-320AEFA37019}"/>
              </a:ext>
            </a:extLst>
          </p:cNvPr>
          <p:cNvSpPr/>
          <p:nvPr/>
        </p:nvSpPr>
        <p:spPr>
          <a:xfrm>
            <a:off x="508000" y="2032000"/>
            <a:ext cx="5461000" cy="1143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name: "get-data",
  description: "Holt Daten aus der DB"
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0A78436-3768-EF47-9971-64E30070AAD5}"/>
              </a:ext>
            </a:extLst>
          </p:cNvPr>
          <p:cNvSpPr txBox="1"/>
          <p:nvPr/>
        </p:nvSpPr>
        <p:spPr>
          <a:xfrm>
            <a:off x="6223000" y="17145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✅ Gut — spezifisch und leitend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638D84E-0BB4-F045-B9CF-28A6C64CE16B}"/>
              </a:ext>
            </a:extLst>
          </p:cNvPr>
          <p:cNvSpPr/>
          <p:nvPr/>
        </p:nvSpPr>
        <p:spPr>
          <a:xfrm>
            <a:off x="6223000" y="2032000"/>
            <a:ext cx="5588000" cy="1651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name: "list-tables",
  description: "Listet alle
  Tabellennamen auf. Nutze als
  ERSTEN Schritt um verfügbare
  Daten zu verstehen."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1A0ED339-63DB-1148-B064-30B5A063790F}"/>
              </a:ext>
            </a:extLst>
          </p:cNvPr>
          <p:cNvSpPr/>
          <p:nvPr/>
        </p:nvSpPr>
        <p:spPr>
          <a:xfrm>
            <a:off x="1016000" y="4191000"/>
            <a:ext cx="10160000" cy="6985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Token-Kosten: 4 Tools x 200 Tokens = 800 Tokens pro Nachricht nur für Definitionen</a:t>
            </a:r>
          </a:p>
        </p:txBody>
      </p:sp>
    </p:spTree>
    <p:extLst>
      <p:ext uri="{BB962C8B-B14F-4D97-AF65-F5344CB8AC3E}">
        <p14:creationId xmlns:p14="http://schemas.microsoft.com/office/powerpoint/2010/main" val="2133747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A36D3-7091-059D-19E8-E3FEB1C0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Anatomie eines MCP-Servers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7A2BC21D-7FEA-0C48-90EA-4BB876E3063D}"/>
              </a:ext>
            </a:extLst>
          </p:cNvPr>
          <p:cNvSpPr/>
          <p:nvPr/>
        </p:nvSpPr>
        <p:spPr>
          <a:xfrm>
            <a:off x="571500" y="1397000"/>
            <a:ext cx="3429000" cy="431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D89413-9D67-CE46-9087-8FEA77DC6278}"/>
              </a:ext>
            </a:extLst>
          </p:cNvPr>
          <p:cNvSpPr/>
          <p:nvPr/>
        </p:nvSpPr>
        <p:spPr>
          <a:xfrm>
            <a:off x="1936750" y="1587500"/>
            <a:ext cx="698500" cy="698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/>
              <a:t>⚡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382246-F307-7844-AE68-E0D7727F65F8}"/>
              </a:ext>
            </a:extLst>
          </p:cNvPr>
          <p:cNvSpPr txBox="1"/>
          <p:nvPr/>
        </p:nvSpPr>
        <p:spPr>
          <a:xfrm>
            <a:off x="762000" y="24130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Tools (Aktionen)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82CC92E-7342-8C49-8F6F-CFB84CC6E6EF}"/>
              </a:ext>
            </a:extLst>
          </p:cNvPr>
          <p:cNvSpPr txBox="1"/>
          <p:nvPr/>
        </p:nvSpPr>
        <p:spPr>
          <a:xfrm>
            <a:off x="762000" y="2794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Was KI tun kann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054987-30CC-7140-971F-C3DB5434E010}"/>
              </a:ext>
            </a:extLst>
          </p:cNvPr>
          <p:cNvSpPr txBox="1"/>
          <p:nvPr/>
        </p:nvSpPr>
        <p:spPr>
          <a:xfrm>
            <a:off x="825500" y="3238500"/>
            <a:ext cx="292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  <a:latin typeface="Consolas"/>
                <a:cs typeface="Consolas"/>
              </a:rPr>
              <a:t>• get-user
• execute-query
• create-record
• delete-record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6296554C-50AF-F541-87E8-407025BA0E6A}"/>
              </a:ext>
            </a:extLst>
          </p:cNvPr>
          <p:cNvSpPr/>
          <p:nvPr/>
        </p:nvSpPr>
        <p:spPr>
          <a:xfrm>
            <a:off x="4381500" y="1397000"/>
            <a:ext cx="3429000" cy="431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5C34EE-2809-2B47-A008-005884AFD7EA}"/>
              </a:ext>
            </a:extLst>
          </p:cNvPr>
          <p:cNvSpPr/>
          <p:nvPr/>
        </p:nvSpPr>
        <p:spPr>
          <a:xfrm>
            <a:off x="5746750" y="1587500"/>
            <a:ext cx="698500" cy="698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/>
              <a:t>📄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9496A69-3C3A-A744-A535-B5ABE2D39ED0}"/>
              </a:ext>
            </a:extLst>
          </p:cNvPr>
          <p:cNvSpPr txBox="1"/>
          <p:nvPr/>
        </p:nvSpPr>
        <p:spPr>
          <a:xfrm>
            <a:off x="4572000" y="24130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Resources (Daten)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65D9FD9-06FD-EE4F-9194-10B44062CFA8}"/>
              </a:ext>
            </a:extLst>
          </p:cNvPr>
          <p:cNvSpPr txBox="1"/>
          <p:nvPr/>
        </p:nvSpPr>
        <p:spPr>
          <a:xfrm>
            <a:off x="4572000" y="2794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Was KI lesen kann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56C6C4A-D9FE-3B40-9798-C71100DB1D40}"/>
              </a:ext>
            </a:extLst>
          </p:cNvPr>
          <p:cNvSpPr txBox="1"/>
          <p:nvPr/>
        </p:nvSpPr>
        <p:spPr>
          <a:xfrm>
            <a:off x="4635500" y="3238500"/>
            <a:ext cx="292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  <a:latin typeface="Consolas"/>
                <a:cs typeface="Consolas"/>
              </a:rPr>
              <a:t>• db://schema
• config://settings
• docs://api-spec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1369A38D-B90B-0B4A-B428-6AD38A04BFA4}"/>
              </a:ext>
            </a:extLst>
          </p:cNvPr>
          <p:cNvSpPr/>
          <p:nvPr/>
        </p:nvSpPr>
        <p:spPr>
          <a:xfrm>
            <a:off x="8191500" y="1397000"/>
            <a:ext cx="3429000" cy="4318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DD73C1-66A7-DE45-B83C-9D67D3AFD80B}"/>
              </a:ext>
            </a:extLst>
          </p:cNvPr>
          <p:cNvSpPr/>
          <p:nvPr/>
        </p:nvSpPr>
        <p:spPr>
          <a:xfrm>
            <a:off x="9556750" y="1587500"/>
            <a:ext cx="698500" cy="698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/>
              <a:t>📝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4107B5-4DAE-824E-AB82-DFECD5BCB1E1}"/>
              </a:ext>
            </a:extLst>
          </p:cNvPr>
          <p:cNvSpPr txBox="1"/>
          <p:nvPr/>
        </p:nvSpPr>
        <p:spPr>
          <a:xfrm>
            <a:off x="8382000" y="24130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Prompts (Vorlagen)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DD8AD31-C16E-3846-9C03-09AAAF4F994B}"/>
              </a:ext>
            </a:extLst>
          </p:cNvPr>
          <p:cNvSpPr txBox="1"/>
          <p:nvPr/>
        </p:nvSpPr>
        <p:spPr>
          <a:xfrm>
            <a:off x="8382000" y="2794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Vorgefertigte Templates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288321C-E85D-8B4D-B56E-1A43601D52CA}"/>
              </a:ext>
            </a:extLst>
          </p:cNvPr>
          <p:cNvSpPr txBox="1"/>
          <p:nvPr/>
        </p:nvSpPr>
        <p:spPr>
          <a:xfrm>
            <a:off x="8445500" y="3238500"/>
            <a:ext cx="2921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  <a:latin typeface="Consolas"/>
                <a:cs typeface="Consolas"/>
              </a:rPr>
              <a:t>• analyze-table
• generate-report
• debug-query</a:t>
            </a:r>
          </a:p>
        </p:txBody>
      </p:sp>
    </p:spTree>
    <p:extLst>
      <p:ext uri="{BB962C8B-B14F-4D97-AF65-F5344CB8AC3E}">
        <p14:creationId xmlns:p14="http://schemas.microsoft.com/office/powerpoint/2010/main" val="861917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285AE-BD04-1390-BF37-4A02811E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MCP-Konfiguration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0A9C795-613A-CF48-A6A9-12B95FC76561}"/>
              </a:ext>
            </a:extLst>
          </p:cNvPr>
          <p:cNvSpPr txBox="1"/>
          <p:nvPr/>
        </p:nvSpPr>
        <p:spPr>
          <a:xfrm>
            <a:off x="508000" y="17145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Claude Code — .mcp.json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FE999B08-A442-784D-90CC-57D20BC0E515}"/>
              </a:ext>
            </a:extLst>
          </p:cNvPr>
          <p:cNvSpPr/>
          <p:nvPr/>
        </p:nvSpPr>
        <p:spPr>
          <a:xfrm>
            <a:off x="508000" y="2032000"/>
            <a:ext cx="5461000" cy="2540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"mcpServers": {
    "postgres-db": {
      "command": "npx",
      "args": ["tsx","server.ts"],
      "env": {
        "DB_URL": "..."
      }
    }
  }
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563A9D-0A34-5344-9990-1F734CDCECA1}"/>
              </a:ext>
            </a:extLst>
          </p:cNvPr>
          <p:cNvSpPr txBox="1"/>
          <p:nvPr/>
        </p:nvSpPr>
        <p:spPr>
          <a:xfrm>
            <a:off x="6223000" y="17145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VS Code Copilot — .vscode/mcp.json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56ED5FF8-4972-2D4D-8F27-9C75088725FB}"/>
              </a:ext>
            </a:extLst>
          </p:cNvPr>
          <p:cNvSpPr/>
          <p:nvPr/>
        </p:nvSpPr>
        <p:spPr>
          <a:xfrm>
            <a:off x="6223000" y="2032000"/>
            <a:ext cx="5588000" cy="2540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{
  "servers": {
    "postgres-db": {
      "type": "stdio",
      "command": "npx",
      "args": ["tsx","server.ts"]
    }
  }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1102FB98-FAEB-9A46-90C3-CEDF817EB887}"/>
              </a:ext>
            </a:extLst>
          </p:cNvPr>
          <p:cNvSpPr/>
          <p:nvPr/>
        </p:nvSpPr>
        <p:spPr>
          <a:xfrm>
            <a:off x="1016000" y="5080000"/>
            <a:ext cx="10160000" cy="5715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Danach kann KI sagen: "Ich nutze jetzt get-user aus dem MCP-Server..."</a:t>
            </a:r>
          </a:p>
        </p:txBody>
      </p:sp>
    </p:spTree>
    <p:extLst>
      <p:ext uri="{BB962C8B-B14F-4D97-AF65-F5344CB8AC3E}">
        <p14:creationId xmlns:p14="http://schemas.microsoft.com/office/powerpoint/2010/main" val="3353229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3EF329-35A3-FCC6-0831-663972A3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MCP + Datenbank — Workflow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8BC8CCBF-BE6C-E048-9C33-DA55B9EB5D65}"/>
              </a:ext>
            </a:extLst>
          </p:cNvPr>
          <p:cNvSpPr/>
          <p:nvPr/>
        </p:nvSpPr>
        <p:spPr>
          <a:xfrm>
            <a:off x="444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23BCDC-65F0-C846-AB99-5611DCB3F449}"/>
              </a:ext>
            </a:extLst>
          </p:cNvPr>
          <p:cNvSpPr/>
          <p:nvPr/>
        </p:nvSpPr>
        <p:spPr>
          <a:xfrm>
            <a:off x="1397000" y="1968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0DCCC7D-2399-3541-8FFB-2AB4F6BE3CEE}"/>
              </a:ext>
            </a:extLst>
          </p:cNvPr>
          <p:cNvSpPr txBox="1"/>
          <p:nvPr/>
        </p:nvSpPr>
        <p:spPr>
          <a:xfrm>
            <a:off x="571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Schema lesen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EF2DD8-D540-B94C-AF64-3A36FCBEACAD}"/>
              </a:ext>
            </a:extLst>
          </p:cNvPr>
          <p:cNvSpPr txBox="1"/>
          <p:nvPr/>
        </p:nvSpPr>
        <p:spPr>
          <a:xfrm>
            <a:off x="571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liest Schema
via Resource</a:t>
            </a: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B4575E41-A0E9-2E4D-B5E7-DF66D63738DB}"/>
              </a:ext>
            </a:extLst>
          </p:cNvPr>
          <p:cNvSpPr/>
          <p:nvPr/>
        </p:nvSpPr>
        <p:spPr>
          <a:xfrm>
            <a:off x="3086100" y="2857500"/>
            <a:ext cx="228600" cy="2540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A696F912-E2EF-4E43-AC53-EDF59A3F1A99}"/>
              </a:ext>
            </a:extLst>
          </p:cNvPr>
          <p:cNvSpPr/>
          <p:nvPr/>
        </p:nvSpPr>
        <p:spPr>
          <a:xfrm>
            <a:off x="3365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6F8DA1-C704-3C41-BF90-5E342AA053BF}"/>
              </a:ext>
            </a:extLst>
          </p:cNvPr>
          <p:cNvSpPr/>
          <p:nvPr/>
        </p:nvSpPr>
        <p:spPr>
          <a:xfrm>
            <a:off x="4318000" y="19685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DE09437-FDA6-5444-A16D-C1A3F6EA13DC}"/>
              </a:ext>
            </a:extLst>
          </p:cNvPr>
          <p:cNvSpPr txBox="1"/>
          <p:nvPr/>
        </p:nvSpPr>
        <p:spPr>
          <a:xfrm>
            <a:off x="3492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Analysieren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3DB3B2-7035-C441-8A29-2DD259BB568D}"/>
              </a:ext>
            </a:extLst>
          </p:cNvPr>
          <p:cNvSpPr txBox="1"/>
          <p:nvPr/>
        </p:nvSpPr>
        <p:spPr>
          <a:xfrm>
            <a:off x="3492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Tabellen +
Beziehungen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DCBF6EB0-9669-C14E-8E55-F23B6C269C71}"/>
              </a:ext>
            </a:extLst>
          </p:cNvPr>
          <p:cNvSpPr/>
          <p:nvPr/>
        </p:nvSpPr>
        <p:spPr>
          <a:xfrm>
            <a:off x="6007100" y="2857500"/>
            <a:ext cx="228600" cy="2540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A97AE23B-68A9-094A-89B3-0726660B25D8}"/>
              </a:ext>
            </a:extLst>
          </p:cNvPr>
          <p:cNvSpPr/>
          <p:nvPr/>
        </p:nvSpPr>
        <p:spPr>
          <a:xfrm>
            <a:off x="6286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39833B-EE6A-F849-87B6-8FCE59C7A56C}"/>
              </a:ext>
            </a:extLst>
          </p:cNvPr>
          <p:cNvSpPr/>
          <p:nvPr/>
        </p:nvSpPr>
        <p:spPr>
          <a:xfrm>
            <a:off x="7239000" y="19685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A39136E-4CB5-9C43-BD87-07829066F5EC}"/>
              </a:ext>
            </a:extLst>
          </p:cNvPr>
          <p:cNvSpPr txBox="1"/>
          <p:nvPr/>
        </p:nvSpPr>
        <p:spPr>
          <a:xfrm>
            <a:off x="6413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Query ausführen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99E40BC-E686-F54C-972D-52F30FDF0C06}"/>
              </a:ext>
            </a:extLst>
          </p:cNvPr>
          <p:cNvSpPr txBox="1"/>
          <p:nvPr/>
        </p:nvSpPr>
        <p:spPr>
          <a:xfrm>
            <a:off x="6413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schreibt +
führt Query aus</a:t>
            </a:r>
          </a:p>
        </p:txBody>
      </p:sp>
      <p:sp>
        <p:nvSpPr>
          <p:cNvPr id="17" name="Pfeil nach rechts 16">
            <a:extLst>
              <a:ext uri="{FF2B5EF4-FFF2-40B4-BE49-F238E27FC236}">
                <a16:creationId xmlns:a16="http://schemas.microsoft.com/office/drawing/2014/main" id="{0A42ED5F-54A0-554E-B323-778E2ECCD55F}"/>
              </a:ext>
            </a:extLst>
          </p:cNvPr>
          <p:cNvSpPr/>
          <p:nvPr/>
        </p:nvSpPr>
        <p:spPr>
          <a:xfrm>
            <a:off x="8928100" y="2857500"/>
            <a:ext cx="228600" cy="2540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2E6334C-8F56-5B47-BC03-D30D505B31F9}"/>
              </a:ext>
            </a:extLst>
          </p:cNvPr>
          <p:cNvSpPr/>
          <p:nvPr/>
        </p:nvSpPr>
        <p:spPr>
          <a:xfrm>
            <a:off x="9207500" y="1778000"/>
            <a:ext cx="2540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CE22AB-E4CE-9848-ADAC-0098613AE139}"/>
              </a:ext>
            </a:extLst>
          </p:cNvPr>
          <p:cNvSpPr/>
          <p:nvPr/>
        </p:nvSpPr>
        <p:spPr>
          <a:xfrm>
            <a:off x="10160000" y="1968500"/>
            <a:ext cx="635000" cy="6350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4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EA83D53-7FB7-9E4E-ABE9-26988908F1E5}"/>
              </a:ext>
            </a:extLst>
          </p:cNvPr>
          <p:cNvSpPr txBox="1"/>
          <p:nvPr/>
        </p:nvSpPr>
        <p:spPr>
          <a:xfrm>
            <a:off x="9334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Antworten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B18A74E-6FC1-5D4D-9A2D-C30301480A33}"/>
              </a:ext>
            </a:extLst>
          </p:cNvPr>
          <p:cNvSpPr txBox="1"/>
          <p:nvPr/>
        </p:nvSpPr>
        <p:spPr>
          <a:xfrm>
            <a:off x="9334500" y="3175000"/>
            <a:ext cx="228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interpretiert
und antwortet</a:t>
            </a: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013B8C3C-E4A7-EC41-910B-9B67E0D75ACB}"/>
              </a:ext>
            </a:extLst>
          </p:cNvPr>
          <p:cNvSpPr/>
          <p:nvPr/>
        </p:nvSpPr>
        <p:spPr>
          <a:xfrm>
            <a:off x="1016000" y="4826000"/>
            <a:ext cx="10160000" cy="63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KI führt Queries selbst aus, nicht nur Vorschläge</a:t>
            </a:r>
          </a:p>
        </p:txBody>
      </p:sp>
    </p:spTree>
    <p:extLst>
      <p:ext uri="{BB962C8B-B14F-4D97-AF65-F5344CB8AC3E}">
        <p14:creationId xmlns:p14="http://schemas.microsoft.com/office/powerpoint/2010/main" val="2738953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01302-61BB-872D-F510-204AF52A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Authentifizierung — 3 Ebenen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58737EDD-A621-E441-A9E3-3685D51F95F3}"/>
              </a:ext>
            </a:extLst>
          </p:cNvPr>
          <p:cNvSpPr/>
          <p:nvPr/>
        </p:nvSpPr>
        <p:spPr>
          <a:xfrm>
            <a:off x="1016000" y="1778000"/>
            <a:ext cx="10160000" cy="1143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F01C37-C7EB-2C47-A8D4-A55EA07F0CCE}"/>
              </a:ext>
            </a:extLst>
          </p:cNvPr>
          <p:cNvSpPr/>
          <p:nvPr/>
        </p:nvSpPr>
        <p:spPr>
          <a:xfrm>
            <a:off x="1270000" y="2032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93C7574-7975-2347-B5F8-8D081993AAE8}"/>
              </a:ext>
            </a:extLst>
          </p:cNvPr>
          <p:cNvSpPr txBox="1"/>
          <p:nvPr/>
        </p:nvSpPr>
        <p:spPr>
          <a:xfrm>
            <a:off x="2159000" y="1905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Transport-Security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196925-4717-594D-86F6-2BBF54E9B3EF}"/>
              </a:ext>
            </a:extLst>
          </p:cNvPr>
          <p:cNvSpPr txBox="1"/>
          <p:nvPr/>
        </p:nvSpPr>
        <p:spPr>
          <a:xfrm>
            <a:off x="2159000" y="23876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API-Key im Header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097B8D7-8A94-F24D-8DBD-872CC9E71CF1}"/>
              </a:ext>
            </a:extLst>
          </p:cNvPr>
          <p:cNvSpPr/>
          <p:nvPr/>
        </p:nvSpPr>
        <p:spPr>
          <a:xfrm>
            <a:off x="1016000" y="3302000"/>
            <a:ext cx="10160000" cy="1143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12B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BCB1DA-9E01-7944-9D27-21C8F2414F21}"/>
              </a:ext>
            </a:extLst>
          </p:cNvPr>
          <p:cNvSpPr/>
          <p:nvPr/>
        </p:nvSpPr>
        <p:spPr>
          <a:xfrm>
            <a:off x="1270000" y="35560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6DDD15F-FF64-5F49-9295-5632F0DE77CC}"/>
              </a:ext>
            </a:extLst>
          </p:cNvPr>
          <p:cNvSpPr txBox="1"/>
          <p:nvPr/>
        </p:nvSpPr>
        <p:spPr>
          <a:xfrm>
            <a:off x="2159000" y="3429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B80"/>
                </a:solidFill>
              </a:rPr>
              <a:t>DB-Berechtigungen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C9BA23-1AC4-6449-8194-B4BFC3DC2269}"/>
              </a:ext>
            </a:extLst>
          </p:cNvPr>
          <p:cNvSpPr txBox="1"/>
          <p:nvPr/>
        </p:nvSpPr>
        <p:spPr>
          <a:xfrm>
            <a:off x="2159000" y="39116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Read-Only User, Schema-Beschränkung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CEC6B78D-CF68-2342-8FE0-98DDB7B6B628}"/>
              </a:ext>
            </a:extLst>
          </p:cNvPr>
          <p:cNvSpPr/>
          <p:nvPr/>
        </p:nvSpPr>
        <p:spPr>
          <a:xfrm>
            <a:off x="1016000" y="4826000"/>
            <a:ext cx="10160000" cy="1143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258F21-EEE4-284A-9A6A-08EAE736B99A}"/>
              </a:ext>
            </a:extLst>
          </p:cNvPr>
          <p:cNvSpPr/>
          <p:nvPr/>
        </p:nvSpPr>
        <p:spPr>
          <a:xfrm>
            <a:off x="1270000" y="50800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340EFFA-6DEE-CE4B-9F1A-5AC80A310B16}"/>
              </a:ext>
            </a:extLst>
          </p:cNvPr>
          <p:cNvSpPr txBox="1"/>
          <p:nvPr/>
        </p:nvSpPr>
        <p:spPr>
          <a:xfrm>
            <a:off x="2159000" y="4953000"/>
            <a:ext cx="381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4CAF50"/>
                </a:solidFill>
              </a:rPr>
              <a:t>Tool-Level Authorization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AB9F909-9C95-A647-AECE-D3C52720E0DE}"/>
              </a:ext>
            </a:extLst>
          </p:cNvPr>
          <p:cNvSpPr txBox="1"/>
          <p:nvPr/>
        </p:nvSpPr>
        <p:spPr>
          <a:xfrm>
            <a:off x="2159000" y="5435600"/>
            <a:ext cx="863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Admin-Only für delete, 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239096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42F45-70C1-3DD2-F3D0-84D372BD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SQL-Injection im MCP-Kontext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92596D-6888-F749-9D4C-7B77EBE58C18}"/>
              </a:ext>
            </a:extLst>
          </p:cNvPr>
          <p:cNvSpPr txBox="1"/>
          <p:nvPr/>
        </p:nvSpPr>
        <p:spPr>
          <a:xfrm>
            <a:off x="508000" y="1651000"/>
            <a:ext cx="546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FF5252"/>
                </a:solidFill>
              </a:rPr>
              <a:t>❌ UNSICHER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15B209A-FCB3-F640-B61C-F25B5D4F1404}"/>
              </a:ext>
            </a:extLst>
          </p:cNvPr>
          <p:cNvSpPr/>
          <p:nvPr/>
        </p:nvSpPr>
        <p:spPr>
          <a:xfrm>
            <a:off x="508000" y="1879600"/>
            <a:ext cx="5461000" cy="889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FF5252"/>
                </a:solidFill>
                <a:latin typeface="Consolas"/>
                <a:cs typeface="Consolas"/>
              </a:rPr>
              <a:t>SELECT * FROM ${tableName}
WHERE ${whereClause}
// KI könnte: 1=1; DROP TABLE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A90768-677C-834B-A6FE-3691DDAE972A}"/>
              </a:ext>
            </a:extLst>
          </p:cNvPr>
          <p:cNvSpPr txBox="1"/>
          <p:nvPr/>
        </p:nvSpPr>
        <p:spPr>
          <a:xfrm>
            <a:off x="6223000" y="1651000"/>
            <a:ext cx="558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4CAF50"/>
                </a:solidFill>
              </a:rPr>
              <a:t>✅ SICHER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E35F735-8C09-CC47-ADEE-F7C6C8E74832}"/>
              </a:ext>
            </a:extLst>
          </p:cNvPr>
          <p:cNvSpPr/>
          <p:nvPr/>
        </p:nvSpPr>
        <p:spPr>
          <a:xfrm>
            <a:off x="6223000" y="1879600"/>
            <a:ext cx="5588000" cy="889000"/>
          </a:xfrm>
          <a:prstGeom prst="roundRect">
            <a:avLst/>
          </a:prstGeom>
          <a:solidFill>
            <a:srgbClr val="1E1E2E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4CAF50"/>
                </a:solidFill>
                <a:latin typeface="Consolas"/>
                <a:cs typeface="Consolas"/>
              </a:rPr>
              <a:t>Tabellen-Whitelist +
Parameterized Queries +
Regex-Validierung für WHERE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A8F5DD06-6067-0147-A301-48038095E682}"/>
              </a:ext>
            </a:extLst>
          </p:cNvPr>
          <p:cNvSpPr/>
          <p:nvPr/>
        </p:nvSpPr>
        <p:spPr>
          <a:xfrm>
            <a:off x="762000" y="3048000"/>
            <a:ext cx="10668000" cy="4064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Tabellen-Whitelist (nur erlaubte Tabellen)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D19CAE2-6779-5648-A443-7FBB83D0C60B}"/>
              </a:ext>
            </a:extLst>
          </p:cNvPr>
          <p:cNvSpPr/>
          <p:nvPr/>
        </p:nvSpPr>
        <p:spPr>
          <a:xfrm>
            <a:off x="762000" y="3530600"/>
            <a:ext cx="10668000" cy="40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Parameterized Queries (keine String-Interpolation)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40DAB4DD-B6CB-7948-93E5-B1B8EE815B77}"/>
              </a:ext>
            </a:extLst>
          </p:cNvPr>
          <p:cNvSpPr/>
          <p:nvPr/>
        </p:nvSpPr>
        <p:spPr>
          <a:xfrm>
            <a:off x="762000" y="4013200"/>
            <a:ext cx="10668000" cy="4064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Sensible Spalten filtern (PASSWORD, SECRET, API_KEY)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1E773D35-CDA6-1346-AD0D-ED1F15202D6D}"/>
              </a:ext>
            </a:extLst>
          </p:cNvPr>
          <p:cNvSpPr/>
          <p:nvPr/>
        </p:nvSpPr>
        <p:spPr>
          <a:xfrm>
            <a:off x="762000" y="4495800"/>
            <a:ext cx="10668000" cy="406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Rate Limiting: Max. 10 Tool-Calls/Minute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B19F097F-CEA2-2849-9592-72BF55964F6E}"/>
              </a:ext>
            </a:extLst>
          </p:cNvPr>
          <p:cNvSpPr/>
          <p:nvPr/>
        </p:nvSpPr>
        <p:spPr>
          <a:xfrm>
            <a:off x="762000" y="4978400"/>
            <a:ext cx="10668000" cy="406400"/>
          </a:xfrm>
          <a:prstGeom prst="roundRect">
            <a:avLst/>
          </a:prstGeom>
          <a:solidFill>
            <a:srgbClr val="F0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✅ Logging: Tool-Calls loggen, KEINE Query-Parameter</a:t>
            </a:r>
          </a:p>
        </p:txBody>
      </p:sp>
    </p:spTree>
    <p:extLst>
      <p:ext uri="{BB962C8B-B14F-4D97-AF65-F5344CB8AC3E}">
        <p14:creationId xmlns:p14="http://schemas.microsoft.com/office/powerpoint/2010/main" val="909446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E744E-5916-B248-9279-9F7F64CE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000" b="1"/>
              <a:t>Security-Checklist für KI im Unternehmen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7EE1DF83-9550-8248-8172-F47740720A11}"/>
              </a:ext>
            </a:extLst>
          </p:cNvPr>
          <p:cNvSpPr/>
          <p:nvPr/>
        </p:nvSpPr>
        <p:spPr>
          <a:xfrm>
            <a:off x="508000" y="1714500"/>
            <a:ext cx="5461000" cy="7874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91C9B8-19E6-0F42-B00D-5C818B4CB7BE}"/>
              </a:ext>
            </a:extLst>
          </p:cNvPr>
          <p:cNvSpPr/>
          <p:nvPr/>
        </p:nvSpPr>
        <p:spPr>
          <a:xfrm>
            <a:off x="660400" y="1727200"/>
            <a:ext cx="482600" cy="4826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9DD1651-792D-BA4E-BFFD-25B631A8AECC}"/>
              </a:ext>
            </a:extLst>
          </p:cNvPr>
          <p:cNvSpPr txBox="1"/>
          <p:nvPr/>
        </p:nvSpPr>
        <p:spPr>
          <a:xfrm>
            <a:off x="1270000" y="17780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Datenklassifizierung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F20B648-618E-5549-B09A-C498C97BF3A5}"/>
              </a:ext>
            </a:extLst>
          </p:cNvPr>
          <p:cNvSpPr txBox="1"/>
          <p:nvPr/>
        </p:nvSpPr>
        <p:spPr>
          <a:xfrm>
            <a:off x="1270000" y="19939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Welche Daten dürfen an welche KI?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ADD27C0-3899-2A42-96C2-0C4FE99C3698}"/>
              </a:ext>
            </a:extLst>
          </p:cNvPr>
          <p:cNvSpPr/>
          <p:nvPr/>
        </p:nvSpPr>
        <p:spPr>
          <a:xfrm>
            <a:off x="508000" y="2501900"/>
            <a:ext cx="5461000" cy="7874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D318BB-EE1C-6441-AD10-5448E2D638E6}"/>
              </a:ext>
            </a:extLst>
          </p:cNvPr>
          <p:cNvSpPr/>
          <p:nvPr/>
        </p:nvSpPr>
        <p:spPr>
          <a:xfrm>
            <a:off x="660400" y="2641600"/>
            <a:ext cx="482600" cy="4826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90AC53B-1593-9540-AC44-621072C38E01}"/>
              </a:ext>
            </a:extLst>
          </p:cNvPr>
          <p:cNvSpPr txBox="1"/>
          <p:nvPr/>
        </p:nvSpPr>
        <p:spPr>
          <a:xfrm>
            <a:off x="1270000" y="25654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Anbieter-Compliance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5F38258-0873-E54D-8A98-521A370230AE}"/>
              </a:ext>
            </a:extLst>
          </p:cNvPr>
          <p:cNvSpPr txBox="1"/>
          <p:nvPr/>
        </p:nvSpPr>
        <p:spPr>
          <a:xfrm>
            <a:off x="1270000" y="29083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DSGVO, SOC2, ISO 27001?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7679AE5A-3664-394D-A34E-369E1A9FE5A3}"/>
              </a:ext>
            </a:extLst>
          </p:cNvPr>
          <p:cNvSpPr/>
          <p:nvPr/>
        </p:nvSpPr>
        <p:spPr>
          <a:xfrm>
            <a:off x="508000" y="3416300"/>
            <a:ext cx="5461000" cy="7874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D16404-39D2-B74A-87F7-5BB972D6B939}"/>
              </a:ext>
            </a:extLst>
          </p:cNvPr>
          <p:cNvSpPr/>
          <p:nvPr/>
        </p:nvSpPr>
        <p:spPr>
          <a:xfrm>
            <a:off x="660400" y="3556000"/>
            <a:ext cx="482600" cy="4826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FE6450-EFF5-0448-B992-2983953A128E}"/>
              </a:ext>
            </a:extLst>
          </p:cNvPr>
          <p:cNvSpPr txBox="1"/>
          <p:nvPr/>
        </p:nvSpPr>
        <p:spPr>
          <a:xfrm>
            <a:off x="1270000" y="34798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API-Key-Management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C9AA590-4DCB-7540-A456-E8FC78E6C8BA}"/>
              </a:ext>
            </a:extLst>
          </p:cNvPr>
          <p:cNvSpPr txBox="1"/>
          <p:nvPr/>
        </p:nvSpPr>
        <p:spPr>
          <a:xfrm>
            <a:off x="1270000" y="38227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Sichere Verwaltung + Rotation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68C55BF6-3E84-924A-942B-DF5B5D2B874A}"/>
              </a:ext>
            </a:extLst>
          </p:cNvPr>
          <p:cNvSpPr/>
          <p:nvPr/>
        </p:nvSpPr>
        <p:spPr>
          <a:xfrm>
            <a:off x="508000" y="4330700"/>
            <a:ext cx="5461000" cy="7874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BA2643F-E717-1249-9C9E-B2F758997970}"/>
              </a:ext>
            </a:extLst>
          </p:cNvPr>
          <p:cNvSpPr/>
          <p:nvPr/>
        </p:nvSpPr>
        <p:spPr>
          <a:xfrm>
            <a:off x="660400" y="4470400"/>
            <a:ext cx="482600" cy="4826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1E186D3-3F99-0B46-B49F-CCFCD78F2F64}"/>
              </a:ext>
            </a:extLst>
          </p:cNvPr>
          <p:cNvSpPr txBox="1"/>
          <p:nvPr/>
        </p:nvSpPr>
        <p:spPr>
          <a:xfrm>
            <a:off x="1270000" y="43942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Output-Validierung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FA5AF94-E5EE-6949-80AF-4C91AF583078}"/>
              </a:ext>
            </a:extLst>
          </p:cNvPr>
          <p:cNvSpPr txBox="1"/>
          <p:nvPr/>
        </p:nvSpPr>
        <p:spPr>
          <a:xfrm>
            <a:off x="1270000" y="47371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KI-Outputs vor Nutzung prüfen</a:t>
            </a: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57043E4E-B275-1848-B75B-B24BB4F91CFA}"/>
              </a:ext>
            </a:extLst>
          </p:cNvPr>
          <p:cNvSpPr/>
          <p:nvPr/>
        </p:nvSpPr>
        <p:spPr>
          <a:xfrm>
            <a:off x="6223000" y="1714500"/>
            <a:ext cx="5461000" cy="7874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4C8D4B-38B3-E34C-9965-C10D9D0C898D}"/>
              </a:ext>
            </a:extLst>
          </p:cNvPr>
          <p:cNvSpPr/>
          <p:nvPr/>
        </p:nvSpPr>
        <p:spPr>
          <a:xfrm>
            <a:off x="6375400" y="1727200"/>
            <a:ext cx="482600" cy="4826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39FF3AF-8D86-F846-A30E-0BF6DD774917}"/>
              </a:ext>
            </a:extLst>
          </p:cNvPr>
          <p:cNvSpPr txBox="1"/>
          <p:nvPr/>
        </p:nvSpPr>
        <p:spPr>
          <a:xfrm>
            <a:off x="6985000" y="17780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Logging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CB9877D-69E6-4449-A65B-3DFC577337A5}"/>
              </a:ext>
            </a:extLst>
          </p:cNvPr>
          <p:cNvSpPr txBox="1"/>
          <p:nvPr/>
        </p:nvSpPr>
        <p:spPr>
          <a:xfrm>
            <a:off x="6985000" y="19939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Alle KI-Interaktionen auditierbar</a:t>
            </a: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31CCF2A9-0940-7F4D-BFE1-859C2D936C6C}"/>
              </a:ext>
            </a:extLst>
          </p:cNvPr>
          <p:cNvSpPr/>
          <p:nvPr/>
        </p:nvSpPr>
        <p:spPr>
          <a:xfrm>
            <a:off x="6223000" y="2501900"/>
            <a:ext cx="5461000" cy="7874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92B7F1A-B543-6D49-803F-539B53FDB86B}"/>
              </a:ext>
            </a:extLst>
          </p:cNvPr>
          <p:cNvSpPr/>
          <p:nvPr/>
        </p:nvSpPr>
        <p:spPr>
          <a:xfrm>
            <a:off x="6375400" y="2641600"/>
            <a:ext cx="482600" cy="4826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6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53711E7-8E36-1E4E-B5BE-86C24B9A1F4A}"/>
              </a:ext>
            </a:extLst>
          </p:cNvPr>
          <p:cNvSpPr txBox="1"/>
          <p:nvPr/>
        </p:nvSpPr>
        <p:spPr>
          <a:xfrm>
            <a:off x="6985000" y="25654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Lokale Alternativen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BA72F5D-5A57-0049-811A-6CF3080F0901}"/>
              </a:ext>
            </a:extLst>
          </p:cNvPr>
          <p:cNvSpPr txBox="1"/>
          <p:nvPr/>
        </p:nvSpPr>
        <p:spPr>
          <a:xfrm>
            <a:off x="6985000" y="29083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Sensible Daten nur lokal (OLLAMA)</a:t>
            </a: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507E24CB-B796-524E-BE3C-FD74CD0CA41F}"/>
              </a:ext>
            </a:extLst>
          </p:cNvPr>
          <p:cNvSpPr/>
          <p:nvPr/>
        </p:nvSpPr>
        <p:spPr>
          <a:xfrm>
            <a:off x="6223000" y="3416300"/>
            <a:ext cx="5461000" cy="7874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3FDE366-2E25-8D49-9C8D-B68B0E8BAA8D}"/>
              </a:ext>
            </a:extLst>
          </p:cNvPr>
          <p:cNvSpPr/>
          <p:nvPr/>
        </p:nvSpPr>
        <p:spPr>
          <a:xfrm>
            <a:off x="6375400" y="3556000"/>
            <a:ext cx="482600" cy="4826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7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369E7FF-957B-8A42-85AD-586122358C62}"/>
              </a:ext>
            </a:extLst>
          </p:cNvPr>
          <p:cNvSpPr txBox="1"/>
          <p:nvPr/>
        </p:nvSpPr>
        <p:spPr>
          <a:xfrm>
            <a:off x="6985000" y="34798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Security Scans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A2C908B-2465-4A4B-9295-5169221550B3}"/>
              </a:ext>
            </a:extLst>
          </p:cNvPr>
          <p:cNvSpPr txBox="1"/>
          <p:nvPr/>
        </p:nvSpPr>
        <p:spPr>
          <a:xfrm>
            <a:off x="6985000" y="38227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Automatisch in CI/CD</a:t>
            </a: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FCBAC874-B863-8A4E-B327-9FA1BF32FF77}"/>
              </a:ext>
            </a:extLst>
          </p:cNvPr>
          <p:cNvSpPr/>
          <p:nvPr/>
        </p:nvSpPr>
        <p:spPr>
          <a:xfrm>
            <a:off x="6223000" y="4330700"/>
            <a:ext cx="5461000" cy="7874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FD4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6613026-B730-4D46-AC4F-B4047EDA68A5}"/>
              </a:ext>
            </a:extLst>
          </p:cNvPr>
          <p:cNvSpPr/>
          <p:nvPr/>
        </p:nvSpPr>
        <p:spPr>
          <a:xfrm>
            <a:off x="6375400" y="4470400"/>
            <a:ext cx="482600" cy="4826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8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CF57192-BFAB-024D-A794-C9E6A3C812C7}"/>
              </a:ext>
            </a:extLst>
          </p:cNvPr>
          <p:cNvSpPr txBox="1"/>
          <p:nvPr/>
        </p:nvSpPr>
        <p:spPr>
          <a:xfrm>
            <a:off x="6985000" y="4394200"/>
            <a:ext cx="444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Penetration Testing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F953594-98AA-A648-8650-695648EA76CA}"/>
              </a:ext>
            </a:extLst>
          </p:cNvPr>
          <p:cNvSpPr txBox="1"/>
          <p:nvPr/>
        </p:nvSpPr>
        <p:spPr>
          <a:xfrm>
            <a:off x="6985000" y="47371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Regelmäßig mit KI-Support</a:t>
            </a:r>
          </a:p>
        </p:txBody>
      </p:sp>
    </p:spTree>
    <p:extLst>
      <p:ext uri="{BB962C8B-B14F-4D97-AF65-F5344CB8AC3E}">
        <p14:creationId xmlns:p14="http://schemas.microsoft.com/office/powerpoint/2010/main" val="1119816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AB203-27C8-F729-10B8-5F8C3634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Playwright MCP — Live-Demo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88F7971-A8AF-5F4F-9EB9-4DCD07420787}"/>
              </a:ext>
            </a:extLst>
          </p:cNvPr>
          <p:cNvSpPr txBox="1"/>
          <p:nvPr/>
        </p:nvSpPr>
        <p:spPr>
          <a:xfrm>
            <a:off x="508000" y="1778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Was es kann: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31D464E-6B22-EC47-BFDB-9DD9FA76CA55}"/>
              </a:ext>
            </a:extLst>
          </p:cNvPr>
          <p:cNvSpPr txBox="1"/>
          <p:nvPr/>
        </p:nvSpPr>
        <p:spPr>
          <a:xfrm>
            <a:off x="508000" y="2095500"/>
            <a:ext cx="508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• Selbstheilende Tests
• Accessibility-Snapshots (kein Screenshot nötig)
• Browser-Automatisierung via KI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BB5F3BD-E86A-154D-A00A-4C1F42FE234F}"/>
              </a:ext>
            </a:extLst>
          </p:cNvPr>
          <p:cNvSpPr txBox="1"/>
          <p:nvPr/>
        </p:nvSpPr>
        <p:spPr>
          <a:xfrm>
            <a:off x="762000" y="36830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5252"/>
                </a:solidFill>
              </a:rPr>
              <a:t>Klassisch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EE066196-24A4-414A-92EF-F6B91C62693E}"/>
              </a:ext>
            </a:extLst>
          </p:cNvPr>
          <p:cNvSpPr/>
          <p:nvPr/>
        </p:nvSpPr>
        <p:spPr>
          <a:xfrm>
            <a:off x="762000" y="4127500"/>
            <a:ext cx="4826000" cy="1016000"/>
          </a:xfrm>
          <a:prstGeom prst="roundRect">
            <a:avLst/>
          </a:prstGeom>
          <a:solidFill>
            <a:srgbClr val="FFF0F0"/>
          </a:solidFill>
          <a:ln w="25400" cap="flat" cmpd="sng" algn="ctr">
            <a:solidFill>
              <a:srgbClr val="FF52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schreibt → du testest →
Fehler → KI fixt → du testest...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1D381A6-4C6A-014F-98B0-F44534300160}"/>
              </a:ext>
            </a:extLst>
          </p:cNvPr>
          <p:cNvSpPr txBox="1"/>
          <p:nvPr/>
        </p:nvSpPr>
        <p:spPr>
          <a:xfrm>
            <a:off x="6350000" y="3683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Mit MCP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ADA03220-5C26-2E45-A0C7-2A76EEC8952E}"/>
              </a:ext>
            </a:extLst>
          </p:cNvPr>
          <p:cNvSpPr/>
          <p:nvPr/>
        </p:nvSpPr>
        <p:spPr>
          <a:xfrm>
            <a:off x="6350000" y="4127500"/>
            <a:ext cx="5080000" cy="1016000"/>
          </a:xfrm>
          <a:prstGeom prst="roundRect">
            <a:avLst/>
          </a:prstGeom>
          <a:solidFill>
            <a:srgbClr val="F0FFF0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KI schreibt → testet selbst →
fixt direkt → fertig!</a:t>
            </a:r>
          </a:p>
        </p:txBody>
      </p:sp>
      <p:sp>
        <p:nvSpPr>
          <p:cNvPr id="9" name="Pfeil nach rechts 8">
            <a:extLst>
              <a:ext uri="{FF2B5EF4-FFF2-40B4-BE49-F238E27FC236}">
                <a16:creationId xmlns:a16="http://schemas.microsoft.com/office/drawing/2014/main" id="{352BCF63-EE70-5046-B3EE-8B96697C7D2C}"/>
              </a:ext>
            </a:extLst>
          </p:cNvPr>
          <p:cNvSpPr/>
          <p:nvPr/>
        </p:nvSpPr>
        <p:spPr>
          <a:xfrm>
            <a:off x="5715000" y="4445000"/>
            <a:ext cx="508000" cy="3175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5762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4EDAD-BC8E-0E8B-ED4C-3E9BBAF8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600" b="1"/>
              <a:t>Wann MCP einsetzen?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5DE3061-100D-794E-857E-E0C4CFA9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4822"/>
              </p:ext>
            </p:extLst>
          </p:nvPr>
        </p:nvGraphicFramePr>
        <p:xfrm>
          <a:off x="1016000" y="1778000"/>
          <a:ext cx="10160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4221861764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121273391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Situation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Empfehlung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484158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DB-Schema verstehen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MCP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06175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Wiederholt auf Daten zugreifen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MCP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60251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Einmalige API-Abfrage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7C8DB5"/>
                          </a:solidFill>
                          <a:latin typeface="Open Sans"/>
                          <a:ea typeface="Open Sans"/>
                          <a:cs typeface="Open Sans"/>
                        </a:rPr>
                        <a:t>Direkt via URL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72252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de-DE" sz="18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Team nutzt gleichen Datenzugriff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MCP (einmal bauen, alle nutzen)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14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798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336CF-4020-3C92-0131-A604356B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Hands-on: Architektur-Überblick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99A2D2C2-6156-CA45-B315-40DD092A32D6}"/>
              </a:ext>
            </a:extLst>
          </p:cNvPr>
          <p:cNvSpPr/>
          <p:nvPr/>
        </p:nvSpPr>
        <p:spPr>
          <a:xfrm>
            <a:off x="869950" y="1905000"/>
            <a:ext cx="1968500" cy="1143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Vue.js
Frontend</a:t>
            </a: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FE8BB1EF-9AA4-1141-A8EB-2EC2D1800F8A}"/>
              </a:ext>
            </a:extLst>
          </p:cNvPr>
          <p:cNvSpPr/>
          <p:nvPr/>
        </p:nvSpPr>
        <p:spPr>
          <a:xfrm>
            <a:off x="28638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F93F10BC-50B1-F04E-B6F0-914257FAAE96}"/>
              </a:ext>
            </a:extLst>
          </p:cNvPr>
          <p:cNvSpPr/>
          <p:nvPr/>
        </p:nvSpPr>
        <p:spPr>
          <a:xfrm>
            <a:off x="2990850" y="1905000"/>
            <a:ext cx="1968500" cy="1143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Spring Boot
Backend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FA41948D-8A5B-C94D-8EF8-8EB3F5C2096E}"/>
              </a:ext>
            </a:extLst>
          </p:cNvPr>
          <p:cNvSpPr/>
          <p:nvPr/>
        </p:nvSpPr>
        <p:spPr>
          <a:xfrm>
            <a:off x="49847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3157A968-5BF9-7C48-BCEA-BE2DDC932DEB}"/>
              </a:ext>
            </a:extLst>
          </p:cNvPr>
          <p:cNvSpPr/>
          <p:nvPr/>
        </p:nvSpPr>
        <p:spPr>
          <a:xfrm>
            <a:off x="5111750" y="1905000"/>
            <a:ext cx="1968500" cy="1143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Claude API
(Tool Use)</a:t>
            </a:r>
          </a:p>
        </p:txBody>
      </p:sp>
      <p:sp>
        <p:nvSpPr>
          <p:cNvPr id="8" name="Pfeil nach rechts 7">
            <a:extLst>
              <a:ext uri="{FF2B5EF4-FFF2-40B4-BE49-F238E27FC236}">
                <a16:creationId xmlns:a16="http://schemas.microsoft.com/office/drawing/2014/main" id="{829EE023-2354-424F-9DC4-41111A0CE7E9}"/>
              </a:ext>
            </a:extLst>
          </p:cNvPr>
          <p:cNvSpPr/>
          <p:nvPr/>
        </p:nvSpPr>
        <p:spPr>
          <a:xfrm>
            <a:off x="71056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C6165E93-0863-B54F-AACD-F662517DC56B}"/>
              </a:ext>
            </a:extLst>
          </p:cNvPr>
          <p:cNvSpPr/>
          <p:nvPr/>
        </p:nvSpPr>
        <p:spPr>
          <a:xfrm>
            <a:off x="7232650" y="1905000"/>
            <a:ext cx="1968500" cy="1143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212121"/>
                </a:solidFill>
              </a:rPr>
              <a:t>MCP Server
(TypeScript)</a:t>
            </a:r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9FFA0A27-1981-DE44-8C9F-816B058C2C87}"/>
              </a:ext>
            </a:extLst>
          </p:cNvPr>
          <p:cNvSpPr/>
          <p:nvPr/>
        </p:nvSpPr>
        <p:spPr>
          <a:xfrm>
            <a:off x="9226550" y="2349500"/>
            <a:ext cx="101600" cy="228600"/>
          </a:xfrm>
          <a:prstGeom prst="rightArrow">
            <a:avLst/>
          </a:prstGeom>
          <a:solidFill>
            <a:srgbClr val="7C8D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815AE725-0960-394C-A3A7-5F15AB1D1FC4}"/>
              </a:ext>
            </a:extLst>
          </p:cNvPr>
          <p:cNvSpPr/>
          <p:nvPr/>
        </p:nvSpPr>
        <p:spPr>
          <a:xfrm>
            <a:off x="9353550" y="1905000"/>
            <a:ext cx="1968500" cy="1143000"/>
          </a:xfrm>
          <a:prstGeom prst="roundRect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PostgreSQL
Database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FA674D-A1FE-5344-9C71-BF4B81143532}"/>
              </a:ext>
            </a:extLst>
          </p:cNvPr>
          <p:cNvSpPr txBox="1"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Wir erweitern den Chatbot von Tag 1!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4AB69BE3-F87D-E14A-BF36-DC69D1CE98CC}"/>
              </a:ext>
            </a:extLst>
          </p:cNvPr>
          <p:cNvSpPr/>
          <p:nvPr/>
        </p:nvSpPr>
        <p:spPr>
          <a:xfrm>
            <a:off x="6858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09A840-24C9-8242-90F6-5134039E81E4}"/>
              </a:ext>
            </a:extLst>
          </p:cNvPr>
          <p:cNvSpPr/>
          <p:nvPr/>
        </p:nvSpPr>
        <p:spPr>
          <a:xfrm>
            <a:off x="12954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F8F2416-ABE4-B742-8CE0-AC66EE667708}"/>
              </a:ext>
            </a:extLst>
          </p:cNvPr>
          <p:cNvSpPr txBox="1"/>
          <p:nvPr/>
        </p:nvSpPr>
        <p:spPr>
          <a:xfrm>
            <a:off x="7493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Starter verstehen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BFA9E70-2A60-B845-8874-CC61C7665AE7}"/>
              </a:ext>
            </a:extLst>
          </p:cNvPr>
          <p:cNvSpPr txBox="1"/>
          <p:nvPr/>
        </p:nvSpPr>
        <p:spPr>
          <a:xfrm>
            <a:off x="7493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15 Min</a:t>
            </a:r>
          </a:p>
        </p:txBody>
      </p: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536BA1C5-33E1-4245-8A1C-FA6FCAA98E94}"/>
              </a:ext>
            </a:extLst>
          </p:cNvPr>
          <p:cNvSpPr/>
          <p:nvPr/>
        </p:nvSpPr>
        <p:spPr>
          <a:xfrm>
            <a:off x="25146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F06D73-2466-BF4B-9EBF-77BA818A909E}"/>
              </a:ext>
            </a:extLst>
          </p:cNvPr>
          <p:cNvSpPr/>
          <p:nvPr/>
        </p:nvSpPr>
        <p:spPr>
          <a:xfrm>
            <a:off x="31242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7873A8E-F180-2C4D-9BCE-5C087279E3F3}"/>
              </a:ext>
            </a:extLst>
          </p:cNvPr>
          <p:cNvSpPr txBox="1"/>
          <p:nvPr/>
        </p:nvSpPr>
        <p:spPr>
          <a:xfrm>
            <a:off x="25781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PostgreSQL Connector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D333BD-870B-D04D-B47A-95C408C7E4A1}"/>
              </a:ext>
            </a:extLst>
          </p:cNvPr>
          <p:cNvSpPr txBox="1"/>
          <p:nvPr/>
        </p:nvSpPr>
        <p:spPr>
          <a:xfrm>
            <a:off x="25781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30 Min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609504F6-4435-6F49-BF29-2F4555B0FEE6}"/>
              </a:ext>
            </a:extLst>
          </p:cNvPr>
          <p:cNvSpPr/>
          <p:nvPr/>
        </p:nvSpPr>
        <p:spPr>
          <a:xfrm>
            <a:off x="43434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562D39-602B-E141-84F3-38FBED01B8C5}"/>
              </a:ext>
            </a:extLst>
          </p:cNvPr>
          <p:cNvSpPr/>
          <p:nvPr/>
        </p:nvSpPr>
        <p:spPr>
          <a:xfrm>
            <a:off x="49530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BD4E6F9-DE81-524B-80B8-25B50AAD0ADC}"/>
              </a:ext>
            </a:extLst>
          </p:cNvPr>
          <p:cNvSpPr txBox="1"/>
          <p:nvPr/>
        </p:nvSpPr>
        <p:spPr>
          <a:xfrm>
            <a:off x="44069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MCP Tools bauen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7F771D5-EDBB-0846-A499-817FDEBD0E3C}"/>
              </a:ext>
            </a:extLst>
          </p:cNvPr>
          <p:cNvSpPr txBox="1"/>
          <p:nvPr/>
        </p:nvSpPr>
        <p:spPr>
          <a:xfrm>
            <a:off x="44069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50 Min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D7B59EB7-1AC2-F542-9B5E-FBB0B6243670}"/>
              </a:ext>
            </a:extLst>
          </p:cNvPr>
          <p:cNvSpPr/>
          <p:nvPr/>
        </p:nvSpPr>
        <p:spPr>
          <a:xfrm>
            <a:off x="61722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0962439-3951-F74D-B5B8-C0F47A47C2C4}"/>
              </a:ext>
            </a:extLst>
          </p:cNvPr>
          <p:cNvSpPr/>
          <p:nvPr/>
        </p:nvSpPr>
        <p:spPr>
          <a:xfrm>
            <a:off x="67818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285370A-D8BF-1443-84BF-04BCADFC86B0}"/>
              </a:ext>
            </a:extLst>
          </p:cNvPr>
          <p:cNvSpPr txBox="1"/>
          <p:nvPr/>
        </p:nvSpPr>
        <p:spPr>
          <a:xfrm>
            <a:off x="62357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API-Key Auth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9870768-EBB5-334C-8CBF-73C9FB4C4FEE}"/>
              </a:ext>
            </a:extLst>
          </p:cNvPr>
          <p:cNvSpPr txBox="1"/>
          <p:nvPr/>
        </p:nvSpPr>
        <p:spPr>
          <a:xfrm>
            <a:off x="62357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20 Min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E5384B72-175F-224A-BEB0-7F3463C4A6EA}"/>
              </a:ext>
            </a:extLst>
          </p:cNvPr>
          <p:cNvSpPr/>
          <p:nvPr/>
        </p:nvSpPr>
        <p:spPr>
          <a:xfrm>
            <a:off x="80010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540C863-392F-104F-8F23-99413FCF0A5D}"/>
              </a:ext>
            </a:extLst>
          </p:cNvPr>
          <p:cNvSpPr/>
          <p:nvPr/>
        </p:nvSpPr>
        <p:spPr>
          <a:xfrm>
            <a:off x="86106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52A2727-0B27-DA41-AB5D-356B09B8B31A}"/>
              </a:ext>
            </a:extLst>
          </p:cNvPr>
          <p:cNvSpPr txBox="1"/>
          <p:nvPr/>
        </p:nvSpPr>
        <p:spPr>
          <a:xfrm>
            <a:off x="80645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Claude Code anbinden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95F4F01-BD18-8A4A-905E-34AED1B9EE77}"/>
              </a:ext>
            </a:extLst>
          </p:cNvPr>
          <p:cNvSpPr txBox="1"/>
          <p:nvPr/>
        </p:nvSpPr>
        <p:spPr>
          <a:xfrm>
            <a:off x="80645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20 Min</a:t>
            </a:r>
          </a:p>
        </p:txBody>
      </p:sp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A6CB269F-ADED-EF49-8611-81ABF0557151}"/>
              </a:ext>
            </a:extLst>
          </p:cNvPr>
          <p:cNvSpPr/>
          <p:nvPr/>
        </p:nvSpPr>
        <p:spPr>
          <a:xfrm>
            <a:off x="9829800" y="4191000"/>
            <a:ext cx="1676400" cy="13970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50DFF2F-18FA-774A-B463-FF7AF4F2ACE1}"/>
              </a:ext>
            </a:extLst>
          </p:cNvPr>
          <p:cNvSpPr/>
          <p:nvPr/>
        </p:nvSpPr>
        <p:spPr>
          <a:xfrm>
            <a:off x="10439400" y="43180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87E42F6-76F6-4A41-9792-9EF453F02A96}"/>
              </a:ext>
            </a:extLst>
          </p:cNvPr>
          <p:cNvSpPr txBox="1"/>
          <p:nvPr/>
        </p:nvSpPr>
        <p:spPr>
          <a:xfrm>
            <a:off x="9893300" y="4851400"/>
            <a:ext cx="1549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121"/>
                </a:solidFill>
              </a:rPr>
              <a:t>Backend Tool Use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9280AE2-A4D7-2C4B-B3EC-DE7DD41ED786}"/>
              </a:ext>
            </a:extLst>
          </p:cNvPr>
          <p:cNvSpPr txBox="1"/>
          <p:nvPr/>
        </p:nvSpPr>
        <p:spPr>
          <a:xfrm>
            <a:off x="9893300" y="5207000"/>
            <a:ext cx="154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7C8DB5"/>
                </a:solidFill>
              </a:rPr>
              <a:t>30 Min</a:t>
            </a:r>
          </a:p>
        </p:txBody>
      </p:sp>
    </p:spTree>
    <p:extLst>
      <p:ext uri="{BB962C8B-B14F-4D97-AF65-F5344CB8AC3E}">
        <p14:creationId xmlns:p14="http://schemas.microsoft.com/office/powerpoint/2010/main" val="775468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30DB86-136E-A40F-77BE-6A867A79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1: Starter verstehen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ECFDA694-97B0-4B47-90B3-6948B9DC539E}"/>
              </a:ext>
            </a:extLst>
          </p:cNvPr>
          <p:cNvSpPr/>
          <p:nvPr/>
        </p:nvSpPr>
        <p:spPr>
          <a:xfrm>
            <a:off x="508000" y="1778000"/>
            <a:ext cx="5334000" cy="1524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de-DE" sz="2000">
                <a:solidFill>
                  <a:srgbClr val="E0E0E0"/>
                </a:solidFill>
                <a:latin typeface="Consolas"/>
                <a:cs typeface="Consolas"/>
              </a:rPr>
              <a:t>📁 server.ts
📁 db-connector.ts
📁 auth-middleware.ts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4E883EC-1D70-A64F-A41E-B9A28F72FE10}"/>
              </a:ext>
            </a:extLst>
          </p:cNvPr>
          <p:cNvSpPr txBox="1"/>
          <p:nvPr/>
        </p:nvSpPr>
        <p:spPr>
          <a:xfrm>
            <a:off x="6223000" y="17780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</a:rPr>
              <a:t>Aufgabe: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102F581-69B0-914D-801C-BF23BA8BEE98}"/>
              </a:ext>
            </a:extLst>
          </p:cNvPr>
          <p:cNvSpPr txBox="1"/>
          <p:nvPr/>
        </p:nvSpPr>
        <p:spPr>
          <a:xfrm>
            <a:off x="6223000" y="2095500"/>
            <a:ext cx="558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MCP-Struktur mit Claude erklären lassen:
"Erkläre mir die Architektur dieses MCP-Servers. Wie hängen die Dateien zusammen?"</a:t>
            </a:r>
          </a:p>
        </p:txBody>
      </p:sp>
    </p:spTree>
    <p:extLst>
      <p:ext uri="{BB962C8B-B14F-4D97-AF65-F5344CB8AC3E}">
        <p14:creationId xmlns:p14="http://schemas.microsoft.com/office/powerpoint/2010/main" val="1807985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3B9C3A-B926-3649-A083-DD6A1BFF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2: PostgreSQL DB Connector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C5BE9C4-90D8-1B49-AD21-D32916C36D96}"/>
              </a:ext>
            </a:extLst>
          </p:cNvPr>
          <p:cNvSpPr/>
          <p:nvPr/>
        </p:nvSpPr>
        <p:spPr>
          <a:xfrm>
            <a:off x="762000" y="1778000"/>
            <a:ext cx="10668000" cy="5715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1. PostgreSQL Connector einrichten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EB57E45-8D38-2E45-9082-9AE8D81768CC}"/>
              </a:ext>
            </a:extLst>
          </p:cNvPr>
          <p:cNvSpPr/>
          <p:nvPr/>
        </p:nvSpPr>
        <p:spPr>
          <a:xfrm>
            <a:off x="762000" y="2476500"/>
            <a:ext cx="10668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2. pg Package installieren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9BC84E0-8ADF-0A48-9A7A-64C624584D8B}"/>
              </a:ext>
            </a:extLst>
          </p:cNvPr>
          <p:cNvSpPr/>
          <p:nvPr/>
        </p:nvSpPr>
        <p:spPr>
          <a:xfrm>
            <a:off x="762000" y="3175000"/>
            <a:ext cx="10668000" cy="571500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3. .env mit PostgreSQL-Credentials füllen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DDE4D2D-EC5F-FF45-A773-88DA40A84F63}"/>
              </a:ext>
            </a:extLst>
          </p:cNvPr>
          <p:cNvSpPr/>
          <p:nvPr/>
        </p:nvSpPr>
        <p:spPr>
          <a:xfrm>
            <a:off x="762000" y="3873500"/>
            <a:ext cx="10668000" cy="57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212121"/>
                </a:solidFill>
              </a:rPr>
              <a:t>4. Connection Pool konfigurieren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CBC52720-160B-924B-9EA5-6BB11EE66E83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de-DE" sz="1600">
                <a:solidFill>
                  <a:srgbClr val="E0E0E0"/>
                </a:solidFill>
                <a:latin typeface="Consolas"/>
                <a:cs typeface="Consolas"/>
              </a:rPr>
              <a:t>npm install pg
// .env: DB_USER=readonly DB_PASS=*** DB_URL=postgresql://host:5432/ID</a:t>
            </a:r>
          </a:p>
        </p:txBody>
      </p:sp>
    </p:spTree>
    <p:extLst>
      <p:ext uri="{BB962C8B-B14F-4D97-AF65-F5344CB8AC3E}">
        <p14:creationId xmlns:p14="http://schemas.microsoft.com/office/powerpoint/2010/main" val="3093208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EAE8BD-BCB3-1240-E5AA-ED46A7D6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400" b="1"/>
              <a:t>Schritt 3: MCP Tools bauen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CBCC0D35-22A8-BD41-8E94-7CDDB902CE4B}"/>
              </a:ext>
            </a:extLst>
          </p:cNvPr>
          <p:cNvSpPr/>
          <p:nvPr/>
        </p:nvSpPr>
        <p:spPr>
          <a:xfrm>
            <a:off x="444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2D9479-9AB5-BA42-AB14-A84FA0559E0B}"/>
              </a:ext>
            </a:extLst>
          </p:cNvPr>
          <p:cNvSpPr/>
          <p:nvPr/>
        </p:nvSpPr>
        <p:spPr>
          <a:xfrm>
            <a:off x="1460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📋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93326BF-9FBF-A247-AD03-7ED7E94F4D8E}"/>
              </a:ext>
            </a:extLst>
          </p:cNvPr>
          <p:cNvSpPr txBox="1"/>
          <p:nvPr/>
        </p:nvSpPr>
        <p:spPr>
          <a:xfrm>
            <a:off x="571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list-tables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138122-359E-314A-8DC1-2F602DF4E14C}"/>
              </a:ext>
            </a:extLst>
          </p:cNvPr>
          <p:cNvSpPr txBox="1"/>
          <p:nvPr/>
        </p:nvSpPr>
        <p:spPr>
          <a:xfrm>
            <a:off x="571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Alle Tabellen
auflisten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0410CFE0-88AC-CF4F-9F87-89791A320A8A}"/>
              </a:ext>
            </a:extLst>
          </p:cNvPr>
          <p:cNvSpPr/>
          <p:nvPr/>
        </p:nvSpPr>
        <p:spPr>
          <a:xfrm>
            <a:off x="3365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7B40CE-E0A4-CF4C-AFE7-D22C52DB71E2}"/>
              </a:ext>
            </a:extLst>
          </p:cNvPr>
          <p:cNvSpPr/>
          <p:nvPr/>
        </p:nvSpPr>
        <p:spPr>
          <a:xfrm>
            <a:off x="4381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🔍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443AB3E-1042-A44E-B66C-29141A3B3C24}"/>
              </a:ext>
            </a:extLst>
          </p:cNvPr>
          <p:cNvSpPr txBox="1"/>
          <p:nvPr/>
        </p:nvSpPr>
        <p:spPr>
          <a:xfrm>
            <a:off x="3492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describe-table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C04F153-5AA1-4745-A29A-9BD4360C4A08}"/>
              </a:ext>
            </a:extLst>
          </p:cNvPr>
          <p:cNvSpPr txBox="1"/>
          <p:nvPr/>
        </p:nvSpPr>
        <p:spPr>
          <a:xfrm>
            <a:off x="3492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Spalten + Typen
einer Tabelle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F2471829-32E1-1D45-ADBC-84F56A396B79}"/>
              </a:ext>
            </a:extLst>
          </p:cNvPr>
          <p:cNvSpPr/>
          <p:nvPr/>
        </p:nvSpPr>
        <p:spPr>
          <a:xfrm>
            <a:off x="6286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B71FAC-6BED-4941-AE65-C149809502D4}"/>
              </a:ext>
            </a:extLst>
          </p:cNvPr>
          <p:cNvSpPr/>
          <p:nvPr/>
        </p:nvSpPr>
        <p:spPr>
          <a:xfrm>
            <a:off x="7302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⚡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DDE76EC-744B-A841-AFA7-6133C773D0E8}"/>
              </a:ext>
            </a:extLst>
          </p:cNvPr>
          <p:cNvSpPr txBox="1"/>
          <p:nvPr/>
        </p:nvSpPr>
        <p:spPr>
          <a:xfrm>
            <a:off x="6413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query-table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556694B-26E7-E242-86F5-64C073623E48}"/>
              </a:ext>
            </a:extLst>
          </p:cNvPr>
          <p:cNvSpPr txBox="1"/>
          <p:nvPr/>
        </p:nvSpPr>
        <p:spPr>
          <a:xfrm>
            <a:off x="6413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SELECT mit
Parametern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6CFE618-C2B6-624E-8FA6-F3D9818E813E}"/>
              </a:ext>
            </a:extLst>
          </p:cNvPr>
          <p:cNvSpPr/>
          <p:nvPr/>
        </p:nvSpPr>
        <p:spPr>
          <a:xfrm>
            <a:off x="9207500" y="1778000"/>
            <a:ext cx="2667000" cy="254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FA93F2-F1B4-464A-A71E-3D3CEB158B11}"/>
              </a:ext>
            </a:extLst>
          </p:cNvPr>
          <p:cNvSpPr/>
          <p:nvPr/>
        </p:nvSpPr>
        <p:spPr>
          <a:xfrm>
            <a:off x="10223500" y="1841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/>
              <a:t>#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D8D8444-7C7B-7C40-9048-05E5C91EA8F2}"/>
              </a:ext>
            </a:extLst>
          </p:cNvPr>
          <p:cNvSpPr txBox="1"/>
          <p:nvPr/>
        </p:nvSpPr>
        <p:spPr>
          <a:xfrm>
            <a:off x="9334500" y="26035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  <a:latin typeface="Consolas"/>
                <a:cs typeface="Consolas"/>
              </a:rPr>
              <a:t>count-rows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229B17-3527-CC43-93DA-19DE6A39485D}"/>
              </a:ext>
            </a:extLst>
          </p:cNvPr>
          <p:cNvSpPr txBox="1"/>
          <p:nvPr/>
        </p:nvSpPr>
        <p:spPr>
          <a:xfrm>
            <a:off x="9334500" y="30226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212121"/>
                </a:solidFill>
              </a:rPr>
              <a:t>Anzahl Zeilen
einer Tabelle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464A29AF-D545-D347-9DF1-AA8B8BF8B981}"/>
              </a:ext>
            </a:extLst>
          </p:cNvPr>
          <p:cNvSpPr/>
          <p:nvPr/>
        </p:nvSpPr>
        <p:spPr>
          <a:xfrm>
            <a:off x="508000" y="4572000"/>
            <a:ext cx="11176000" cy="1270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server.tool("list-tables", "Listet alle Tabellen auf.", async () =&gt; {
  const tables = await db.query("SELECT table_name FROM user_tables");
  return { content: [{ type: "text", text: JSON.stringify(tables) }] };
});</a:t>
            </a:r>
          </a:p>
        </p:txBody>
      </p:sp>
    </p:spTree>
    <p:extLst>
      <p:ext uri="{BB962C8B-B14F-4D97-AF65-F5344CB8AC3E}">
        <p14:creationId xmlns:p14="http://schemas.microsoft.com/office/powerpoint/2010/main" val="55116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D1A781-0245-3DD5-0301-8E77BCC4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4: API-Key Auth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3E6CA02-F61F-B14D-B011-8A4105C2001B}"/>
              </a:ext>
            </a:extLst>
          </p:cNvPr>
          <p:cNvSpPr/>
          <p:nvPr/>
        </p:nvSpPr>
        <p:spPr>
          <a:xfrm>
            <a:off x="508000" y="1778000"/>
            <a:ext cx="11176000" cy="1778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// auth-middleware.ts
function validateApiKey(req: Request): boolean {
  const key = req.headers["x-api-key"];
  return key === process.env.API_KEY;
}
// Tabellen-Whitelist
const ALLOWED = ["CUSTOMERS","ORDERS","PRODUCTS"];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951DC7-2A7F-9E44-A7F9-151C03AE01E1}"/>
              </a:ext>
            </a:extLst>
          </p:cNvPr>
          <p:cNvSpPr txBox="1"/>
          <p:nvPr/>
        </p:nvSpPr>
        <p:spPr>
          <a:xfrm>
            <a:off x="762000" y="3683000"/>
            <a:ext cx="1066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• Security-Layer mit x-api-key Header
• Parameterized Queries implementieren
• Table Whitelist konfigurieren
• Sensible Spalten ausschließen</a:t>
            </a:r>
          </a:p>
        </p:txBody>
      </p:sp>
    </p:spTree>
    <p:extLst>
      <p:ext uri="{BB962C8B-B14F-4D97-AF65-F5344CB8AC3E}">
        <p14:creationId xmlns:p14="http://schemas.microsoft.com/office/powerpoint/2010/main" val="4067830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84E69-4249-B115-881D-732F313D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5: Claude Code anbinden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553EA80-5363-5147-8C01-71D443C64497}"/>
              </a:ext>
            </a:extLst>
          </p:cNvPr>
          <p:cNvSpPr/>
          <p:nvPr/>
        </p:nvSpPr>
        <p:spPr>
          <a:xfrm>
            <a:off x="508000" y="1778000"/>
            <a:ext cx="6350000" cy="2032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// .mcp.json
{
  "mcpServers": {
    "postgres-db": {
      "command": "npx",
      "args": ["tsx", "server.ts"],
      "env": { "DB_URL": "..." }
    }
  }
}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FFC60438-26A0-F446-B745-94CE97125D6D}"/>
              </a:ext>
            </a:extLst>
          </p:cNvPr>
          <p:cNvSpPr/>
          <p:nvPr/>
        </p:nvSpPr>
        <p:spPr>
          <a:xfrm>
            <a:off x="7239000" y="1778000"/>
            <a:ext cx="4445000" cy="2032000"/>
          </a:xfrm>
          <a:prstGeom prst="roundRect">
            <a:avLst/>
          </a:prstGeom>
          <a:solidFill>
            <a:srgbClr val="F0F4FF"/>
          </a:solidFill>
          <a:ln w="25400" cap="flat" cmpd="sng" algn="ctr">
            <a:solidFill>
              <a:srgbClr val="3F5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Testen:
"Welche Tabellen gibt es in der DB?"
→ KI nutzt MCP-Server automatisch!</a:t>
            </a:r>
          </a:p>
        </p:txBody>
      </p:sp>
    </p:spTree>
    <p:extLst>
      <p:ext uri="{BB962C8B-B14F-4D97-AF65-F5344CB8AC3E}">
        <p14:creationId xmlns:p14="http://schemas.microsoft.com/office/powerpoint/2010/main" val="2128443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0DAF6-6C4E-A7A6-0BD7-8FCC3BC5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"/>
            <a:ext cx="9525000" cy="825500"/>
          </a:xfrm>
        </p:spPr>
        <p:txBody>
          <a:bodyPr>
            <a:normAutofit/>
          </a:bodyPr>
          <a:lstStyle/>
          <a:p>
            <a:r>
              <a:rPr lang="de-DE" sz="3200" b="1"/>
              <a:t>Schritt 6: Backend Tool Use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D6CBE24-DF37-D243-9D09-2E006296988C}"/>
              </a:ext>
            </a:extLst>
          </p:cNvPr>
          <p:cNvSpPr/>
          <p:nvPr/>
        </p:nvSpPr>
        <p:spPr>
          <a:xfrm>
            <a:off x="508000" y="1778000"/>
            <a:ext cx="11176000" cy="2159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de-DE" sz="1400">
                <a:solidFill>
                  <a:srgbClr val="E0E0E0"/>
                </a:solidFill>
                <a:latin typeface="Consolas"/>
                <a:cs typeface="Consolas"/>
              </a:rPr>
              <a:t>// Spring Boot: Claude API mit tool_use
if (block.type == "tool_use") {
  String toolName = block.name;     // z.B. "list-tables"
  JsonNode input = block.input;     // z.B. {}
  // MCP-Server aufrufen
  String result = mcpClient.callTool(toolName, input);
  // Ergebnis an Claude zurückgeben
  messages.add(toolResult(block.id, result));
}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D17E4BB8-6CBD-8943-B35E-0B215D0E3873}"/>
              </a:ext>
            </a:extLst>
          </p:cNvPr>
          <p:cNvSpPr/>
          <p:nvPr/>
        </p:nvSpPr>
        <p:spPr>
          <a:xfrm>
            <a:off x="1016000" y="4191000"/>
            <a:ext cx="10160000" cy="762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Ergebnis: Chatbot beantwortet jetzt echte DB-Fragen!</a:t>
            </a:r>
          </a:p>
        </p:txBody>
      </p:sp>
    </p:spTree>
    <p:extLst>
      <p:ext uri="{BB962C8B-B14F-4D97-AF65-F5344CB8AC3E}">
        <p14:creationId xmlns:p14="http://schemas.microsoft.com/office/powerpoint/2010/main" val="1484187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C5CDD-168D-5E08-357E-F69B3FD5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81000"/>
            <a:ext cx="10160000" cy="762000"/>
          </a:xfrm>
        </p:spPr>
        <p:txBody>
          <a:bodyPr>
            <a:normAutofit/>
          </a:bodyPr>
          <a:lstStyle/>
          <a:p>
            <a:r>
              <a:rPr lang="de-DE" sz="3600" b="1">
                <a:solidFill>
                  <a:srgbClr val="FFFFFF"/>
                </a:solidFill>
              </a:rPr>
              <a:t>Zusammenfassung Tag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F4CB22-6287-E949-8ED4-256E79DF11EF}"/>
              </a:ext>
            </a:extLst>
          </p:cNvPr>
          <p:cNvSpPr/>
          <p:nvPr/>
        </p:nvSpPr>
        <p:spPr>
          <a:xfrm>
            <a:off x="1016000" y="14605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E420C97-9CD6-604B-88DA-E4B9171CDF9A}"/>
              </a:ext>
            </a:extLst>
          </p:cNvPr>
          <p:cNvSpPr txBox="1"/>
          <p:nvPr/>
        </p:nvSpPr>
        <p:spPr>
          <a:xfrm>
            <a:off x="1841500" y="14986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Kontext-Hierarchie: CLAUDE.md → Rules → Skills → Prompt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666CCA-DE44-514A-B65A-96CEB1FD301B}"/>
              </a:ext>
            </a:extLst>
          </p:cNvPr>
          <p:cNvSpPr/>
          <p:nvPr/>
        </p:nvSpPr>
        <p:spPr>
          <a:xfrm>
            <a:off x="1016000" y="2286000"/>
            <a:ext cx="571500" cy="571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E8E95AE-A954-204B-956A-B3C7CA92F25F}"/>
              </a:ext>
            </a:extLst>
          </p:cNvPr>
          <p:cNvSpPr txBox="1"/>
          <p:nvPr/>
        </p:nvSpPr>
        <p:spPr>
          <a:xfrm>
            <a:off x="1841500" y="23241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lessons.md = Team-Gedächtnis gegen wiederkehrende Fehler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B55684-AB36-4643-8F77-10147FAABF50}"/>
              </a:ext>
            </a:extLst>
          </p:cNvPr>
          <p:cNvSpPr/>
          <p:nvPr/>
        </p:nvSpPr>
        <p:spPr>
          <a:xfrm>
            <a:off x="1016000" y="3111500"/>
            <a:ext cx="571500" cy="5715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A6CB317-5BED-5648-8F32-1DEF9ECC5733}"/>
              </a:ext>
            </a:extLst>
          </p:cNvPr>
          <p:cNvSpPr txBox="1"/>
          <p:nvPr/>
        </p:nvSpPr>
        <p:spPr>
          <a:xfrm>
            <a:off x="1841500" y="31496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/plan, /ralph, /swarm als Qualitäts-Workflow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60054B-F4CA-B747-847D-02A53C1AA6CF}"/>
              </a:ext>
            </a:extLst>
          </p:cNvPr>
          <p:cNvSpPr/>
          <p:nvPr/>
        </p:nvSpPr>
        <p:spPr>
          <a:xfrm>
            <a:off x="1016000" y="3937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1ED0EC-A219-2842-B3B9-15051C4349B3}"/>
              </a:ext>
            </a:extLst>
          </p:cNvPr>
          <p:cNvSpPr txBox="1"/>
          <p:nvPr/>
        </p:nvSpPr>
        <p:spPr>
          <a:xfrm>
            <a:off x="1841500" y="39751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MCP = USB-Standard für KI-Tool-Interaktion (JSON-RPC 2.0, stdio/HTTP)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E1ECB8-5583-2648-8FF0-7D2B085F0CF6}"/>
              </a:ext>
            </a:extLst>
          </p:cNvPr>
          <p:cNvSpPr/>
          <p:nvPr/>
        </p:nvSpPr>
        <p:spPr>
          <a:xfrm>
            <a:off x="1016000" y="4762500"/>
            <a:ext cx="571500" cy="571500"/>
          </a:xfrm>
          <a:prstGeom prst="ellipse">
            <a:avLst/>
          </a:prstGeom>
          <a:solidFill>
            <a:srgbClr val="FF52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95436C3-2DA9-8646-8614-87E543121438}"/>
              </a:ext>
            </a:extLst>
          </p:cNvPr>
          <p:cNvSpPr txBox="1"/>
          <p:nvPr/>
        </p:nvSpPr>
        <p:spPr>
          <a:xfrm>
            <a:off x="1841500" y="48006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Security first: 3-Ebenen-Auth + Unternehmens-Checklist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03EEA0F-52D6-8B46-A4F6-8445124026BC}"/>
              </a:ext>
            </a:extLst>
          </p:cNvPr>
          <p:cNvSpPr/>
          <p:nvPr/>
        </p:nvSpPr>
        <p:spPr>
          <a:xfrm>
            <a:off x="1016000" y="5651500"/>
            <a:ext cx="10160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4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I Blueprint">
      <a:dk1>
        <a:srgbClr val="212121"/>
      </a:dk1>
      <a:lt1>
        <a:srgbClr val="FFFFFF"/>
      </a:lt1>
      <a:dk2>
        <a:srgbClr val="212B80"/>
      </a:dk2>
      <a:lt2>
        <a:srgbClr val="F5F5F5"/>
      </a:lt2>
      <a:accent1>
        <a:srgbClr val="3F59FF"/>
      </a:accent1>
      <a:accent2>
        <a:srgbClr val="212B80"/>
      </a:accent2>
      <a:accent3>
        <a:srgbClr val="FFD440"/>
      </a:accent3>
      <a:accent4>
        <a:srgbClr val="4CAF50"/>
      </a:accent4>
      <a:accent5>
        <a:srgbClr val="FF5252"/>
      </a:accent5>
      <a:accent6>
        <a:srgbClr val="7C8DB5"/>
      </a:accent6>
      <a:hlink>
        <a:srgbClr val="467886"/>
      </a:hlink>
      <a:folHlink>
        <a:srgbClr val="96607D"/>
      </a:folHlink>
    </a:clrScheme>
    <a:fontScheme name="AI Blueprint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ED646-CF38-F745-BB76-900216FAB92A}">
  <we:reference id="wa200010001" version="1.0.0.0" store="de-DE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</Words>
  <Application>Microsoft Macintosh PowerPoint</Application>
  <PresentationFormat>Breitbild</PresentationFormat>
  <Paragraphs>384</Paragraphs>
  <Slides>39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3" baseType="lpstr">
      <vt:lpstr>Arial</vt:lpstr>
      <vt:lpstr>Consolas</vt:lpstr>
      <vt:lpstr>Open Sans</vt:lpstr>
      <vt:lpstr>Office</vt:lpstr>
      <vt:lpstr>Tag 2: KI als Coding-Partner + MCP</vt:lpstr>
      <vt:lpstr>Agenda — Tag 2</vt:lpstr>
      <vt:lpstr>Das Problem — KI ohne Kontext</vt:lpstr>
      <vt:lpstr>Die Kontext-Hierarchie</vt:lpstr>
      <vt:lpstr>lessons.md — Team-Gedächtnis</vt:lpstr>
      <vt:lpstr>Copilot — Inline vs. Agent Mode</vt:lpstr>
      <vt:lpstr>Sub-Agents — Kontext sauber halten</vt:lpstr>
      <vt:lpstr>Context-Window-Management</vt:lpstr>
      <vt:lpstr>Built-in Commands</vt:lpstr>
      <vt:lpstr>/ralph — Qualitäts-Firewall</vt:lpstr>
      <vt:lpstr>KI autonom arbeiten lassen</vt:lpstr>
      <vt:lpstr>/swarm — Parallele Agents</vt:lpstr>
      <vt:lpstr>Täglicher Workflow</vt:lpstr>
      <vt:lpstr>Überleitung</vt:lpstr>
      <vt:lpstr>TEIL 2</vt:lpstr>
      <vt:lpstr>Was ist MCP? — Die USB-Analogie</vt:lpstr>
      <vt:lpstr>MCP auf Protokoll-Ebene (JSON-RPC 2.0)</vt:lpstr>
      <vt:lpstr>Transport — stdio vs. HTTP</vt:lpstr>
      <vt:lpstr>Der MCP-Lifecycle (4 Phasen)</vt:lpstr>
      <vt:lpstr>MCP-Server bauen — 15 Zeilen TypeScript</vt:lpstr>
      <vt:lpstr>Warum MCP besser ist als REST für KI</vt:lpstr>
      <vt:lpstr>MCP Tool-Call — Technischer Ablauf</vt:lpstr>
      <vt:lpstr>Tool-Descriptions — Schlecht vs. Gut</vt:lpstr>
      <vt:lpstr>Anatomie eines MCP-Servers</vt:lpstr>
      <vt:lpstr>MCP-Konfiguration</vt:lpstr>
      <vt:lpstr>MCP + Datenbank — Workflow</vt:lpstr>
      <vt:lpstr>Authentifizierung — 3 Ebenen</vt:lpstr>
      <vt:lpstr>SQL-Injection im MCP-Kontext</vt:lpstr>
      <vt:lpstr>Security-Checklist für KI im Unternehmen</vt:lpstr>
      <vt:lpstr>Playwright MCP — Live-Demo</vt:lpstr>
      <vt:lpstr>Wann MCP einsetzen?</vt:lpstr>
      <vt:lpstr>Hands-on: Architektur-Überblick</vt:lpstr>
      <vt:lpstr>Schritt 1: Starter verstehen</vt:lpstr>
      <vt:lpstr>Schritt 2: PostgreSQL DB Connector</vt:lpstr>
      <vt:lpstr>Schritt 3: MCP Tools bauen</vt:lpstr>
      <vt:lpstr>Schritt 4: API-Key Auth</vt:lpstr>
      <vt:lpstr>Schritt 5: Claude Code anbinden</vt:lpstr>
      <vt:lpstr>Schritt 6: Backend Tool Use</vt:lpstr>
      <vt:lpstr>Zusammenfassung Tag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Tkalcic</dc:creator>
  <cp:lastModifiedBy>Patrick Tkalcic</cp:lastModifiedBy>
  <cp:revision>4</cp:revision>
  <dcterms:created xsi:type="dcterms:W3CDTF">2026-03-09T11:59:50Z</dcterms:created>
  <dcterms:modified xsi:type="dcterms:W3CDTF">2026-03-09T12:39:16Z</dcterms:modified>
</cp:coreProperties>
</file>