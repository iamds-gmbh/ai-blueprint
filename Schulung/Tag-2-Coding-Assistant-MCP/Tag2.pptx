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1"/>
  </p:notesMasterIdLst>
  <p:sldIdLst>
    <p:sldId id="292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334" r:id="rId12"/>
    <p:sldId id="335" r:id="rId13"/>
    <p:sldId id="336" r:id="rId14"/>
    <p:sldId id="337" r:id="rId15"/>
    <p:sldId id="338" r:id="rId16"/>
    <p:sldId id="270" r:id="rId17"/>
    <p:sldId id="271" r:id="rId18"/>
    <p:sldId id="316" r:id="rId19"/>
    <p:sldId id="299" r:id="rId20"/>
    <p:sldId id="318" r:id="rId21"/>
    <p:sldId id="301" r:id="rId22"/>
    <p:sldId id="317" r:id="rId23"/>
    <p:sldId id="272" r:id="rId24"/>
    <p:sldId id="273" r:id="rId25"/>
    <p:sldId id="274" r:id="rId26"/>
    <p:sldId id="275" r:id="rId27"/>
    <p:sldId id="312" r:id="rId28"/>
    <p:sldId id="277" r:id="rId29"/>
    <p:sldId id="315" r:id="rId30"/>
    <p:sldId id="279" r:id="rId31"/>
    <p:sldId id="321" r:id="rId32"/>
    <p:sldId id="323" r:id="rId33"/>
    <p:sldId id="295" r:id="rId34"/>
    <p:sldId id="284" r:id="rId35"/>
    <p:sldId id="296" r:id="rId36"/>
    <p:sldId id="286" r:id="rId37"/>
    <p:sldId id="287" r:id="rId38"/>
    <p:sldId id="297" r:id="rId39"/>
    <p:sldId id="289" r:id="rId4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42"/>
    <p:restoredTop sz="94682"/>
  </p:normalViewPr>
  <p:slideViewPr>
    <p:cSldViewPr snapToGrid="0">
      <p:cViewPr varScale="1">
        <p:scale>
          <a:sx n="121" d="100"/>
          <a:sy n="121" d="100"/>
        </p:scale>
        <p:origin x="19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02FD2-DB75-B743-A883-5A421E256B74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37196-28EC-914A-B67E-5A3FA8675B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1033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WAS IST STDIO UND WIE FUNKTIONIERT ES?</a:t>
            </a:r>
          </a:p>
          <a:p>
            <a:endParaRPr lang="de-DE" dirty="0"/>
          </a:p>
          <a:p>
            <a:r>
              <a:rPr lang="de-DE" dirty="0"/>
              <a:t>stdio steht für "Standard Input/Output" — das ist das älteste und einfachste Kommunikationsprinzip in der Informatik. Jeder Prozess auf eurem Rechner hat drei Standard-Kanäle:</a:t>
            </a:r>
          </a:p>
          <a:p>
            <a:r>
              <a:rPr lang="de-DE" dirty="0"/>
              <a:t>  - stdin (Standard Input): Hier liest der Prozess Daten ein</a:t>
            </a:r>
          </a:p>
          <a:p>
            <a:r>
              <a:rPr lang="de-DE" dirty="0"/>
              <a:t>  - stdout (Standard Output): Hier schreibt der Prozess Ergebnisse raus</a:t>
            </a:r>
          </a:p>
          <a:p>
            <a:r>
              <a:rPr lang="de-DE" dirty="0"/>
              <a:t>  - stderr (Standard Error): Für Fehlermeldungen (wird bei MCP nicht genutzt)</a:t>
            </a:r>
          </a:p>
          <a:p>
            <a:endParaRPr lang="de-DE" dirty="0"/>
          </a:p>
          <a:p>
            <a:r>
              <a:rPr lang="de-DE" dirty="0"/>
              <a:t>Wenn ihr in der Konsole "echo hallo" tippt, schreibt ihr auf stdin und bekommt die Ausgabe über stdout. Genau das gleiche Prinzip nutzt MCP.</a:t>
            </a:r>
          </a:p>
          <a:p>
            <a:endParaRPr lang="de-DE" dirty="0"/>
          </a:p>
          <a:p>
            <a:r>
              <a:rPr lang="de-DE" dirty="0"/>
              <a:t>WIE LÄUFT DAS BEI MCP KONKRET AB?</a:t>
            </a:r>
          </a:p>
          <a:p>
            <a:endParaRPr lang="de-DE" dirty="0"/>
          </a:p>
          <a:p>
            <a:r>
              <a:rPr lang="de-DE" dirty="0"/>
              <a:t>1. Der Client (z.B. Claude Code) startet den Server als Kindprozess — genau wie wenn ihr "node server.js" in der Konsole tippt.</a:t>
            </a:r>
          </a:p>
          <a:p>
            <a:r>
              <a:rPr lang="de-DE" dirty="0"/>
              <a:t>2. Der Client schickt JSON-RPC-Nachrichten in den stdin des Servers. Das sind einfache JSON-Objekte wie: {"jsonrpc": "2.0", "method": "tools/call", "params": {"name": "greet"}}</a:t>
            </a:r>
          </a:p>
          <a:p>
            <a:r>
              <a:rPr lang="de-DE" dirty="0"/>
              <a:t>3. Der Server verarbeitet die Anfrage und schreibt die Antwort als JSON auf seinen stdout.</a:t>
            </a:r>
          </a:p>
          <a:p>
            <a:r>
              <a:rPr lang="de-DE" dirty="0"/>
              <a:t>4. Der Client liest den stdout und hat die Antwort.</a:t>
            </a:r>
          </a:p>
          <a:p>
            <a:endParaRPr lang="de-DE" dirty="0"/>
          </a:p>
          <a:p>
            <a:r>
              <a:rPr lang="de-DE" dirty="0"/>
              <a:t>Das heißt: Die Kommunikation läuft über eine Pipe — eine direkte Verbindung zwischen zwei Prozessen im Arbeitsspeicher. Kein Netzwerk, kein Port, kein HTTP. Deshalb ist es so schnell und sicher.</a:t>
            </a:r>
          </a:p>
          <a:p>
            <a:endParaRPr lang="de-DE" dirty="0"/>
          </a:p>
          <a:p>
            <a:r>
              <a:rPr lang="de-DE" dirty="0"/>
              <a:t>WARUM STDIO DER STANDARD FÜR LOKALE MCP-SERVER IST:</a:t>
            </a:r>
          </a:p>
          <a:p>
            <a:r>
              <a:rPr lang="de-DE" dirty="0"/>
              <a:t>- Zero Config: Kein Port freigeben, kein Server starten, kein URL konfigurieren</a:t>
            </a:r>
          </a:p>
          <a:p>
            <a:r>
              <a:rPr lang="de-DE" dirty="0"/>
              <a:t>- Lifecycle-Management: Server startet automatisch mit dem Client, stirbt automatisch wenn der Client endet</a:t>
            </a:r>
          </a:p>
          <a:p>
            <a:r>
              <a:rPr lang="de-DE" dirty="0"/>
              <a:t>- Sicherheit: Kein offener Port = keine Angriffsfläche von außen</a:t>
            </a:r>
          </a:p>
          <a:p>
            <a:r>
              <a:rPr lang="de-DE" dirty="0"/>
              <a:t>- Einfachheit: Der SDK abstrahiert das komplett — ihr schreibt nur eure Tool-Logik</a:t>
            </a:r>
          </a:p>
          <a:p>
            <a:endParaRPr lang="de-DE" dirty="0"/>
          </a:p>
          <a:p>
            <a:r>
              <a:rPr lang="de-DE" dirty="0"/>
              <a:t>UND WAS IST DANN HTTP/SSE?</a:t>
            </a:r>
          </a:p>
          <a:p>
            <a:endParaRPr lang="de-DE" dirty="0"/>
          </a:p>
          <a:p>
            <a:r>
              <a:rPr lang="de-DE" dirty="0"/>
              <a:t>HTTP + SSE (Server-Sent Events) ist die Alternative für REMOTE-Server:</a:t>
            </a:r>
          </a:p>
          <a:p>
            <a:r>
              <a:rPr lang="de-DE" dirty="0"/>
              <a:t>- Der Server läuft als eigenständiger Web-Service (z.B. auf einem Team-Server oder in der Cloud)</a:t>
            </a:r>
          </a:p>
          <a:p>
            <a:r>
              <a:rPr lang="de-DE" dirty="0"/>
              <a:t>- Mehrere Clients können sich gleichzeitig verbinden (bei stdio ist es immer 1:1)</a:t>
            </a:r>
          </a:p>
          <a:p>
            <a:r>
              <a:rPr lang="de-DE" dirty="0"/>
              <a:t>- Der Server hat seinen eigenen Lifecycle — er läuft weiter, auch wenn ein Client disconnected</a:t>
            </a:r>
          </a:p>
          <a:p>
            <a:r>
              <a:rPr lang="de-DE" dirty="0"/>
              <a:t>- SSE ist der Rückkanal: Damit kann der Server von sich aus Nachrichten an den Client pushen (z.B. Progress-Updates)</a:t>
            </a:r>
          </a:p>
          <a:p>
            <a:endParaRPr lang="de-DE" dirty="0"/>
          </a:p>
          <a:p>
            <a:r>
              <a:rPr lang="de-DE" dirty="0"/>
              <a:t>WANN WELCHEN TRANSPORT WÄHLEN?</a:t>
            </a:r>
          </a:p>
          <a:p>
            <a:endParaRPr lang="de-DE" dirty="0"/>
          </a:p>
          <a:p>
            <a:r>
              <a:rPr lang="de-DE" dirty="0"/>
              <a:t>stdio = 95% aller Fälle. Immer wenn der MCP-Server auf EUREM Rechner läuft und nur IHR ihn nutzt.</a:t>
            </a:r>
          </a:p>
          <a:p>
            <a:r>
              <a:rPr lang="de-DE" dirty="0"/>
              <a:t>HTTP = Wenn das ganze Team den gleichen MCP-Server nutzen soll, oder wenn der Server auf einem anderen Rechner/in der Cloud läuft.</a:t>
            </a:r>
          </a:p>
          <a:p>
            <a:endParaRPr lang="de-DE" dirty="0"/>
          </a:p>
          <a:p>
            <a:r>
              <a:rPr lang="de-DE" dirty="0"/>
              <a:t>ANALOGIE: stdio ist wie ein USB-Kabel direkt zwischen zwei Geräten. HTTP ist wie ein Netzwerkdrucker, den alle im Büro nutzen können.</a:t>
            </a:r>
          </a:p>
          <a:p>
            <a:endParaRPr lang="de-DE" dirty="0"/>
          </a:p>
          <a:p>
            <a:r>
              <a:rPr lang="de-DE" dirty="0"/>
              <a:t>ACHTUNG: Nicht alle Clients unterstützen beide Transports. Le Chat z.B. kann nur HTTP/SSE — deshalb kann es keine lokalen stdio-Server nutzen. Claude Code, Cursor und Copilot können beides.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WIE DER CLIENT DIE SESSION AUFMACHT:</a:t>
            </a:r>
          </a:p>
          <a:p>
            <a:endParaRPr lang="de-DE" dirty="0"/>
          </a:p>
          <a:p>
            <a:r>
              <a:rPr lang="de-DE" dirty="0"/>
              <a:t>Wenn ihr in Claude Code (oder Cursor, Copilot etc.) eine MCP-Konfiguration hinterlegt, passiert beim Start Folgendes:</a:t>
            </a:r>
          </a:p>
          <a:p>
            <a:endParaRPr lang="de-DE" dirty="0"/>
          </a:p>
          <a:p>
            <a:r>
              <a:rPr lang="de-DE" dirty="0"/>
              <a:t>1. CLIENT STARTET DEN SERVER ALS KINDPROZESS</a:t>
            </a:r>
          </a:p>
          <a:p>
            <a:r>
              <a:rPr lang="de-DE" dirty="0"/>
              <a:t>Der MCP-Client (z.B. Claude Code) liest eure .mcp.json und führt den dort definierten Befehl aus — z.B. "npx tsx server.ts". Das heißt: Der Client spawnt einen neuen Prozess auf eurem Rechner. Der Server ist kein laufender Dienst, den ihr vorher starten müsst — der Client macht das automatisch.</a:t>
            </a:r>
          </a:p>
          <a:p>
            <a:endParaRPr lang="de-DE" dirty="0"/>
          </a:p>
          <a:p>
            <a:r>
              <a:rPr lang="de-DE" dirty="0"/>
              <a:t>2. KOMMUNIKATION ÜBER STDIO (Standard In/Out)</a:t>
            </a:r>
          </a:p>
          <a:p>
            <a:r>
              <a:rPr lang="de-DE" dirty="0"/>
              <a:t>Die letzte Zeile im Code — server.connect(new StdioServerTransport()) — ist der Schlüssel: Der Server liest JSON-RPC-Nachrichten von stdin und schreibt Antworten auf stdout. Der Client schickt Befehle über die Pipe des Kindprozesses. Kein HTTP, kein Port, kein Netzwerk — alles lokal über Prozess-Kommunikation.</a:t>
            </a:r>
          </a:p>
          <a:p>
            <a:endParaRPr lang="de-DE" dirty="0"/>
          </a:p>
          <a:p>
            <a:r>
              <a:rPr lang="de-DE" dirty="0"/>
              <a:t>3. INITIALISIERUNG (Handshake)</a:t>
            </a:r>
          </a:p>
          <a:p>
            <a:r>
              <a:rPr lang="de-DE" dirty="0"/>
              <a:t>Sobald der Prozess läuft, schickt der Client eine "initialize"-Nachricht mit seiner Protokollversion. Der Server antwortet mit seinen Capabilities — also welche Tools, Resources und Prompts er anbietet. Erst danach schickt der Client "initialized" und die Session ist aktiv.</a:t>
            </a:r>
          </a:p>
          <a:p>
            <a:endParaRPr lang="de-DE" dirty="0"/>
          </a:p>
          <a:p>
            <a:r>
              <a:rPr lang="de-DE" dirty="0"/>
              <a:t>4. WAS "SESSION" HIER BEDEUTET</a:t>
            </a:r>
          </a:p>
          <a:p>
            <a:r>
              <a:rPr lang="de-DE" dirty="0"/>
              <a:t>Eine MCP-Session ist 1:1 — ein Client, ein Server-Prozess. Der Client hält die Verbindung offen, solange er läuft. Wenn Claude Code beendet wird, stirbt auch der Server-Prozess. Kein State bleibt übrig. Beim nächsten Start wird alles neu aufgebaut.</a:t>
            </a:r>
          </a:p>
          <a:p>
            <a:endParaRPr lang="de-DE" dirty="0"/>
          </a:p>
          <a:p>
            <a:r>
              <a:rPr lang="de-DE" dirty="0"/>
              <a:t>5. WARUM DAS WICHTIG IST</a:t>
            </a:r>
          </a:p>
          <a:p>
            <a:r>
              <a:rPr lang="de-DE" dirty="0"/>
              <a:t>- Kein Setup nötig: Kein Docker, kein Service-Management — der Client regelt alles</a:t>
            </a:r>
          </a:p>
          <a:p>
            <a:r>
              <a:rPr lang="de-DE" dirty="0"/>
              <a:t>- Sicherheit: Der Server läuft nur wenn der Client läuft, mit den gleichen User-Rechten</a:t>
            </a:r>
          </a:p>
          <a:p>
            <a:r>
              <a:rPr lang="de-DE" dirty="0"/>
              <a:t>- Einfachheit: Die 15 Zeilen auf der Folie sind wirklich alles — der SDK handled den gesamten Protokoll-Layer</a:t>
            </a:r>
          </a:p>
          <a:p>
            <a:endParaRPr lang="de-DE" dirty="0"/>
          </a:p>
          <a:p>
            <a:r>
              <a:rPr lang="de-DE" dirty="0"/>
              <a:t>ALTERNATIVE: REMOTE SERVER (SSE/HTTP)</a:t>
            </a:r>
          </a:p>
          <a:p>
            <a:r>
              <a:rPr lang="de-DE" dirty="0"/>
              <a:t>Statt stdio kann ein Server auch als HTTP-Service laufen (StreamableHTTP oder SSE). Dann startet der Client den Server NICHT selbst, sondern verbindet sich zu einer URL. Das ist relevant für Team-Setups oder Cloud-Deployments.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B7ACC-6F95-A617-7313-A7A8A622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38EE01-41D9-1C2A-643F-58BED677D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C5697A-8F9F-7733-BF28-50B7F0A1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650D11-29F2-9846-3999-DB05DD29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A24025-28C7-A8E3-EBE7-9A17D567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1077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57ADC-BA3C-3415-EEF5-616BB056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53D9C-5F74-39C8-5887-B4E12EE45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5CA93D-94B4-99C1-1FC6-13233A80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F959B6-F142-959B-0B36-A1457649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D3E876-E198-E045-CE81-D5503A36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02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67A64-71C4-E915-2E1C-0DCABC27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FAEB8F-FD86-0489-4F52-E0455BF5C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666052-2F3E-4F2E-60D9-01E723E6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1EB02D-423A-5EC9-7D73-5194F789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BDA22A-2200-453A-8184-AD80F7F4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49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47FDDE-E58E-3D53-6B8E-61AB659A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8B3F27-6BCA-98DD-55B1-905BAADA3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DA7A0B-81D0-3B4D-6D78-6E6E0F102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BA081A-42E4-904B-0F0E-50934D7D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F39A86-97A2-4ECB-F033-7FC4EB60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33910-5148-489C-308E-D460382F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85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E6FCC-4F30-EF83-47E8-60ED0B6C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9AC5BF-CCB1-13C6-2EDD-B435D3C75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E4E4A6-AA75-320F-801B-F421B299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9DF54A-BD45-CB64-CE87-6CAFD8F4E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EDF5FFF-B2AA-F991-3FF9-6DAE74E759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4E284E-B44B-3365-E2E2-99756453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06C8B3-0DEE-28C1-E021-6B7B41CD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7A407E-3478-4448-541A-10F5EBA8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891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CE367-AF33-CCA9-CEEE-D78F3FEF8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D7A492-7F59-6E0A-8754-43B8719BB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D24972-A130-9136-744D-8FCF3F3F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DFEFB2-C502-EDCE-F9D4-454ACA3D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8245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1FF117-321A-D2E0-DBA2-737B86DF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A15986-352A-F598-EA90-BC98482C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E8BF86-5395-0C6F-547C-298C0A34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29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24F249-C7D6-90E2-4218-FCCBC605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5343E9-B07B-D11D-41BA-7D762B15F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49B530-A33D-BAD3-E474-4040287EF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84F021-DBFA-41C6-BAB6-5D89B6EB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C8E99C-0204-E16B-4BFB-79A728F5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D9B2D5-C03A-2B2C-5AB7-58F4991C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020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9A055-F82C-B284-8B6D-0ACB62B2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9059F54-366A-66DE-828D-0E969FF26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84A890-2900-7797-DFAE-7BA4D1C37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A18260-6953-82B1-DBEA-6B8E087F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4F531E-B33C-F243-45CB-B3269EB58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48710F-2851-C22D-3860-99B890B0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725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DB0B2A-C048-76D9-EFA5-0B445E47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B57B51-3B08-4A24-E4F9-75114FB1C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B84DE7-D0F5-C416-52AC-96C5AF03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E4A39D-0061-095D-876F-18576AF5D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843498-0D12-AC47-350A-C6544936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80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281041-82D3-8F51-43D5-27F1535E7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C879643-B581-C428-4A7E-52BF135C0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1246E4-68E2-1E59-30D5-D52F0DC9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200483-3299-F96F-580F-3909769A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99C6BC-75B4-0C57-8239-9BA4B925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AB7295A-AC7E-3C62-AD10-CD1C1045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5EC81B-8EF8-2F94-DEB1-F748CAE4C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07DB4A-F64A-C689-AE6C-F9A4032FB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D740A-CC24-904C-BBDB-A3AC12BD6AC8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8209F0-41B7-5D47-6FC1-B133B1054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05266D-BBA4-CB70-92B0-902D91258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  <p:sp>
        <p:nvSpPr>
          <p:cNvPr id="900" name="Acc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04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2B8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96686-4C2B-4C75-81F4-FCBF72D94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2603500"/>
            <a:ext cx="10160000" cy="762000"/>
          </a:xfrm>
        </p:spPr>
        <p:txBody>
          <a:bodyPr>
            <a:normAutofit/>
          </a:bodyPr>
          <a:lstStyle/>
          <a:p>
            <a:r>
              <a:rPr lang="de-DE" sz="3600" b="1" dirty="0"/>
              <a:t>Tag 2: KI als Coding-Partner + MCP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E7CA50-855E-AC15-4BE6-07BB73DCD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0" y="3683000"/>
            <a:ext cx="7112000" cy="508000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3F59FF"/>
                </a:solidFill>
              </a:rPr>
              <a:t>AI-Blueprint Schulung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85F136B-64E5-3049-8B17-C8693150E824}"/>
              </a:ext>
            </a:extLst>
          </p:cNvPr>
          <p:cNvSpPr/>
          <p:nvPr/>
        </p:nvSpPr>
        <p:spPr>
          <a:xfrm>
            <a:off x="4826000" y="3492500"/>
            <a:ext cx="2540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69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BA7A0-0577-7AFB-4FBA-F336DCFB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 dirty="0"/>
              <a:t>Das Problem — KI ohne Kontext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2E159EDB-7B41-0342-8130-9642DC0BF607}"/>
              </a:ext>
            </a:extLst>
          </p:cNvPr>
          <p:cNvSpPr/>
          <p:nvPr/>
        </p:nvSpPr>
        <p:spPr>
          <a:xfrm>
            <a:off x="508000" y="1778000"/>
            <a:ext cx="5334000" cy="3556000"/>
          </a:xfrm>
          <a:prstGeom prst="roundRect">
            <a:avLst/>
          </a:prstGeom>
          <a:solidFill>
            <a:srgbClr val="FFF0F0"/>
          </a:solidFill>
          <a:ln w="2540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9162520B-B075-424E-A426-D48163D10464}"/>
              </a:ext>
            </a:extLst>
          </p:cNvPr>
          <p:cNvSpPr/>
          <p:nvPr/>
        </p:nvSpPr>
        <p:spPr>
          <a:xfrm>
            <a:off x="6350000" y="1778000"/>
            <a:ext cx="5334000" cy="3556000"/>
          </a:xfrm>
          <a:prstGeom prst="roundRect">
            <a:avLst/>
          </a:prstGeom>
          <a:solidFill>
            <a:srgbClr val="F0FFF0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05DE3B8-FB34-E04F-9AB7-30DE5AE0C44F}"/>
              </a:ext>
            </a:extLst>
          </p:cNvPr>
          <p:cNvSpPr txBox="1"/>
          <p:nvPr/>
        </p:nvSpPr>
        <p:spPr>
          <a:xfrm>
            <a:off x="698500" y="1968500"/>
            <a:ext cx="495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 dirty="0">
                <a:solidFill>
                  <a:srgbClr val="FF5252"/>
                </a:solidFill>
              </a:rPr>
              <a:t>OHNE Kontext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E289C5A-41B5-6A49-8B86-9095D1C9C22F}"/>
              </a:ext>
            </a:extLst>
          </p:cNvPr>
          <p:cNvSpPr txBox="1"/>
          <p:nvPr/>
        </p:nvSpPr>
        <p:spPr>
          <a:xfrm>
            <a:off x="698500" y="2349500"/>
            <a:ext cx="49530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dirty="0">
                <a:solidFill>
                  <a:srgbClr val="212121"/>
                </a:solidFill>
              </a:rPr>
              <a:t>"Füge einen </a:t>
            </a:r>
            <a:r>
              <a:rPr lang="de-DE" sz="1600" dirty="0" err="1">
                <a:solidFill>
                  <a:srgbClr val="212121"/>
                </a:solidFill>
              </a:rPr>
              <a:t>Endpoint</a:t>
            </a:r>
            <a:r>
              <a:rPr lang="de-DE" sz="1600" dirty="0">
                <a:solidFill>
                  <a:srgbClr val="212121"/>
                </a:solidFill>
              </a:rPr>
              <a:t> hinzu"
→ Generischer Code
→ Falsche </a:t>
            </a:r>
            <a:r>
              <a:rPr lang="de-DE" sz="1600" dirty="0" err="1">
                <a:solidFill>
                  <a:srgbClr val="212121"/>
                </a:solidFill>
              </a:rPr>
              <a:t>Dependencies</a:t>
            </a:r>
            <a:r>
              <a:rPr lang="de-DE" sz="1600" dirty="0">
                <a:solidFill>
                  <a:srgbClr val="212121"/>
                </a:solidFill>
              </a:rPr>
              <a:t>
→ Ignorierte Konventionen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6BDF12B-620A-E144-9910-7A5D723D48D4}"/>
              </a:ext>
            </a:extLst>
          </p:cNvPr>
          <p:cNvSpPr txBox="1"/>
          <p:nvPr/>
        </p:nvSpPr>
        <p:spPr>
          <a:xfrm>
            <a:off x="6540500" y="1968500"/>
            <a:ext cx="495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 dirty="0">
                <a:solidFill>
                  <a:srgbClr val="4CAF50"/>
                </a:solidFill>
              </a:rPr>
              <a:t>MIT Kontext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29542B-666D-2C40-97AC-504DC15AEB1D}"/>
              </a:ext>
            </a:extLst>
          </p:cNvPr>
          <p:cNvSpPr txBox="1"/>
          <p:nvPr/>
        </p:nvSpPr>
        <p:spPr>
          <a:xfrm>
            <a:off x="6540500" y="2349500"/>
            <a:ext cx="49530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Gleicher Prompt
→ Passt zum Projekt
→ Richtige Libraries
→ Team-Konventionen</a:t>
            </a:r>
          </a:p>
        </p:txBody>
      </p:sp>
    </p:spTree>
    <p:extLst>
      <p:ext uri="{BB962C8B-B14F-4D97-AF65-F5344CB8AC3E}">
        <p14:creationId xmlns:p14="http://schemas.microsoft.com/office/powerpoint/2010/main" val="855698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4D042-D42D-D18B-F666-9DC39A16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Die Kontext-Hierarchie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A99108D-8E31-864D-A905-912C7144E55C}"/>
              </a:ext>
            </a:extLst>
          </p:cNvPr>
          <p:cNvSpPr/>
          <p:nvPr/>
        </p:nvSpPr>
        <p:spPr>
          <a:xfrm>
            <a:off x="889000" y="4699000"/>
            <a:ext cx="6350000" cy="762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CLAUDE.md / copilot-instructions.md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93BF1809-B37C-654F-A5EE-C1E1AFC505CA}"/>
              </a:ext>
            </a:extLst>
          </p:cNvPr>
          <p:cNvSpPr/>
          <p:nvPr/>
        </p:nvSpPr>
        <p:spPr>
          <a:xfrm>
            <a:off x="1651000" y="3683000"/>
            <a:ext cx="4826000" cy="762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Rules / Instructions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DC47BA2-7C28-7D44-A1EB-8AE78A8EE426}"/>
              </a:ext>
            </a:extLst>
          </p:cNvPr>
          <p:cNvSpPr/>
          <p:nvPr/>
        </p:nvSpPr>
        <p:spPr>
          <a:xfrm>
            <a:off x="2413000" y="2730500"/>
            <a:ext cx="3302000" cy="762000"/>
          </a:xfrm>
          <a:prstGeom prst="roundRect">
            <a:avLst/>
          </a:prstGeom>
          <a:solidFill>
            <a:srgbClr val="5B7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 dirty="0">
                <a:solidFill>
                  <a:srgbClr val="FFFFFF"/>
                </a:solidFill>
              </a:rPr>
              <a:t>Skills / </a:t>
            </a:r>
            <a:r>
              <a:rPr lang="de-DE" sz="1400" b="1" dirty="0" err="1">
                <a:solidFill>
                  <a:srgbClr val="FFFFFF"/>
                </a:solidFill>
              </a:rPr>
              <a:t>Reusable</a:t>
            </a:r>
            <a:r>
              <a:rPr lang="de-DE" sz="1400" b="1" dirty="0">
                <a:solidFill>
                  <a:srgbClr val="FFFFFF"/>
                </a:solidFill>
              </a:rPr>
              <a:t> Prompts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B303B23E-3CD8-F241-9BE5-B0AE8DCC1561}"/>
              </a:ext>
            </a:extLst>
          </p:cNvPr>
          <p:cNvSpPr/>
          <p:nvPr/>
        </p:nvSpPr>
        <p:spPr>
          <a:xfrm>
            <a:off x="3048000" y="1778000"/>
            <a:ext cx="2032000" cy="762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Dein Prompt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1B4BBA29-46D8-2E4B-B9E6-00322BEF9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074595"/>
              </p:ext>
            </p:extLst>
          </p:nvPr>
        </p:nvGraphicFramePr>
        <p:xfrm>
          <a:off x="7355840" y="2032000"/>
          <a:ext cx="458216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171">
                  <a:extLst>
                    <a:ext uri="{9D8B030D-6E8A-4147-A177-3AD203B41FA5}">
                      <a16:colId xmlns:a16="http://schemas.microsoft.com/office/drawing/2014/main" val="1939735500"/>
                    </a:ext>
                  </a:extLst>
                </a:gridCol>
                <a:gridCol w="1827989">
                  <a:extLst>
                    <a:ext uri="{9D8B030D-6E8A-4147-A177-3AD203B41FA5}">
                      <a16:colId xmlns:a16="http://schemas.microsoft.com/office/drawing/2014/main" val="145641236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Was?</a:t>
                      </a:r>
                    </a:p>
                  </a:txBody>
                  <a:tcPr>
                    <a:solidFill>
                      <a:srgbClr val="3F5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Wohin?</a:t>
                      </a:r>
                    </a:p>
                  </a:txBody>
                  <a:tcPr>
                    <a:solidFill>
                      <a:srgbClr val="3F5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491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Tech Stack, Projekt-Struktur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CLAUDE.md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39379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 sz="1400" dirty="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Dateityp-Standards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Rule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95029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Domänen-Wissen,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 err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Skill</a:t>
                      </a:r>
                      <a:endParaRPr lang="de-DE" sz="1400" dirty="0">
                        <a:solidFill>
                          <a:srgbClr val="212121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473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765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3CF393-5A69-540B-0DAE-987E57338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lessons.md — Team-Gedächtnis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45F12978-A544-2746-B4CA-2F69828E25A4}"/>
              </a:ext>
            </a:extLst>
          </p:cNvPr>
          <p:cNvSpPr/>
          <p:nvPr/>
        </p:nvSpPr>
        <p:spPr>
          <a:xfrm>
            <a:off x="508000" y="1778000"/>
            <a:ext cx="11176000" cy="1143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## 2024-03-15
KI nutzt Options API statt Composition API
→ Regel: Explizit Composition API mit &lt;script setup&gt; fordern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CC6133-8135-1946-BFB0-F4164A6B87E6}"/>
              </a:ext>
            </a:extLst>
          </p:cNvPr>
          <p:cNvSpPr/>
          <p:nvPr/>
        </p:nvSpPr>
        <p:spPr>
          <a:xfrm>
            <a:off x="2159000" y="3302000"/>
            <a:ext cx="762000" cy="762000"/>
          </a:xfrm>
          <a:prstGeom prst="ellipse">
            <a:avLst/>
          </a:prstGeom>
          <a:solidFill>
            <a:srgbClr val="FF52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 dirty="0">
                <a:solidFill>
                  <a:srgbClr val="FFFFFF"/>
                </a:solidFill>
              </a:rPr>
              <a:t> 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29D713C-160C-0546-BB6D-6C62900F73CA}"/>
              </a:ext>
            </a:extLst>
          </p:cNvPr>
          <p:cNvSpPr txBox="1"/>
          <p:nvPr/>
        </p:nvSpPr>
        <p:spPr>
          <a:xfrm>
            <a:off x="1587500" y="41910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KI macht Fehler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45EC9E8B-45DB-D54E-A049-EB7B3A2B2979}"/>
              </a:ext>
            </a:extLst>
          </p:cNvPr>
          <p:cNvSpPr/>
          <p:nvPr/>
        </p:nvSpPr>
        <p:spPr>
          <a:xfrm>
            <a:off x="3873500" y="3492500"/>
            <a:ext cx="635000" cy="381000"/>
          </a:xfrm>
          <a:prstGeom prst="rightArrow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C2D9CB-29E1-DC40-B2D7-4925C7B99606}"/>
              </a:ext>
            </a:extLst>
          </p:cNvPr>
          <p:cNvSpPr/>
          <p:nvPr/>
        </p:nvSpPr>
        <p:spPr>
          <a:xfrm>
            <a:off x="5461000" y="3302000"/>
            <a:ext cx="762000" cy="7620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 dirty="0">
                <a:solidFill>
                  <a:srgbClr val="212121"/>
                </a:solidFill>
              </a:rPr>
              <a:t> 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4B45E62-7AE0-EE4D-BA94-A27BFE9998A3}"/>
              </a:ext>
            </a:extLst>
          </p:cNvPr>
          <p:cNvSpPr txBox="1"/>
          <p:nvPr/>
        </p:nvSpPr>
        <p:spPr>
          <a:xfrm>
            <a:off x="4889500" y="41910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Lesson aufschreiben</a:t>
            </a:r>
          </a:p>
        </p:txBody>
      </p:sp>
      <p:sp>
        <p:nvSpPr>
          <p:cNvPr id="9" name="Pfeil nach rechts 8">
            <a:extLst>
              <a:ext uri="{FF2B5EF4-FFF2-40B4-BE49-F238E27FC236}">
                <a16:creationId xmlns:a16="http://schemas.microsoft.com/office/drawing/2014/main" id="{ADC4AEC3-4045-7A4D-9E0F-EC11B7C75056}"/>
              </a:ext>
            </a:extLst>
          </p:cNvPr>
          <p:cNvSpPr/>
          <p:nvPr/>
        </p:nvSpPr>
        <p:spPr>
          <a:xfrm>
            <a:off x="7175500" y="3492500"/>
            <a:ext cx="635000" cy="381000"/>
          </a:xfrm>
          <a:prstGeom prst="rightArrow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1CE1BD-9D06-8C42-A5EE-F5F5F9E19F97}"/>
              </a:ext>
            </a:extLst>
          </p:cNvPr>
          <p:cNvSpPr/>
          <p:nvPr/>
        </p:nvSpPr>
        <p:spPr>
          <a:xfrm>
            <a:off x="8763000" y="3302000"/>
            <a:ext cx="762000" cy="762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 dirty="0">
                <a:solidFill>
                  <a:srgbClr val="FFFFFF"/>
                </a:solidFill>
              </a:rPr>
              <a:t> 3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60CE95F-8FF1-5B4A-995C-5727D99D5A86}"/>
              </a:ext>
            </a:extLst>
          </p:cNvPr>
          <p:cNvSpPr txBox="1"/>
          <p:nvPr/>
        </p:nvSpPr>
        <p:spPr>
          <a:xfrm>
            <a:off x="8191500" y="41910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KI liest beim Start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082EA86-6E2B-0543-BC0F-89C32466B257}"/>
              </a:ext>
            </a:extLst>
          </p:cNvPr>
          <p:cNvSpPr txBox="1"/>
          <p:nvPr/>
        </p:nvSpPr>
        <p:spPr>
          <a:xfrm>
            <a:off x="1016000" y="5334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3F59FF"/>
                </a:solidFill>
              </a:rPr>
              <a:t>Jeder korrigierte Fehler gehört in lessons.md</a:t>
            </a:r>
          </a:p>
        </p:txBody>
      </p:sp>
    </p:spTree>
    <p:extLst>
      <p:ext uri="{BB962C8B-B14F-4D97-AF65-F5344CB8AC3E}">
        <p14:creationId xmlns:p14="http://schemas.microsoft.com/office/powerpoint/2010/main" val="224606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0D9A90-3597-044A-8052-7C184D9F1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Copilot — Inline vs. Agent Mode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A85123E-AD70-B14E-8A1C-B35C76661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285839"/>
              </p:ext>
            </p:extLst>
          </p:nvPr>
        </p:nvGraphicFramePr>
        <p:xfrm>
          <a:off x="508000" y="1714500"/>
          <a:ext cx="1117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882628146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519205037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398526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de-DE" sz="1600" b="1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Inline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Agent Mode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64864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Aktuelle Datei (~2-5 Dateien)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Gesamtes Workspace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708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Latenz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50-200ms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2-15 Sekunden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0470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Token-Kosten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~100-500 pro Completion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~5.000-50.000 pro Anfrage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3473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Instructions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Nicht geladen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copilot-instructions.md geladen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423510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771B4D36-D79A-9440-A663-FD2BEC644CF2}"/>
              </a:ext>
            </a:extLst>
          </p:cNvPr>
          <p:cNvSpPr txBox="1"/>
          <p:nvPr/>
        </p:nvSpPr>
        <p:spPr>
          <a:xfrm>
            <a:off x="508000" y="4826000"/>
            <a:ext cx="381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Entscheidungsbaum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5A04F4E6-9A24-EA43-9473-A033CFFE5891}"/>
              </a:ext>
            </a:extLst>
          </p:cNvPr>
          <p:cNvSpPr/>
          <p:nvPr/>
        </p:nvSpPr>
        <p:spPr>
          <a:xfrm>
            <a:off x="508000" y="5334000"/>
            <a:ext cx="3302000" cy="6985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Vervollständigung?
→ Inline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2FE7FF04-8801-0645-BBA5-2EAF10987588}"/>
              </a:ext>
            </a:extLst>
          </p:cNvPr>
          <p:cNvSpPr/>
          <p:nvPr/>
        </p:nvSpPr>
        <p:spPr>
          <a:xfrm>
            <a:off x="4191000" y="5334000"/>
            <a:ext cx="3302000" cy="6985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Mehrere Dateien?
→ Agent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00F1F4F-72F8-FD40-A475-A565BA01A465}"/>
              </a:ext>
            </a:extLst>
          </p:cNvPr>
          <p:cNvSpPr/>
          <p:nvPr/>
        </p:nvSpPr>
        <p:spPr>
          <a:xfrm>
            <a:off x="7874000" y="5334000"/>
            <a:ext cx="3302000" cy="6985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Konventionen nötig?
→ Agent</a:t>
            </a:r>
          </a:p>
        </p:txBody>
      </p:sp>
    </p:spTree>
    <p:extLst>
      <p:ext uri="{BB962C8B-B14F-4D97-AF65-F5344CB8AC3E}">
        <p14:creationId xmlns:p14="http://schemas.microsoft.com/office/powerpoint/2010/main" val="86395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9D2551-9699-2C42-86BA-CE1C9A77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Sub-Agents — Kontext sauber halten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C98E1AD-3865-DD46-AA66-D46A6F5A037F}"/>
              </a:ext>
            </a:extLst>
          </p:cNvPr>
          <p:cNvSpPr/>
          <p:nvPr/>
        </p:nvSpPr>
        <p:spPr>
          <a:xfrm>
            <a:off x="508000" y="1778000"/>
            <a:ext cx="2540000" cy="1270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Hauptkontext
30% belegt</a:t>
            </a:r>
          </a:p>
        </p:txBody>
      </p:sp>
      <p:sp>
        <p:nvSpPr>
          <p:cNvPr id="4" name="Pfeil nach rechts 3">
            <a:extLst>
              <a:ext uri="{FF2B5EF4-FFF2-40B4-BE49-F238E27FC236}">
                <a16:creationId xmlns:a16="http://schemas.microsoft.com/office/drawing/2014/main" id="{AC5A57CE-EC80-9E44-95BC-D2726A8E61A1}"/>
              </a:ext>
            </a:extLst>
          </p:cNvPr>
          <p:cNvSpPr/>
          <p:nvPr/>
        </p:nvSpPr>
        <p:spPr>
          <a:xfrm>
            <a:off x="3238500" y="2159000"/>
            <a:ext cx="635000" cy="3810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66B9205-1B2F-C443-ACD4-B55ACCCAFC8F}"/>
              </a:ext>
            </a:extLst>
          </p:cNvPr>
          <p:cNvSpPr/>
          <p:nvPr/>
        </p:nvSpPr>
        <p:spPr>
          <a:xfrm>
            <a:off x="4064000" y="1778000"/>
            <a:ext cx="2794000" cy="1270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Sub-Agent
200k Window
0% belegt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0A7D6DF8-D56D-7748-B90E-7BE3F7772E62}"/>
              </a:ext>
            </a:extLst>
          </p:cNvPr>
          <p:cNvSpPr/>
          <p:nvPr/>
        </p:nvSpPr>
        <p:spPr>
          <a:xfrm>
            <a:off x="7048500" y="2159000"/>
            <a:ext cx="635000" cy="381000"/>
          </a:xfrm>
          <a:prstGeom prst="rightArrow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7E5CD427-C5AC-2649-BD8A-04E8849ADB72}"/>
              </a:ext>
            </a:extLst>
          </p:cNvPr>
          <p:cNvSpPr/>
          <p:nvPr/>
        </p:nvSpPr>
        <p:spPr>
          <a:xfrm>
            <a:off x="7874000" y="1778000"/>
            <a:ext cx="2286000" cy="1270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Ergebnis
zurück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F229C068-9200-7E40-A0B9-96B913F5B3C2}"/>
              </a:ext>
            </a:extLst>
          </p:cNvPr>
          <p:cNvSpPr/>
          <p:nvPr/>
        </p:nvSpPr>
        <p:spPr>
          <a:xfrm>
            <a:off x="508000" y="3429000"/>
            <a:ext cx="5588000" cy="10160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 dirty="0">
                <a:solidFill>
                  <a:srgbClr val="212121"/>
                </a:solidFill>
              </a:rPr>
              <a:t>5 parallele </a:t>
            </a:r>
            <a:r>
              <a:rPr lang="de-DE" sz="1600" b="1" dirty="0" err="1">
                <a:solidFill>
                  <a:srgbClr val="212121"/>
                </a:solidFill>
              </a:rPr>
              <a:t>Agents</a:t>
            </a:r>
            <a:r>
              <a:rPr lang="de-DE" sz="1600" b="1" dirty="0">
                <a:solidFill>
                  <a:srgbClr val="212121"/>
                </a:solidFill>
              </a:rPr>
              <a:t> = 5× Token-Kosten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24C4215-555B-6248-8C22-3F5E0BFFD054}"/>
              </a:ext>
            </a:extLst>
          </p:cNvPr>
          <p:cNvSpPr txBox="1"/>
          <p:nvPr/>
        </p:nvSpPr>
        <p:spPr>
          <a:xfrm>
            <a:off x="6477000" y="34290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FF5252"/>
                </a:solidFill>
              </a:rPr>
              <a:t>Warnsignale für vollen Kontext: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0CAB52-CD3A-8944-AF53-E6A2B6F60A21}"/>
              </a:ext>
            </a:extLst>
          </p:cNvPr>
          <p:cNvSpPr txBox="1"/>
          <p:nvPr/>
        </p:nvSpPr>
        <p:spPr>
          <a:xfrm>
            <a:off x="6477000" y="3873500"/>
            <a:ext cx="533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⚠ Wiederholte Fragen
⚠ Ignorierte Constraints
⚠ Stil-Abweichungen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9C7AD72-5533-5747-96A2-FF022BA196F8}"/>
              </a:ext>
            </a:extLst>
          </p:cNvPr>
          <p:cNvSpPr txBox="1"/>
          <p:nvPr/>
        </p:nvSpPr>
        <p:spPr>
          <a:xfrm>
            <a:off x="508000" y="48260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Wann lohnt es sich?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07505BA-1F51-124E-BC25-596BB4C87EA5}"/>
              </a:ext>
            </a:extLst>
          </p:cNvPr>
          <p:cNvSpPr txBox="1"/>
          <p:nvPr/>
        </p:nvSpPr>
        <p:spPr>
          <a:xfrm>
            <a:off x="508000" y="5270500"/>
            <a:ext cx="1117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Parallele Tasks: Sub-Agents   |   Sequenzielle Tasks: Main-Context</a:t>
            </a:r>
          </a:p>
        </p:txBody>
      </p:sp>
    </p:spTree>
    <p:extLst>
      <p:ext uri="{BB962C8B-B14F-4D97-AF65-F5344CB8AC3E}">
        <p14:creationId xmlns:p14="http://schemas.microsoft.com/office/powerpoint/2010/main" val="305659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A8A15-0E69-EDE2-7178-586D3BAA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Context-Window-Management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1D5BC812-95DF-FB45-A5AB-A3791FD5A365}"/>
              </a:ext>
            </a:extLst>
          </p:cNvPr>
          <p:cNvSpPr/>
          <p:nvPr/>
        </p:nvSpPr>
        <p:spPr>
          <a:xfrm>
            <a:off x="508000" y="1841500"/>
            <a:ext cx="3302000" cy="1524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Kurze Session
Alles klar
Kontextuell präzise</a:t>
            </a:r>
          </a:p>
        </p:txBody>
      </p:sp>
      <p:sp>
        <p:nvSpPr>
          <p:cNvPr id="4" name="Pfeil nach rechts 3">
            <a:extLst>
              <a:ext uri="{FF2B5EF4-FFF2-40B4-BE49-F238E27FC236}">
                <a16:creationId xmlns:a16="http://schemas.microsoft.com/office/drawing/2014/main" id="{FE044387-865E-3943-BF87-16C32DB962A3}"/>
              </a:ext>
            </a:extLst>
          </p:cNvPr>
          <p:cNvSpPr/>
          <p:nvPr/>
        </p:nvSpPr>
        <p:spPr>
          <a:xfrm>
            <a:off x="3896360" y="2413000"/>
            <a:ext cx="294640" cy="3175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C288D20-D4FF-7646-8B7A-4078C120372B}"/>
              </a:ext>
            </a:extLst>
          </p:cNvPr>
          <p:cNvSpPr/>
          <p:nvPr/>
        </p:nvSpPr>
        <p:spPr>
          <a:xfrm>
            <a:off x="4191000" y="1841500"/>
            <a:ext cx="3302000" cy="1524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Lange Session
Beginnt zu vergessen
Wiederholte Infos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1C35D4A3-3404-C845-BE91-124920E41505}"/>
              </a:ext>
            </a:extLst>
          </p:cNvPr>
          <p:cNvSpPr/>
          <p:nvPr/>
        </p:nvSpPr>
        <p:spPr>
          <a:xfrm>
            <a:off x="7579360" y="2413000"/>
            <a:ext cx="294640" cy="3175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7AE0B02-E514-B944-9FCC-D46106F0408B}"/>
              </a:ext>
            </a:extLst>
          </p:cNvPr>
          <p:cNvSpPr/>
          <p:nvPr/>
        </p:nvSpPr>
        <p:spPr>
          <a:xfrm>
            <a:off x="7874000" y="1841500"/>
            <a:ext cx="3302000" cy="1524000"/>
          </a:xfrm>
          <a:prstGeom prst="roundRect">
            <a:avLst/>
          </a:prstGeom>
          <a:solidFill>
            <a:srgbClr val="FF52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Sehr lange Session
Widersprüche
Kontext-Overflow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26B0CC01-F056-8043-A9F0-47E0D52533F0}"/>
              </a:ext>
            </a:extLst>
          </p:cNvPr>
          <p:cNvSpPr/>
          <p:nvPr/>
        </p:nvSpPr>
        <p:spPr>
          <a:xfrm>
            <a:off x="1016000" y="4298950"/>
            <a:ext cx="10160000" cy="698500"/>
          </a:xfrm>
          <a:prstGeom prst="roundRect">
            <a:avLst/>
          </a:prstGeom>
          <a:solidFill>
            <a:srgbClr val="F0F4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Lösung: Sub-Agents für alles, was nicht zum Kern-Task gehört</a:t>
            </a:r>
          </a:p>
        </p:txBody>
      </p:sp>
    </p:spTree>
    <p:extLst>
      <p:ext uri="{BB962C8B-B14F-4D97-AF65-F5344CB8AC3E}">
        <p14:creationId xmlns:p14="http://schemas.microsoft.com/office/powerpoint/2010/main" val="357726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2A93AF-A2A2-509C-4085-71D78A5C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Built-in Commands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8321FDB0-6638-E64D-8247-2F0A1965C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194886"/>
              </p:ext>
            </p:extLst>
          </p:nvPr>
        </p:nvGraphicFramePr>
        <p:xfrm>
          <a:off x="762000" y="1270000"/>
          <a:ext cx="10668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85140282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2466664483"/>
                    </a:ext>
                  </a:extLst>
                </a:gridCol>
              </a:tblGrid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Command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Was es macht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759764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Plan erstellen, keine Änderungen ohne Freigabe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269047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Code-Review des aktuellen Diffs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271156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/commit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Commit-Message schreiben + committen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159202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Parallele Sub-Agents starten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196539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Wiederkehrende Tasks (z.B. /loop 5m /review)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474525"/>
                  </a:ext>
                </a:extLst>
              </a:tr>
              <a:tr h="671290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/ralph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Iterativer Selbst-Verifikations-Loop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066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69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CF38A-F081-78D3-BC00-277CD4167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 dirty="0"/>
              <a:t>KI autonom arbeiten lassen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9B00AF5F-0B31-E242-92CA-C7E33B3EB91E}"/>
              </a:ext>
            </a:extLst>
          </p:cNvPr>
          <p:cNvSpPr/>
          <p:nvPr/>
        </p:nvSpPr>
        <p:spPr>
          <a:xfrm>
            <a:off x="762000" y="1778000"/>
            <a:ext cx="3302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69D9D1-7B2A-8B40-A850-B112593678E7}"/>
              </a:ext>
            </a:extLst>
          </p:cNvPr>
          <p:cNvSpPr/>
          <p:nvPr/>
        </p:nvSpPr>
        <p:spPr>
          <a:xfrm>
            <a:off x="2063750" y="1968500"/>
            <a:ext cx="698500" cy="698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 dirty="0">
                <a:solidFill>
                  <a:srgbClr val="FFFFFF"/>
                </a:solidFill>
              </a:rPr>
              <a:t> 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C86D17D-FADD-414D-8A87-D074E73F2596}"/>
              </a:ext>
            </a:extLst>
          </p:cNvPr>
          <p:cNvSpPr txBox="1"/>
          <p:nvPr/>
        </p:nvSpPr>
        <p:spPr>
          <a:xfrm>
            <a:off x="952500" y="2794000"/>
            <a:ext cx="292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3F59FF"/>
                </a:solidFill>
              </a:rPr>
              <a:t>Konkreter Prompt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A6BF2AE-620C-0749-84E8-1B19D5C032FD}"/>
              </a:ext>
            </a:extLst>
          </p:cNvPr>
          <p:cNvSpPr txBox="1"/>
          <p:nvPr/>
        </p:nvSpPr>
        <p:spPr>
          <a:xfrm>
            <a:off x="952500" y="33020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Ein Feature direkt beschreiben
mit klaren Anforderungen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CDAECC36-27F7-E447-9728-C9E70592D0F6}"/>
              </a:ext>
            </a:extLst>
          </p:cNvPr>
          <p:cNvSpPr/>
          <p:nvPr/>
        </p:nvSpPr>
        <p:spPr>
          <a:xfrm>
            <a:off x="4445000" y="1778000"/>
            <a:ext cx="3302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3836A7-3221-9B4D-8337-D1B76D1D0398}"/>
              </a:ext>
            </a:extLst>
          </p:cNvPr>
          <p:cNvSpPr/>
          <p:nvPr/>
        </p:nvSpPr>
        <p:spPr>
          <a:xfrm>
            <a:off x="5726430" y="1968500"/>
            <a:ext cx="698500" cy="698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 dirty="0">
                <a:solidFill>
                  <a:srgbClr val="FFFFFF"/>
                </a:solidFill>
              </a:rPr>
              <a:t> 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B169DB0-90FF-B04B-B457-6A61B1156D41}"/>
              </a:ext>
            </a:extLst>
          </p:cNvPr>
          <p:cNvSpPr txBox="1"/>
          <p:nvPr/>
        </p:nvSpPr>
        <p:spPr>
          <a:xfrm>
            <a:off x="4635500" y="2794000"/>
            <a:ext cx="292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tasks/prd.md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DDD1DA1-0DBE-6847-B62F-DA85DDCF01A3}"/>
              </a:ext>
            </a:extLst>
          </p:cNvPr>
          <p:cNvSpPr txBox="1"/>
          <p:nvPr/>
        </p:nvSpPr>
        <p:spPr>
          <a:xfrm>
            <a:off x="4635500" y="33020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Feature-Liste als Datei
übergeben — KI arbeitet ab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9FE8EFB7-8110-8341-A49C-78264A44E028}"/>
              </a:ext>
            </a:extLst>
          </p:cNvPr>
          <p:cNvSpPr/>
          <p:nvPr/>
        </p:nvSpPr>
        <p:spPr>
          <a:xfrm>
            <a:off x="8128000" y="1778000"/>
            <a:ext cx="3302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818B70-AB66-2A4F-B5C8-F660735BB9F3}"/>
              </a:ext>
            </a:extLst>
          </p:cNvPr>
          <p:cNvSpPr/>
          <p:nvPr/>
        </p:nvSpPr>
        <p:spPr>
          <a:xfrm>
            <a:off x="9429750" y="1968500"/>
            <a:ext cx="698500" cy="6985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 dirty="0">
                <a:solidFill>
                  <a:srgbClr val="FFFFFF"/>
                </a:solidFill>
              </a:rPr>
              <a:t> 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3617317-294D-A443-AFFF-0873D16C8A86}"/>
              </a:ext>
            </a:extLst>
          </p:cNvPr>
          <p:cNvSpPr txBox="1"/>
          <p:nvPr/>
        </p:nvSpPr>
        <p:spPr>
          <a:xfrm>
            <a:off x="8318500" y="2794000"/>
            <a:ext cx="292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4CAF50"/>
                </a:solidFill>
              </a:rPr>
              <a:t>/swarm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BD96B99-E7BE-9D4D-8305-33B975B61F4C}"/>
              </a:ext>
            </a:extLst>
          </p:cNvPr>
          <p:cNvSpPr txBox="1"/>
          <p:nvPr/>
        </p:nvSpPr>
        <p:spPr>
          <a:xfrm>
            <a:off x="8318500" y="33020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Parallele Agents für
unabhängige Features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A8D142EA-3CE5-DB4E-845F-BE15C09FC59B}"/>
              </a:ext>
            </a:extLst>
          </p:cNvPr>
          <p:cNvSpPr/>
          <p:nvPr/>
        </p:nvSpPr>
        <p:spPr>
          <a:xfrm>
            <a:off x="1270000" y="5080000"/>
            <a:ext cx="9652000" cy="635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Der Schlüssel: Konkreter Prompt = autonome KI</a:t>
            </a:r>
          </a:p>
        </p:txBody>
      </p:sp>
    </p:spTree>
    <p:extLst>
      <p:ext uri="{BB962C8B-B14F-4D97-AF65-F5344CB8AC3E}">
        <p14:creationId xmlns:p14="http://schemas.microsoft.com/office/powerpoint/2010/main" val="366260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53E9B-8F77-7489-2E80-7968578B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 dirty="0"/>
              <a:t>/</a:t>
            </a:r>
            <a:r>
              <a:rPr lang="de-DE" sz="3600" b="1" dirty="0" err="1"/>
              <a:t>swarm</a:t>
            </a:r>
            <a:r>
              <a:rPr lang="de-DE" sz="3600" b="1" dirty="0"/>
              <a:t> — Parallele </a:t>
            </a:r>
            <a:r>
              <a:rPr lang="de-DE" sz="3600" b="1" dirty="0" err="1"/>
              <a:t>Agents</a:t>
            </a:r>
            <a:endParaRPr lang="de-DE" sz="3600" b="1" dirty="0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077A6EEF-B6DC-E04A-AD04-2F95D84C20FD}"/>
              </a:ext>
            </a:extLst>
          </p:cNvPr>
          <p:cNvSpPr/>
          <p:nvPr/>
        </p:nvSpPr>
        <p:spPr>
          <a:xfrm>
            <a:off x="508000" y="1778000"/>
            <a:ext cx="1651000" cy="762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Runde 1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2DE1245-8B43-864D-A2A0-63260768B691}"/>
              </a:ext>
            </a:extLst>
          </p:cNvPr>
          <p:cNvSpPr txBox="1"/>
          <p:nvPr/>
        </p:nvSpPr>
        <p:spPr>
          <a:xfrm>
            <a:off x="2286000" y="17145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parallel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CFB6BCC1-A6FB-0446-95AA-B22ED51A94A5}"/>
              </a:ext>
            </a:extLst>
          </p:cNvPr>
          <p:cNvSpPr/>
          <p:nvPr/>
        </p:nvSpPr>
        <p:spPr>
          <a:xfrm>
            <a:off x="2413000" y="1778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1 → Service A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47E58AA0-A4C1-AF43-971F-C69E29744C42}"/>
              </a:ext>
            </a:extLst>
          </p:cNvPr>
          <p:cNvSpPr/>
          <p:nvPr/>
        </p:nvSpPr>
        <p:spPr>
          <a:xfrm>
            <a:off x="6350000" y="1778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2 → Service B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C4AE34B0-0663-D045-B8DC-5870EC74A9DF}"/>
              </a:ext>
            </a:extLst>
          </p:cNvPr>
          <p:cNvSpPr/>
          <p:nvPr/>
        </p:nvSpPr>
        <p:spPr>
          <a:xfrm>
            <a:off x="508000" y="2921000"/>
            <a:ext cx="1651000" cy="762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Runde 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EF1E39D-EC56-984F-B455-CE54361521AC}"/>
              </a:ext>
            </a:extLst>
          </p:cNvPr>
          <p:cNvSpPr txBox="1"/>
          <p:nvPr/>
        </p:nvSpPr>
        <p:spPr>
          <a:xfrm>
            <a:off x="2286000" y="28575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parallel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DFE96FD4-11E9-3F49-BCAE-FA4905CB3AD9}"/>
              </a:ext>
            </a:extLst>
          </p:cNvPr>
          <p:cNvSpPr/>
          <p:nvPr/>
        </p:nvSpPr>
        <p:spPr>
          <a:xfrm>
            <a:off x="2413000" y="2921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3 → Tests A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D481BE0D-7461-2C48-8E24-791DAF2C9062}"/>
              </a:ext>
            </a:extLst>
          </p:cNvPr>
          <p:cNvSpPr/>
          <p:nvPr/>
        </p:nvSpPr>
        <p:spPr>
          <a:xfrm>
            <a:off x="6350000" y="2921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4 → Tests B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B847F47D-E5B6-884B-B230-05073F03162A}"/>
              </a:ext>
            </a:extLst>
          </p:cNvPr>
          <p:cNvSpPr/>
          <p:nvPr/>
        </p:nvSpPr>
        <p:spPr>
          <a:xfrm>
            <a:off x="508000" y="4191000"/>
            <a:ext cx="1651000" cy="762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Runde 3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818A4A5C-5F90-B34F-8165-F843FE83F10B}"/>
              </a:ext>
            </a:extLst>
          </p:cNvPr>
          <p:cNvSpPr/>
          <p:nvPr/>
        </p:nvSpPr>
        <p:spPr>
          <a:xfrm>
            <a:off x="2413000" y="4191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5 → Review aller Ergebnisse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FA0068FB-B26C-F94E-B4E3-0F90799ABDBF}"/>
              </a:ext>
            </a:extLst>
          </p:cNvPr>
          <p:cNvSpPr/>
          <p:nvPr/>
        </p:nvSpPr>
        <p:spPr>
          <a:xfrm>
            <a:off x="508000" y="5334000"/>
            <a:ext cx="11176000" cy="6350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Wann /swarm?  3+ unabhängige Module  |  Große Refactorings  |  COBOL-Migration</a:t>
            </a:r>
          </a:p>
        </p:txBody>
      </p:sp>
    </p:spTree>
    <p:extLst>
      <p:ext uri="{BB962C8B-B14F-4D97-AF65-F5344CB8AC3E}">
        <p14:creationId xmlns:p14="http://schemas.microsoft.com/office/powerpoint/2010/main" val="3093494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8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016000" y="1778000"/>
            <a:ext cx="10160000" cy="508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000" b="1" dirty="0">
                <a:solidFill>
                  <a:srgbClr val="FFD440"/>
                </a:solidFill>
              </a:rPr>
              <a:t>KI-PRODUKTIVITÄT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16000" y="2400000"/>
            <a:ext cx="10160000" cy="1016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4000" b="1" dirty="0">
                <a:solidFill>
                  <a:srgbClr val="FFFFFF"/>
                </a:solidFill>
              </a:rPr>
              <a:t>KI-optimierte Tickets schreiben</a:t>
            </a:r>
          </a:p>
        </p:txBody>
      </p:sp>
      <p:sp>
        <p:nvSpPr>
          <p:cNvPr id="4" name="Divider"/>
          <p:cNvSpPr/>
          <p:nvPr/>
        </p:nvSpPr>
        <p:spPr>
          <a:xfrm>
            <a:off x="4826000" y="3556000"/>
            <a:ext cx="2540000" cy="50800"/>
          </a:xfrm>
          <a:prstGeom prst="rect">
            <a:avLst/>
          </a:prstGeom>
          <a:solidFill>
            <a:srgbClr val="FFD440"/>
          </a:solidFill>
          <a:ln w="19050">
            <a:noFill/>
          </a:ln>
        </p:spPr>
        <p:txBody>
          <a:bodyPr rtlCol="0" anchor="t"/>
          <a:lstStyle/>
          <a:p>
            <a:endParaRPr lang="de-DE"/>
          </a:p>
        </p:txBody>
      </p:sp>
      <p:sp>
        <p:nvSpPr>
          <p:cNvPr id="5" name="Subtitle"/>
          <p:cNvSpPr txBox="1"/>
          <p:nvPr/>
        </p:nvSpPr>
        <p:spPr>
          <a:xfrm>
            <a:off x="1016000" y="3700000"/>
            <a:ext cx="10160000" cy="508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000" dirty="0">
                <a:solidFill>
                  <a:srgbClr val="AABBD4"/>
                </a:solidFill>
              </a:rPr>
              <a:t>Warum gute Tickets = gute Prompts sind</a:t>
            </a:r>
          </a:p>
        </p:txBody>
      </p:sp>
    </p:spTree>
    <p:extLst>
      <p:ext uri="{BB962C8B-B14F-4D97-AF65-F5344CB8AC3E}">
        <p14:creationId xmlns:p14="http://schemas.microsoft.com/office/powerpoint/2010/main" val="2241334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279400"/>
            <a:ext cx="10668000" cy="6350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r>
              <a:rPr lang="de-DE" sz="3600" b="1" dirty="0">
                <a:solidFill>
                  <a:srgbClr val="212B80"/>
                </a:solidFill>
                <a:latin typeface="+mj-lt"/>
                <a:ea typeface="+mj-ea"/>
                <a:cs typeface="+mj-cs"/>
              </a:rPr>
              <a:t>Warum normale Tickets für KI nicht reichen</a:t>
            </a:r>
          </a:p>
        </p:txBody>
      </p:sp>
      <p:sp>
        <p:nvSpPr>
          <p:cNvPr id="3" name="LeftHeader"/>
          <p:cNvSpPr/>
          <p:nvPr/>
        </p:nvSpPr>
        <p:spPr>
          <a:xfrm>
            <a:off x="762000" y="1457434"/>
            <a:ext cx="5334000" cy="380000"/>
          </a:xfrm>
          <a:prstGeom prst="roundRect">
            <a:avLst/>
          </a:prstGeom>
          <a:solidFill>
            <a:srgbClr val="2E7D32"/>
          </a:solidFill>
          <a:ln w="19050">
            <a:noFill/>
          </a:ln>
        </p:spPr>
        <p:txBody>
          <a:bodyPr wrap="square" rtlCol="0" anchor="ctr">
            <a:normAutofit lnSpcReduction="10000"/>
          </a:bodyPr>
          <a:lstStyle/>
          <a:p>
            <a:pPr algn="ctr"/>
            <a:r>
              <a:rPr lang="de-DE" sz="1800" b="1" dirty="0">
                <a:solidFill>
                  <a:srgbClr val="FFFFFF"/>
                </a:solidFill>
              </a:rPr>
              <a:t>✓ Mensch liest Ticket</a:t>
            </a:r>
          </a:p>
        </p:txBody>
      </p:sp>
      <p:sp>
        <p:nvSpPr>
          <p:cNvPr id="4" name="RightHeader"/>
          <p:cNvSpPr/>
          <p:nvPr/>
        </p:nvSpPr>
        <p:spPr>
          <a:xfrm>
            <a:off x="6350000" y="1457434"/>
            <a:ext cx="5334000" cy="380000"/>
          </a:xfrm>
          <a:prstGeom prst="roundRect">
            <a:avLst/>
          </a:prstGeom>
          <a:solidFill>
            <a:srgbClr val="C62828"/>
          </a:solidFill>
          <a:ln w="19050">
            <a:noFill/>
          </a:ln>
        </p:spPr>
        <p:txBody>
          <a:bodyPr wrap="square" rtlCol="0" anchor="ctr">
            <a:normAutofit lnSpcReduction="10000"/>
          </a:bodyPr>
          <a:lstStyle/>
          <a:p>
            <a:pPr algn="ctr"/>
            <a:r>
              <a:rPr lang="de-DE" sz="1800" b="1" dirty="0">
                <a:solidFill>
                  <a:srgbClr val="FFFFFF"/>
                </a:solidFill>
              </a:rPr>
              <a:t>✗ KI liest Ticket</a:t>
            </a:r>
          </a:p>
        </p:txBody>
      </p:sp>
      <p:sp>
        <p:nvSpPr>
          <p:cNvPr id="5" name="LeftBox"/>
          <p:cNvSpPr/>
          <p:nvPr/>
        </p:nvSpPr>
        <p:spPr>
          <a:xfrm>
            <a:off x="762000" y="1891434"/>
            <a:ext cx="5334000" cy="27000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4CAF50"/>
            </a:solidFill>
          </a:ln>
        </p:spPr>
        <p:txBody>
          <a:bodyPr vertOverflow="overflow" wrap="square" rtlCol="0" anchor="t">
            <a:normAutofit/>
          </a:bodyPr>
          <a:lstStyle/>
          <a:p>
            <a:r>
              <a:rPr lang="de-DE" sz="1500" b="1" dirty="0">
                <a:solidFill>
                  <a:srgbClr val="1B5E20"/>
                </a:solidFill>
                <a:latin typeface="Courier New"/>
              </a:rPr>
              <a:t>Ticket: „Performance der Suche verbessern“</a:t>
            </a:r>
          </a:p>
          <a:p>
            <a:endParaRPr lang="de-DE" sz="1200" dirty="0"/>
          </a:p>
          <a:p>
            <a:r>
              <a:rPr lang="de-DE" sz="1500" b="1" dirty="0">
                <a:solidFill>
                  <a:srgbClr val="2E7D32"/>
                </a:solidFill>
              </a:rPr>
              <a:t>Mensch denkt automatisch:</a:t>
            </a:r>
          </a:p>
          <a:p>
            <a:r>
              <a:rPr lang="de-DE" sz="1500" dirty="0">
                <a:solidFill>
                  <a:srgbClr val="1B5E20"/>
                </a:solidFill>
              </a:rPr>
              <a:t>✓ Elasticsearch-Query im ProductService</a:t>
            </a:r>
          </a:p>
          <a:p>
            <a:r>
              <a:rPr lang="de-DE" sz="1500" dirty="0">
                <a:solidFill>
                  <a:srgbClr val="1B5E20"/>
                </a:solidFill>
              </a:rPr>
              <a:t>✓ Max hat letzte Woche Indizes angelegt</a:t>
            </a:r>
          </a:p>
          <a:p>
            <a:r>
              <a:rPr lang="de-DE" sz="1500" dirty="0">
                <a:solidFill>
                  <a:srgbClr val="1B5E20"/>
                </a:solidFill>
              </a:rPr>
              <a:t>✓ Soll unter 200ms bleiben</a:t>
            </a:r>
          </a:p>
          <a:p>
            <a:r>
              <a:rPr lang="de-DE" sz="1500" dirty="0">
                <a:solidFill>
                  <a:srgbClr val="1B5E20"/>
                </a:solidFill>
              </a:rPr>
              <a:t>✓ Nur Backend, Frontend ist ok</a:t>
            </a:r>
          </a:p>
        </p:txBody>
      </p:sp>
      <p:sp>
        <p:nvSpPr>
          <p:cNvPr id="6" name="RightBox"/>
          <p:cNvSpPr/>
          <p:nvPr/>
        </p:nvSpPr>
        <p:spPr>
          <a:xfrm>
            <a:off x="6350000" y="1891434"/>
            <a:ext cx="5334000" cy="27000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FF5252"/>
            </a:solidFill>
          </a:ln>
        </p:spPr>
        <p:txBody>
          <a:bodyPr vertOverflow="overflow" wrap="square" rtlCol="0" anchor="t">
            <a:normAutofit/>
          </a:bodyPr>
          <a:lstStyle/>
          <a:p>
            <a:r>
              <a:rPr lang="de-DE" sz="1500" b="1" dirty="0">
                <a:solidFill>
                  <a:srgbClr val="B71C1C"/>
                </a:solidFill>
                <a:latin typeface="Courier New"/>
              </a:rPr>
              <a:t>Ticket: „Performance der Suche verbessern“</a:t>
            </a:r>
          </a:p>
          <a:p>
            <a:endParaRPr lang="de-DE" sz="1200" dirty="0"/>
          </a:p>
          <a:p>
            <a:r>
              <a:rPr lang="de-DE" sz="1500" b="1" dirty="0">
                <a:solidFill>
                  <a:srgbClr val="C62828"/>
                </a:solidFill>
              </a:rPr>
              <a:t>KI sieht:</a:t>
            </a:r>
          </a:p>
          <a:p>
            <a:r>
              <a:rPr lang="de-DE" sz="1500" dirty="0">
                <a:solidFill>
                  <a:srgbClr val="B71C1C"/>
                </a:solidFill>
              </a:rPr>
              <a:t>✗ Welche Suche?</a:t>
            </a:r>
          </a:p>
          <a:p>
            <a:r>
              <a:rPr lang="de-DE" sz="1500" dirty="0">
                <a:solidFill>
                  <a:srgbClr val="B71C1C"/>
                </a:solidFill>
              </a:rPr>
              <a:t>✗ Welches Modul? Welche Datei?</a:t>
            </a:r>
          </a:p>
          <a:p>
            <a:r>
              <a:rPr lang="de-DE" sz="1500" dirty="0">
                <a:solidFill>
                  <a:srgbClr val="B71C1C"/>
                </a:solidFill>
              </a:rPr>
              <a:t>✗ Was ist „gut genug“?</a:t>
            </a:r>
          </a:p>
          <a:p>
            <a:r>
              <a:rPr lang="de-DE" sz="1500" dirty="0">
                <a:solidFill>
                  <a:srgbClr val="B71C1C"/>
                </a:solidFill>
              </a:rPr>
              <a:t>✗ Was ist der Tech-Stack?</a:t>
            </a:r>
          </a:p>
          <a:p>
            <a:r>
              <a:rPr lang="de-DE" sz="1500" b="1" dirty="0">
                <a:solidFill>
                  <a:srgbClr val="C62828"/>
                </a:solidFill>
              </a:rPr>
              <a:t>→ KI fragt nach oder rät falsch</a:t>
            </a:r>
          </a:p>
        </p:txBody>
      </p:sp>
      <p:sp>
        <p:nvSpPr>
          <p:cNvPr id="7" name="Conclusion"/>
          <p:cNvSpPr/>
          <p:nvPr/>
        </p:nvSpPr>
        <p:spPr>
          <a:xfrm>
            <a:off x="762000" y="4791434"/>
            <a:ext cx="10922000" cy="686000"/>
          </a:xfrm>
          <a:prstGeom prst="roundRect">
            <a:avLst/>
          </a:prstGeom>
          <a:solidFill>
            <a:srgbClr val="FFD440"/>
          </a:solidFill>
          <a:ln w="19050">
            <a:noFill/>
          </a:ln>
        </p:spPr>
        <p:txBody>
          <a:bodyPr vertOverflow="overflow" wrap="square" rtlCol="0" anchor="ctr">
            <a:normAutofit/>
          </a:bodyPr>
          <a:lstStyle/>
          <a:p>
            <a:pPr algn="ctr"/>
            <a:r>
              <a:rPr lang="de-DE" sz="1400" dirty="0">
                <a:solidFill>
                  <a:srgbClr val="212B80"/>
                </a:solidFill>
              </a:rPr>
              <a:t>KI hat keinen Zugang zu mündlichen Absprachen, Sprint-Kontext oder Team-Erfahrung. Was ein Mensch implizit weiß, muss für KI </a:t>
            </a:r>
            <a:r>
              <a:rPr lang="de-DE" sz="1400" b="1" dirty="0">
                <a:solidFill>
                  <a:srgbClr val="212B80"/>
                </a:solidFill>
              </a:rPr>
              <a:t>explizit im Ticket stehen.</a:t>
            </a:r>
          </a:p>
        </p:txBody>
      </p:sp>
    </p:spTree>
    <p:extLst>
      <p:ext uri="{BB962C8B-B14F-4D97-AF65-F5344CB8AC3E}">
        <p14:creationId xmlns:p14="http://schemas.microsoft.com/office/powerpoint/2010/main" val="799946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279400"/>
            <a:ext cx="10668000" cy="6350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r>
              <a:rPr lang="de-DE" sz="3600" b="1" dirty="0">
                <a:solidFill>
                  <a:srgbClr val="212B80"/>
                </a:solidFill>
                <a:latin typeface="+mj-lt"/>
                <a:ea typeface="+mj-ea"/>
                <a:cs typeface="+mj-cs"/>
              </a:rPr>
              <a:t>KERNEL-Framework als Ticket-Checkliste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940995"/>
              </p:ext>
            </p:extLst>
          </p:nvPr>
        </p:nvGraphicFramePr>
        <p:xfrm>
          <a:off x="762000" y="1909379"/>
          <a:ext cx="10668000" cy="2783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rgbClr val="FFD440"/>
                          </a:solidFill>
                        </a:rPr>
                        <a:t>KERNEL</a:t>
                      </a:r>
                    </a:p>
                  </a:txBody>
                  <a:tcPr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rgbClr val="FFFFFF"/>
                          </a:solidFill>
                        </a:rPr>
                        <a:t>Prinzip</a:t>
                      </a:r>
                    </a:p>
                  </a:txBody>
                  <a:tcPr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solidFill>
                            <a:srgbClr val="FFFFFF"/>
                          </a:solidFill>
                        </a:rPr>
                        <a:t>Anwendung auf Tickets</a:t>
                      </a:r>
                    </a:p>
                  </a:txBody>
                  <a:tcPr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DE" sz="2000" b="1" dirty="0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3F5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1" dirty="0">
                          <a:solidFill>
                            <a:srgbClr val="212B80"/>
                          </a:solidFill>
                        </a:rPr>
                        <a:t>Keep simple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0" dirty="0">
                          <a:solidFill>
                            <a:srgbClr val="333333"/>
                          </a:solidFill>
                        </a:rPr>
                        <a:t>Ein Ticket = eine klar abgegrenzte Änderung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DE" sz="2000" b="1" dirty="0">
                          <a:solidFill>
                            <a:srgbClr val="FFFFFF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5E35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1" dirty="0">
                          <a:solidFill>
                            <a:srgbClr val="212B80"/>
                          </a:solidFill>
                        </a:rPr>
                        <a:t>Explicit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0" dirty="0">
                          <a:solidFill>
                            <a:srgbClr val="333333"/>
                          </a:solidFill>
                        </a:rPr>
                        <a:t>Was NICHT gemacht werden soll (Scope-Grenzen)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DE" sz="2000" b="1" dirty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1" dirty="0">
                          <a:solidFill>
                            <a:srgbClr val="212B80"/>
                          </a:solidFill>
                        </a:rPr>
                        <a:t>Reproducible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0" dirty="0">
                          <a:solidFill>
                            <a:srgbClr val="333333"/>
                          </a:solidFill>
                        </a:rPr>
                        <a:t>Versionen, Branch, Environment explizit nennen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DE" sz="2000" b="1" dirty="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1" dirty="0">
                          <a:solidFill>
                            <a:srgbClr val="212B80"/>
                          </a:solidFill>
                        </a:rPr>
                        <a:t>Narrow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0" dirty="0">
                          <a:solidFill>
                            <a:srgbClr val="333333"/>
                          </a:solidFill>
                        </a:rPr>
                        <a:t>Kein „und außerdem...“ — separates Ticket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DE" sz="2000" b="1" dirty="0">
                          <a:solidFill>
                            <a:srgbClr val="FFFFFF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1" dirty="0">
                          <a:solidFill>
                            <a:srgbClr val="212B80"/>
                          </a:solidFill>
                        </a:rPr>
                        <a:t>Easy to verify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0" dirty="0">
                          <a:solidFill>
                            <a:srgbClr val="333333"/>
                          </a:solidFill>
                        </a:rPr>
                        <a:t>Akzeptanzkriterien als Checkliste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DE" sz="2000" b="1" dirty="0">
                          <a:solidFill>
                            <a:srgbClr val="FFFFFF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1" dirty="0">
                          <a:solidFill>
                            <a:srgbClr val="212B80"/>
                          </a:solidFill>
                        </a:rPr>
                        <a:t>Logical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 b="0" dirty="0">
                          <a:solidFill>
                            <a:srgbClr val="333333"/>
                          </a:solidFill>
                        </a:rPr>
                        <a:t>Kontext → Anforderung → Constraints → Erfolg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onclusion"/>
          <p:cNvSpPr/>
          <p:nvPr/>
        </p:nvSpPr>
        <p:spPr>
          <a:xfrm>
            <a:off x="762000" y="4703379"/>
            <a:ext cx="10668000" cy="686000"/>
          </a:xfrm>
          <a:prstGeom prst="roundRect">
            <a:avLst/>
          </a:prstGeom>
          <a:solidFill>
            <a:srgbClr val="FFD440"/>
          </a:solidFill>
          <a:ln w="19050">
            <a:noFill/>
          </a:ln>
        </p:spPr>
        <p:txBody>
          <a:bodyPr vertOverflow="overflow" wrap="square" rtlCol="0" anchor="ctr">
            <a:normAutofit/>
          </a:bodyPr>
          <a:lstStyle/>
          <a:p>
            <a:pPr algn="ctr"/>
            <a:r>
              <a:rPr lang="de-DE" sz="1500" b="1" dirty="0">
                <a:solidFill>
                  <a:srgbClr val="212B80"/>
                </a:solidFill>
              </a:rPr>
              <a:t>KERNEL gilt nicht nur für Prompts — es ist die ideale Checkliste für jedes Ticket.</a:t>
            </a:r>
          </a:p>
        </p:txBody>
      </p:sp>
    </p:spTree>
    <p:extLst>
      <p:ext uri="{BB962C8B-B14F-4D97-AF65-F5344CB8AC3E}">
        <p14:creationId xmlns:p14="http://schemas.microsoft.com/office/powerpoint/2010/main" val="4109152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279400"/>
            <a:ext cx="10668000" cy="6350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r>
              <a:rPr lang="de-DE" sz="3600" b="1" dirty="0">
                <a:solidFill>
                  <a:srgbClr val="212B80"/>
                </a:solidFill>
                <a:latin typeface="+mj-lt"/>
                <a:ea typeface="+mj-ea"/>
                <a:cs typeface="+mj-cs"/>
              </a:rPr>
              <a:t>Template: KI-optimiertes Feature-Ticket</a:t>
            </a:r>
          </a:p>
        </p:txBody>
      </p:sp>
      <p:sp>
        <p:nvSpPr>
          <p:cNvPr id="3" name="CodeBg"/>
          <p:cNvSpPr/>
          <p:nvPr/>
        </p:nvSpPr>
        <p:spPr>
          <a:xfrm>
            <a:off x="762000" y="1016000"/>
            <a:ext cx="7366000" cy="5334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3F59FF"/>
            </a:solidFill>
          </a:ln>
        </p:spPr>
        <p:txBody>
          <a:bodyPr vertOverflow="overflow" wrap="square" rtlCol="0" anchor="t">
            <a:normAutofit/>
          </a:bodyPr>
          <a:lstStyle/>
          <a:p>
            <a:r>
              <a:rPr lang="de-DE" sz="1200" b="1" dirty="0">
                <a:solidFill>
                  <a:srgbClr val="FFD440"/>
                </a:solidFill>
                <a:latin typeface="Courier New"/>
              </a:rPr>
              <a:t>## Titel: [Bereich] Aktion + Ziel</a:t>
            </a:r>
          </a:p>
          <a:p>
            <a:r>
              <a:rPr lang="de-DE" sz="1200" dirty="0">
                <a:solidFill>
                  <a:srgbClr val="7C8DB5"/>
                </a:solidFill>
                <a:latin typeface="Courier New"/>
              </a:rPr>
              <a:t>   Beispiel: "Auth: Password-Reset Token per E-Mail senden"</a:t>
            </a:r>
          </a:p>
          <a:p>
            <a:endParaRPr lang="de-DE" sz="1000" dirty="0">
              <a:latin typeface="Courier New"/>
            </a:endParaRPr>
          </a:p>
          <a:p>
            <a:r>
              <a:rPr lang="de-DE" sz="1200" b="1" dirty="0">
                <a:solidFill>
                  <a:srgbClr val="FFD440"/>
                </a:solidFill>
                <a:latin typeface="Courier New"/>
              </a:rPr>
              <a:t>### Kontext</a:t>
            </a:r>
          </a:p>
          <a:p>
            <a:r>
              <a:rPr lang="de-DE" sz="1200" dirty="0">
                <a:solidFill>
                  <a:srgbClr val="A8D8A8"/>
                </a:solidFill>
                <a:latin typeface="Courier New"/>
              </a:rPr>
              <a:t>- Betroffene Dateien/Module: src/auth/...</a:t>
            </a:r>
          </a:p>
          <a:p>
            <a:r>
              <a:rPr lang="de-DE" sz="1200" dirty="0">
                <a:solidFill>
                  <a:srgbClr val="A8D8A8"/>
                </a:solidFill>
                <a:latin typeface="Courier New"/>
              </a:rPr>
              <a:t>- Tech-Stack: Spring Boot 3.2, PostgreSQL</a:t>
            </a:r>
          </a:p>
          <a:p>
            <a:r>
              <a:rPr lang="de-DE" sz="1200" dirty="0">
                <a:solidFill>
                  <a:srgbClr val="A8D8A8"/>
                </a:solidFill>
                <a:latin typeface="Courier New"/>
              </a:rPr>
              <a:t>- Abhängigkeiten: Braucht Feature X (Ticket #123)</a:t>
            </a:r>
          </a:p>
          <a:p>
            <a:endParaRPr lang="de-DE" sz="1000" dirty="0">
              <a:latin typeface="Courier New"/>
            </a:endParaRPr>
          </a:p>
          <a:p>
            <a:r>
              <a:rPr lang="de-DE" sz="1200" b="1" dirty="0">
                <a:solidFill>
                  <a:srgbClr val="FFD440"/>
                </a:solidFill>
                <a:latin typeface="Courier New"/>
              </a:rPr>
              <a:t>### Anforderung</a:t>
            </a:r>
          </a:p>
          <a:p>
            <a:r>
              <a:rPr lang="de-DE" sz="1200" dirty="0">
                <a:solidFill>
                  <a:srgbClr val="A8D8A8"/>
                </a:solidFill>
                <a:latin typeface="Courier New"/>
              </a:rPr>
              <a:t>- WAS gebaut werden soll (nicht WIE)</a:t>
            </a:r>
          </a:p>
          <a:p>
            <a:r>
              <a:rPr lang="de-DE" sz="1200" dirty="0">
                <a:solidFill>
                  <a:srgbClr val="A8D8A8"/>
                </a:solidFill>
                <a:latin typeface="Courier New"/>
              </a:rPr>
              <a:t>- Endpunkte, Felder, Verhalten</a:t>
            </a:r>
          </a:p>
          <a:p>
            <a:endParaRPr lang="de-DE" sz="1000" dirty="0">
              <a:latin typeface="Courier New"/>
            </a:endParaRPr>
          </a:p>
          <a:p>
            <a:r>
              <a:rPr lang="de-DE" sz="1200" b="1" dirty="0">
                <a:solidFill>
                  <a:srgbClr val="FFD440"/>
                </a:solidFill>
                <a:latin typeface="Courier New"/>
              </a:rPr>
              <a:t>### Akzeptanzkriterien</a:t>
            </a:r>
          </a:p>
          <a:p>
            <a:r>
              <a:rPr lang="de-DE" sz="1200" dirty="0">
                <a:solidFill>
                  <a:srgbClr val="A8D8A8"/>
                </a:solidFill>
                <a:latin typeface="Courier New"/>
              </a:rPr>
              <a:t>- [ ] POST /api/v1/auth/forgot-password sendet E-Mail</a:t>
            </a:r>
          </a:p>
          <a:p>
            <a:r>
              <a:rPr lang="de-DE" sz="1200" dirty="0">
                <a:solidFill>
                  <a:srgbClr val="A8D8A8"/>
                </a:solidFill>
                <a:latin typeface="Courier New"/>
              </a:rPr>
              <a:t>- [ ] Token läuft nach 24h ab</a:t>
            </a:r>
          </a:p>
          <a:p>
            <a:r>
              <a:rPr lang="de-DE" sz="1200" dirty="0">
                <a:solidFill>
                  <a:srgbClr val="A8D8A8"/>
                </a:solidFill>
                <a:latin typeface="Courier New"/>
              </a:rPr>
              <a:t>- [ ] Test: Happy Path + Token expired</a:t>
            </a:r>
          </a:p>
          <a:p>
            <a:endParaRPr lang="de-DE" sz="1000" dirty="0">
              <a:latin typeface="Courier New"/>
            </a:endParaRPr>
          </a:p>
          <a:p>
            <a:r>
              <a:rPr lang="de-DE" sz="1200" b="1" dirty="0">
                <a:solidFill>
                  <a:srgbClr val="FFD440"/>
                </a:solidFill>
                <a:latin typeface="Courier New"/>
              </a:rPr>
              <a:t>### Scope-Grenzen</a:t>
            </a:r>
          </a:p>
          <a:p>
            <a:r>
              <a:rPr lang="de-DE" sz="1200" dirty="0">
                <a:solidFill>
                  <a:srgbClr val="FF8A80"/>
                </a:solidFill>
                <a:latin typeface="Courier New"/>
              </a:rPr>
              <a:t>- NICHT: Frontend-Änderungen (separates Ticket)</a:t>
            </a:r>
          </a:p>
          <a:p>
            <a:r>
              <a:rPr lang="de-DE" sz="1200" dirty="0">
                <a:solidFill>
                  <a:srgbClr val="FF8A80"/>
                </a:solidFill>
                <a:latin typeface="Courier New"/>
              </a:rPr>
              <a:t>- NICHT: E-Mail-Template-Design</a:t>
            </a:r>
          </a:p>
        </p:txBody>
      </p:sp>
      <p:sp>
        <p:nvSpPr>
          <p:cNvPr id="4" name="HintBox"/>
          <p:cNvSpPr/>
          <p:nvPr/>
        </p:nvSpPr>
        <p:spPr>
          <a:xfrm>
            <a:off x="8382000" y="1016000"/>
            <a:ext cx="3048000" cy="533400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3F59FF"/>
            </a:solidFill>
          </a:ln>
        </p:spPr>
        <p:txBody>
          <a:bodyPr vertOverflow="overflow" wrap="square" rtlCol="0" anchor="t">
            <a:normAutofit/>
          </a:bodyPr>
          <a:lstStyle/>
          <a:p>
            <a:r>
              <a:rPr lang="de-DE" sz="1600" b="1" dirty="0">
                <a:solidFill>
                  <a:srgbClr val="3F59FF"/>
                </a:solidFill>
              </a:rPr>
              <a:t>💡 Hinweis</a:t>
            </a:r>
          </a:p>
          <a:p>
            <a:endParaRPr lang="de-DE" sz="1000" dirty="0"/>
          </a:p>
          <a:p>
            <a:r>
              <a:rPr lang="de-DE" sz="1400" dirty="0">
                <a:solidFill>
                  <a:srgbClr val="333333"/>
                </a:solidFill>
              </a:rPr>
              <a:t>Auch als </a:t>
            </a:r>
            <a:r>
              <a:rPr lang="de-DE" sz="1400" b="1" dirty="0">
                <a:solidFill>
                  <a:srgbClr val="3F59FF"/>
                </a:solidFill>
              </a:rPr>
              <a:t>Bug-Ticket</a:t>
            </a:r>
            <a:r>
              <a:rPr lang="de-DE" sz="1400" dirty="0">
                <a:solidFill>
                  <a:srgbClr val="333333"/>
                </a:solidFill>
              </a:rPr>
              <a:t> und </a:t>
            </a:r>
            <a:r>
              <a:rPr lang="de-DE" sz="1400" b="1" dirty="0">
                <a:solidFill>
                  <a:srgbClr val="3F59FF"/>
                </a:solidFill>
              </a:rPr>
              <a:t>Refactoring-Ticket</a:t>
            </a:r>
            <a:r>
              <a:rPr lang="de-DE" sz="1400" dirty="0">
                <a:solidFill>
                  <a:srgbClr val="333333"/>
                </a:solidFill>
              </a:rPr>
              <a:t> verfügbar</a:t>
            </a:r>
          </a:p>
          <a:p>
            <a:endParaRPr lang="de-DE" sz="1000" dirty="0"/>
          </a:p>
          <a:p>
            <a:r>
              <a:rPr lang="de-DE" sz="1400" dirty="0">
                <a:solidFill>
                  <a:srgbClr val="555555"/>
                </a:solidFill>
              </a:rPr>
              <a:t>→ siehe Wissensbasis Artikel 18</a:t>
            </a:r>
          </a:p>
        </p:txBody>
      </p:sp>
    </p:spTree>
    <p:extLst>
      <p:ext uri="{BB962C8B-B14F-4D97-AF65-F5344CB8AC3E}">
        <p14:creationId xmlns:p14="http://schemas.microsoft.com/office/powerpoint/2010/main" val="913455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279400"/>
            <a:ext cx="10668000" cy="6350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r>
              <a:rPr lang="de-DE" sz="3600" b="1" dirty="0">
                <a:solidFill>
                  <a:srgbClr val="212B80"/>
                </a:solidFill>
                <a:latin typeface="+mj-lt"/>
                <a:ea typeface="+mj-ea"/>
                <a:cs typeface="+mj-cs"/>
              </a:rPr>
              <a:t>Gleiches Feature, unterschiedliches Ergebnis</a:t>
            </a:r>
          </a:p>
        </p:txBody>
      </p:sp>
      <p:sp>
        <p:nvSpPr>
          <p:cNvPr id="4" name="VorherCode"/>
          <p:cNvSpPr/>
          <p:nvPr/>
        </p:nvSpPr>
        <p:spPr>
          <a:xfrm>
            <a:off x="762000" y="1422400"/>
            <a:ext cx="6858000" cy="130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5252"/>
            </a:solidFill>
          </a:ln>
        </p:spPr>
        <p:txBody>
          <a:bodyPr vertOverflow="overflow" wrap="square" rtlCol="0" anchor="t">
            <a:normAutofit/>
          </a:bodyPr>
          <a:lstStyle/>
          <a:p>
            <a:r>
              <a:rPr lang="de-DE" sz="1400" b="1" dirty="0">
                <a:solidFill>
                  <a:srgbClr val="B71C1C"/>
                </a:solidFill>
                <a:latin typeface="Courier New"/>
              </a:rPr>
              <a:t>Titel: Login verbessern</a:t>
            </a:r>
          </a:p>
          <a:p>
            <a:r>
              <a:rPr lang="de-DE" sz="1400" dirty="0">
                <a:solidFill>
                  <a:srgbClr val="B71C1C"/>
                </a:solidFill>
                <a:latin typeface="Courier New"/>
              </a:rPr>
              <a:t>Beschreibung: Der Login soll besser werden. Bitte auch an die Security denken.</a:t>
            </a:r>
          </a:p>
        </p:txBody>
      </p:sp>
      <p:sp>
        <p:nvSpPr>
          <p:cNvPr id="5" name="VorherResults"/>
          <p:cNvSpPr/>
          <p:nvPr/>
        </p:nvSpPr>
        <p:spPr>
          <a:xfrm>
            <a:off x="7772400" y="1422400"/>
            <a:ext cx="3657600" cy="1300000"/>
          </a:xfrm>
          <a:prstGeom prst="roundRect">
            <a:avLst/>
          </a:prstGeom>
          <a:solidFill>
            <a:srgbClr val="FEECED"/>
          </a:solidFill>
          <a:ln w="19050">
            <a:solidFill>
              <a:srgbClr val="FF5252"/>
            </a:solidFill>
          </a:ln>
        </p:spPr>
        <p:txBody>
          <a:bodyPr vertOverflow="overflow" wrap="square" rtlCol="0" anchor="t">
            <a:normAutofit/>
          </a:bodyPr>
          <a:lstStyle/>
          <a:p>
            <a:r>
              <a:rPr lang="de-DE" sz="1400" dirty="0">
                <a:solidFill>
                  <a:srgbClr val="C62828"/>
                </a:solidFill>
              </a:rPr>
              <a:t>→ KI fragt 5x nach</a:t>
            </a:r>
          </a:p>
          <a:p>
            <a:r>
              <a:rPr lang="de-DE" sz="1400" dirty="0">
                <a:solidFill>
                  <a:srgbClr val="C62828"/>
                </a:solidFill>
              </a:rPr>
              <a:t>→ Baut OAuth2 statt JWT (geraten)</a:t>
            </a:r>
          </a:p>
          <a:p>
            <a:r>
              <a:rPr lang="de-DE" sz="1400" dirty="0">
                <a:solidFill>
                  <a:srgbClr val="C62828"/>
                </a:solidFill>
              </a:rPr>
              <a:t>→ Ignoriert Patterns</a:t>
            </a:r>
          </a:p>
          <a:p>
            <a:r>
              <a:rPr lang="de-DE" sz="1400" b="1" dirty="0">
                <a:solidFill>
                  <a:srgbClr val="C62828"/>
                </a:solidFill>
              </a:rPr>
              <a:t>→ Ergebnis passt nicht</a:t>
            </a:r>
          </a:p>
        </p:txBody>
      </p:sp>
      <p:sp>
        <p:nvSpPr>
          <p:cNvPr id="7" name="NachherCode"/>
          <p:cNvSpPr/>
          <p:nvPr/>
        </p:nvSpPr>
        <p:spPr>
          <a:xfrm>
            <a:off x="762000" y="3230400"/>
            <a:ext cx="6858000" cy="1905000"/>
          </a:xfrm>
          <a:prstGeom prst="roundRect">
            <a:avLst/>
          </a:prstGeom>
          <a:solidFill>
            <a:srgbClr val="F0FFF0"/>
          </a:solidFill>
          <a:ln w="19050">
            <a:solidFill>
              <a:srgbClr val="4CAF50"/>
            </a:solidFill>
          </a:ln>
        </p:spPr>
        <p:txBody>
          <a:bodyPr vertOverflow="overflow" wrap="square" rtlCol="0" anchor="t">
            <a:normAutofit lnSpcReduction="10000"/>
          </a:bodyPr>
          <a:lstStyle/>
          <a:p>
            <a:r>
              <a:rPr lang="de-DE" sz="1300" b="1" dirty="0">
                <a:solidFill>
                  <a:srgbClr val="1B5E20"/>
                </a:solidFill>
                <a:latin typeface="Courier New"/>
              </a:rPr>
              <a:t>Titel: Auth: JWT Refresh-Token Rotation implementieren</a:t>
            </a:r>
          </a:p>
          <a:p>
            <a:r>
              <a:rPr lang="de-DE" sz="1300" dirty="0">
                <a:solidFill>
                  <a:srgbClr val="1B5E20"/>
                </a:solidFill>
                <a:latin typeface="Courier New"/>
              </a:rPr>
              <a:t>Kontext: Spring Boot 3.2, Spring Security 6.x, jjwt 0.12</a:t>
            </a:r>
          </a:p>
          <a:p>
            <a:r>
              <a:rPr lang="de-DE" sz="1300" dirty="0">
                <a:solidFill>
                  <a:srgbClr val="1B5E20"/>
                </a:solidFill>
                <a:latin typeface="Courier New"/>
              </a:rPr>
              <a:t>Anforderung: Access-Token (15min) + Refresh-Token (7d) mit Rotation</a:t>
            </a:r>
          </a:p>
          <a:p>
            <a:r>
              <a:rPr lang="de-DE" sz="1300" dirty="0">
                <a:solidFill>
                  <a:srgbClr val="1B5E20"/>
                </a:solidFill>
                <a:latin typeface="Courier New"/>
              </a:rPr>
              <a:t>Akzeptanzkriterien:</a:t>
            </a:r>
          </a:p>
          <a:p>
            <a:r>
              <a:rPr lang="de-DE" sz="1300" dirty="0">
                <a:solidFill>
                  <a:srgbClr val="2E7D32"/>
                </a:solidFill>
                <a:latin typeface="Courier New"/>
              </a:rPr>
              <a:t>- [ ] POST /api/v1/auth/refresh rotiert Token</a:t>
            </a:r>
          </a:p>
          <a:p>
            <a:r>
              <a:rPr lang="de-DE" sz="1300" dirty="0">
                <a:solidFill>
                  <a:srgbClr val="2E7D32"/>
                </a:solidFill>
                <a:latin typeface="Courier New"/>
              </a:rPr>
              <a:t>- [ ] Altes Token wird invalidiert</a:t>
            </a:r>
          </a:p>
          <a:p>
            <a:r>
              <a:rPr lang="de-DE" sz="1300" dirty="0">
                <a:solidFill>
                  <a:srgbClr val="2E7D32"/>
                </a:solidFill>
                <a:latin typeface="Courier New"/>
              </a:rPr>
              <a:t>- [ ] Test: Happy Path, Expired, Reuse Detection</a:t>
            </a:r>
          </a:p>
          <a:p>
            <a:r>
              <a:rPr lang="de-DE" sz="1300" dirty="0">
                <a:solidFill>
                  <a:srgbClr val="FF8A80"/>
                </a:solidFill>
                <a:latin typeface="Courier New"/>
              </a:rPr>
              <a:t>Scope-Grenzen: NICHT Frontend, NICHT OAuth2</a:t>
            </a:r>
          </a:p>
        </p:txBody>
      </p:sp>
      <p:sp>
        <p:nvSpPr>
          <p:cNvPr id="8" name="NachherResults"/>
          <p:cNvSpPr/>
          <p:nvPr/>
        </p:nvSpPr>
        <p:spPr>
          <a:xfrm>
            <a:off x="7772400" y="3230400"/>
            <a:ext cx="3657600" cy="1905000"/>
          </a:xfrm>
          <a:prstGeom prst="roundRect">
            <a:avLst/>
          </a:prstGeom>
          <a:solidFill>
            <a:srgbClr val="ECFDF0"/>
          </a:solidFill>
          <a:ln w="19050">
            <a:solidFill>
              <a:srgbClr val="4CAF50"/>
            </a:solidFill>
          </a:ln>
        </p:spPr>
        <p:txBody>
          <a:bodyPr vertOverflow="overflow" wrap="square" rtlCol="0" anchor="t">
            <a:normAutofit/>
          </a:bodyPr>
          <a:lstStyle/>
          <a:p>
            <a:r>
              <a:rPr lang="de-DE" sz="1400" dirty="0">
                <a:solidFill>
                  <a:srgbClr val="2E7D32"/>
                </a:solidFill>
              </a:rPr>
              <a:t>→ KI startet sofort</a:t>
            </a:r>
          </a:p>
          <a:p>
            <a:r>
              <a:rPr lang="de-DE" sz="1400" dirty="0">
                <a:solidFill>
                  <a:srgbClr val="2E7D32"/>
                </a:solidFill>
              </a:rPr>
              <a:t>→ Nutzt korrekte Libs</a:t>
            </a:r>
          </a:p>
          <a:p>
            <a:r>
              <a:rPr lang="de-DE" sz="1400" dirty="0">
                <a:solidFill>
                  <a:srgbClr val="2E7D32"/>
                </a:solidFill>
              </a:rPr>
              <a:t>→ Hält Scope ein</a:t>
            </a:r>
          </a:p>
          <a:p>
            <a:r>
              <a:rPr lang="de-DE" sz="1400" b="1" dirty="0">
                <a:solidFill>
                  <a:srgbClr val="2E7D32"/>
                </a:solidFill>
              </a:rPr>
              <a:t>→ Kriterien → Tests</a:t>
            </a:r>
          </a:p>
        </p:txBody>
      </p:sp>
      <p:sp>
        <p:nvSpPr>
          <p:cNvPr id="9" name="Conclusion"/>
          <p:cNvSpPr/>
          <p:nvPr/>
        </p:nvSpPr>
        <p:spPr>
          <a:xfrm>
            <a:off x="762000" y="5287800"/>
            <a:ext cx="10668000" cy="711200"/>
          </a:xfrm>
          <a:prstGeom prst="roundRect">
            <a:avLst/>
          </a:prstGeom>
          <a:solidFill>
            <a:srgbClr val="FFD440"/>
          </a:solidFill>
          <a:ln w="19050">
            <a:noFill/>
          </a:ln>
        </p:spPr>
        <p:txBody>
          <a:bodyPr vertOverflow="overflow" wrap="square" rtlCol="0" anchor="ctr">
            <a:normAutofit/>
          </a:bodyPr>
          <a:lstStyle/>
          <a:p>
            <a:pPr algn="ctr"/>
            <a:r>
              <a:rPr lang="de-DE" sz="1400" b="1" dirty="0">
                <a:solidFill>
                  <a:srgbClr val="212B80"/>
                </a:solidFill>
              </a:rPr>
              <a:t>Ticket schreiben = Prompt schreiben. KERNEL gilt. Akzeptanzkriterien werden 1:1 zu Tests.</a:t>
            </a:r>
          </a:p>
        </p:txBody>
      </p:sp>
    </p:spTree>
    <p:extLst>
      <p:ext uri="{BB962C8B-B14F-4D97-AF65-F5344CB8AC3E}">
        <p14:creationId xmlns:p14="http://schemas.microsoft.com/office/powerpoint/2010/main" val="471386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79515-D1DE-CE9C-21CD-8D770361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Überleitung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2AD2DDEE-C7CE-264F-9BCD-9618AB80BF11}"/>
              </a:ext>
            </a:extLst>
          </p:cNvPr>
          <p:cNvSpPr/>
          <p:nvPr/>
        </p:nvSpPr>
        <p:spPr>
          <a:xfrm>
            <a:off x="1016000" y="2032000"/>
            <a:ext cx="10160000" cy="1270000"/>
          </a:xfrm>
          <a:prstGeom prst="roundRect">
            <a:avLst/>
          </a:prstGeom>
          <a:solidFill>
            <a:srgbClr val="F0F4FF"/>
          </a:solidFill>
          <a:ln w="381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400" b="1">
                <a:solidFill>
                  <a:srgbClr val="212B80"/>
                </a:solidFill>
              </a:rPr>
              <a:t>Was wenn KI nicht nur Code schreiben soll,
sondern mit echten Systemen interagieren?</a:t>
            </a:r>
          </a:p>
        </p:txBody>
      </p:sp>
      <p:sp>
        <p:nvSpPr>
          <p:cNvPr id="4" name="Pfeil nach unten 3">
            <a:extLst>
              <a:ext uri="{FF2B5EF4-FFF2-40B4-BE49-F238E27FC236}">
                <a16:creationId xmlns:a16="http://schemas.microsoft.com/office/drawing/2014/main" id="{239B6289-A1C5-8B4C-AF8E-0B315C0A84D7}"/>
              </a:ext>
            </a:extLst>
          </p:cNvPr>
          <p:cNvSpPr/>
          <p:nvPr/>
        </p:nvSpPr>
        <p:spPr>
          <a:xfrm>
            <a:off x="5461000" y="3683000"/>
            <a:ext cx="762000" cy="762000"/>
          </a:xfrm>
          <a:prstGeom prst="down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E256B507-72E0-C145-9E71-9AAAE4886B4D}"/>
              </a:ext>
            </a:extLst>
          </p:cNvPr>
          <p:cNvSpPr/>
          <p:nvPr/>
        </p:nvSpPr>
        <p:spPr>
          <a:xfrm>
            <a:off x="2540000" y="4699000"/>
            <a:ext cx="6604000" cy="1016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3000" b="1">
                <a:solidFill>
                  <a:srgbClr val="FFFFFF"/>
                </a:solidFill>
              </a:rPr>
              <a:t>Model Context Protocol</a:t>
            </a:r>
          </a:p>
        </p:txBody>
      </p:sp>
    </p:spTree>
    <p:extLst>
      <p:ext uri="{BB962C8B-B14F-4D97-AF65-F5344CB8AC3E}">
        <p14:creationId xmlns:p14="http://schemas.microsoft.com/office/powerpoint/2010/main" val="2712301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8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64884-448A-C63A-DB4E-5CA8BE78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159000"/>
            <a:ext cx="10160000" cy="508000"/>
          </a:xfrm>
        </p:spPr>
        <p:txBody>
          <a:bodyPr>
            <a:normAutofit/>
          </a:bodyPr>
          <a:lstStyle/>
          <a:p>
            <a:r>
              <a:rPr lang="de-DE" sz="2400" b="1">
                <a:solidFill>
                  <a:srgbClr val="FFD440"/>
                </a:solidFill>
              </a:rPr>
              <a:t>TEIL 2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3CC31BF-4774-5744-A3EF-EA953384AB5C}"/>
              </a:ext>
            </a:extLst>
          </p:cNvPr>
          <p:cNvSpPr txBox="1"/>
          <p:nvPr/>
        </p:nvSpPr>
        <p:spPr>
          <a:xfrm>
            <a:off x="1016000" y="2794000"/>
            <a:ext cx="10160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600" b="1">
                <a:solidFill>
                  <a:srgbClr val="FFFFFF"/>
                </a:solidFill>
              </a:rPr>
              <a:t>MCP — KI mit der Außenwelt verbinden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17E477B-7D6B-474F-8F11-74ECFBE3F60B}"/>
              </a:ext>
            </a:extLst>
          </p:cNvPr>
          <p:cNvSpPr txBox="1"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>
                <a:solidFill>
                  <a:srgbClr val="7C8DB5"/>
                </a:solidFill>
              </a:rPr>
              <a:t>Model Context Protocol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DEDD324-67CB-6F4B-BADF-1CBA3A9CBD25}"/>
              </a:ext>
            </a:extLst>
          </p:cNvPr>
          <p:cNvSpPr/>
          <p:nvPr/>
        </p:nvSpPr>
        <p:spPr>
          <a:xfrm>
            <a:off x="4826000" y="3746500"/>
            <a:ext cx="2540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712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1628535-CED6-7F3A-72D3-600AC67D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952500"/>
          </a:xfrm>
        </p:spPr>
        <p:txBody>
          <a:bodyPr>
            <a:normAutofit/>
          </a:bodyPr>
          <a:lstStyle/>
          <a:p>
            <a:r>
              <a:rPr lang="de-DE" sz="3200" b="1"/>
              <a:t>Wie funktioniert MCP?</a:t>
            </a:r>
          </a:p>
        </p:txBody>
      </p:sp>
      <p:sp>
        <p:nvSpPr>
          <p:cNvPr id="100" name="Shape100"/>
          <p:cNvSpPr/>
          <p:nvPr/>
        </p:nvSpPr>
        <p:spPr>
          <a:xfrm>
            <a:off x="508000" y="1333500"/>
            <a:ext cx="11176000" cy="4508500"/>
          </a:xfrm>
          <a:prstGeom prst="roundRect">
            <a:avLst/>
          </a:prstGeom>
          <a:solidFill>
            <a:srgbClr val="F8F9FF"/>
          </a:solidFill>
          <a:ln w="6350">
            <a:solidFill>
              <a:srgbClr val="D0D8F0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01" name="Shape101"/>
          <p:cNvSpPr/>
          <p:nvPr/>
        </p:nvSpPr>
        <p:spPr>
          <a:xfrm>
            <a:off x="762000" y="1587500"/>
            <a:ext cx="3302000" cy="20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59FF"/>
            </a:solidFill>
          </a:ln>
        </p:spPr>
        <p:txBody>
          <a:bodyPr/>
          <a:lstStyle/>
          <a:p>
            <a:endParaRPr lang="de-DE" dirty="0"/>
          </a:p>
        </p:txBody>
      </p:sp>
      <p:sp>
        <p:nvSpPr>
          <p:cNvPr id="102" name="Shape102"/>
          <p:cNvSpPr/>
          <p:nvPr/>
        </p:nvSpPr>
        <p:spPr>
          <a:xfrm>
            <a:off x="762000" y="1587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600" b="1" dirty="0"/>
              <a:t>MCP Host</a:t>
            </a:r>
          </a:p>
        </p:txBody>
      </p:sp>
      <p:sp>
        <p:nvSpPr>
          <p:cNvPr id="103" name="Shape103"/>
          <p:cNvSpPr/>
          <p:nvPr/>
        </p:nvSpPr>
        <p:spPr>
          <a:xfrm>
            <a:off x="762000" y="1993900"/>
            <a:ext cx="330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400" dirty="0">
                <a:solidFill>
                  <a:srgbClr val="555555"/>
                </a:solidFill>
              </a:rPr>
              <a:t>KI-Anwendung (z.B. IDE)</a:t>
            </a:r>
          </a:p>
        </p:txBody>
      </p:sp>
      <p:sp>
        <p:nvSpPr>
          <p:cNvPr id="104" name="Shape104"/>
          <p:cNvSpPr/>
          <p:nvPr/>
        </p:nvSpPr>
        <p:spPr>
          <a:xfrm>
            <a:off x="952500" y="2667000"/>
            <a:ext cx="2921000" cy="762000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3F59FF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05" name="Shape105"/>
          <p:cNvSpPr/>
          <p:nvPr/>
        </p:nvSpPr>
        <p:spPr>
          <a:xfrm>
            <a:off x="952500" y="2667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400" b="1" dirty="0">
                <a:solidFill>
                  <a:srgbClr val="3F59FF"/>
                </a:solidFill>
              </a:rPr>
              <a:t>MCP Client</a:t>
            </a:r>
          </a:p>
          <a:p>
            <a:pPr algn="ctr"/>
            <a:r>
              <a:rPr lang="de-DE" sz="1200" dirty="0">
                <a:solidFill>
                  <a:srgbClr val="777777"/>
                </a:solidFill>
              </a:rPr>
              <a:t>Protokoll-Vermittler</a:t>
            </a:r>
          </a:p>
        </p:txBody>
      </p:sp>
      <p:sp>
        <p:nvSpPr>
          <p:cNvPr id="106" name="Shape106"/>
          <p:cNvSpPr/>
          <p:nvPr/>
        </p:nvSpPr>
        <p:spPr>
          <a:xfrm>
            <a:off x="4318000" y="2819400"/>
            <a:ext cx="889000" cy="381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7" name="Shape107"/>
          <p:cNvSpPr/>
          <p:nvPr/>
        </p:nvSpPr>
        <p:spPr>
          <a:xfrm>
            <a:off x="4254500" y="2489200"/>
            <a:ext cx="101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100" dirty="0">
                <a:solidFill>
                  <a:srgbClr val="3F59FF"/>
                </a:solidFill>
                <a:latin typeface="Consolas"/>
                <a:cs typeface="Consolas"/>
              </a:rPr>
              <a:t>JSON-RPC</a:t>
            </a:r>
          </a:p>
        </p:txBody>
      </p:sp>
      <p:sp>
        <p:nvSpPr>
          <p:cNvPr id="108" name="Shape108"/>
          <p:cNvSpPr/>
          <p:nvPr/>
        </p:nvSpPr>
        <p:spPr>
          <a:xfrm>
            <a:off x="5461000" y="1587500"/>
            <a:ext cx="3556000" cy="20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59FF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09" name="Shape109"/>
          <p:cNvSpPr/>
          <p:nvPr/>
        </p:nvSpPr>
        <p:spPr>
          <a:xfrm>
            <a:off x="5461000" y="1587500"/>
            <a:ext cx="3556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600" b="1" dirty="0"/>
              <a:t>MCP Server</a:t>
            </a:r>
          </a:p>
        </p:txBody>
      </p:sp>
      <p:sp>
        <p:nvSpPr>
          <p:cNvPr id="110" name="Shape110"/>
          <p:cNvSpPr/>
          <p:nvPr/>
        </p:nvSpPr>
        <p:spPr>
          <a:xfrm>
            <a:off x="5461000" y="20574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200" dirty="0">
                <a:solidFill>
                  <a:srgbClr val="555555"/>
                </a:solidFill>
              </a:rPr>
              <a:t>Stellt bereit:</a:t>
            </a:r>
          </a:p>
        </p:txBody>
      </p:sp>
      <p:sp>
        <p:nvSpPr>
          <p:cNvPr id="111" name="Shape111"/>
          <p:cNvSpPr/>
          <p:nvPr/>
        </p:nvSpPr>
        <p:spPr>
          <a:xfrm>
            <a:off x="5613400" y="2438400"/>
            <a:ext cx="1016000" cy="35560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200" b="1" dirty="0">
                <a:solidFill>
                  <a:srgbClr val="3F59FF"/>
                </a:solidFill>
              </a:rPr>
              <a:t>Tools</a:t>
            </a:r>
          </a:p>
        </p:txBody>
      </p:sp>
      <p:sp>
        <p:nvSpPr>
          <p:cNvPr id="112" name="Shape112"/>
          <p:cNvSpPr/>
          <p:nvPr/>
        </p:nvSpPr>
        <p:spPr>
          <a:xfrm>
            <a:off x="6731000" y="2438400"/>
            <a:ext cx="1206500" cy="35560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200" b="1" dirty="0">
                <a:solidFill>
                  <a:srgbClr val="3F59FF"/>
                </a:solidFill>
              </a:rPr>
              <a:t>Resources</a:t>
            </a:r>
          </a:p>
        </p:txBody>
      </p:sp>
      <p:sp>
        <p:nvSpPr>
          <p:cNvPr id="113" name="Shape113"/>
          <p:cNvSpPr/>
          <p:nvPr/>
        </p:nvSpPr>
        <p:spPr>
          <a:xfrm>
            <a:off x="8039100" y="2438400"/>
            <a:ext cx="863600" cy="35560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200" b="1" dirty="0">
                <a:solidFill>
                  <a:srgbClr val="3F59FF"/>
                </a:solidFill>
              </a:rPr>
              <a:t>Prompts</a:t>
            </a:r>
          </a:p>
        </p:txBody>
      </p:sp>
      <p:sp>
        <p:nvSpPr>
          <p:cNvPr id="114" name="Shape114"/>
          <p:cNvSpPr/>
          <p:nvPr/>
        </p:nvSpPr>
        <p:spPr>
          <a:xfrm>
            <a:off x="5461000" y="28448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200" dirty="0">
                <a:solidFill>
                  <a:srgbClr val="777777"/>
                </a:solidFill>
              </a:rPr>
              <a:t>Lokaler Prozess oder</a:t>
            </a:r>
          </a:p>
          <a:p>
            <a:pPr algn="ctr"/>
            <a:r>
              <a:rPr lang="de-DE" sz="1200" dirty="0">
                <a:solidFill>
                  <a:srgbClr val="777777"/>
                </a:solidFill>
              </a:rPr>
              <a:t>Remote HTTP-Service</a:t>
            </a:r>
          </a:p>
        </p:txBody>
      </p:sp>
      <p:sp>
        <p:nvSpPr>
          <p:cNvPr id="115" name="Shape115"/>
          <p:cNvSpPr/>
          <p:nvPr/>
        </p:nvSpPr>
        <p:spPr>
          <a:xfrm>
            <a:off x="9207500" y="2476500"/>
            <a:ext cx="508000" cy="304800"/>
          </a:xfrm>
          <a:prstGeom prst="rightArrow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6" name="Shape116"/>
          <p:cNvSpPr/>
          <p:nvPr/>
        </p:nvSpPr>
        <p:spPr>
          <a:xfrm>
            <a:off x="9842500" y="1651000"/>
            <a:ext cx="1651000" cy="508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D440"/>
            </a:solidFill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200" b="1" dirty="0">
                <a:solidFill>
                  <a:srgbClr val="996600"/>
                </a:solidFill>
              </a:rPr>
              <a:t>Datenbank</a:t>
            </a:r>
          </a:p>
        </p:txBody>
      </p:sp>
      <p:sp>
        <p:nvSpPr>
          <p:cNvPr id="117" name="Shape117"/>
          <p:cNvSpPr/>
          <p:nvPr/>
        </p:nvSpPr>
        <p:spPr>
          <a:xfrm>
            <a:off x="9842500" y="2260600"/>
            <a:ext cx="1651000" cy="508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D440"/>
            </a:solidFill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200" b="1" dirty="0">
                <a:solidFill>
                  <a:srgbClr val="996600"/>
                </a:solidFill>
              </a:rPr>
              <a:t>APIs</a:t>
            </a:r>
          </a:p>
        </p:txBody>
      </p:sp>
      <p:sp>
        <p:nvSpPr>
          <p:cNvPr id="118" name="Shape118"/>
          <p:cNvSpPr/>
          <p:nvPr/>
        </p:nvSpPr>
        <p:spPr>
          <a:xfrm>
            <a:off x="9842500" y="2870200"/>
            <a:ext cx="1651000" cy="508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D440"/>
            </a:solidFill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200" b="1" dirty="0">
                <a:solidFill>
                  <a:srgbClr val="996600"/>
                </a:solidFill>
              </a:rPr>
              <a:t>Dateisystem</a:t>
            </a:r>
          </a:p>
        </p:txBody>
      </p:sp>
      <p:sp>
        <p:nvSpPr>
          <p:cNvPr id="119" name="Shape119"/>
          <p:cNvSpPr/>
          <p:nvPr/>
        </p:nvSpPr>
        <p:spPr>
          <a:xfrm>
            <a:off x="762000" y="4000500"/>
            <a:ext cx="10795000" cy="6985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500" b="1" dirty="0">
                <a:solidFill>
                  <a:srgbClr val="FFFFFF"/>
                </a:solidFill>
              </a:rPr>
              <a:t>Kernprinzip: Ein offenes Protokoll — ein Server, viele Clients.</a:t>
            </a:r>
          </a:p>
        </p:txBody>
      </p:sp>
      <p:sp>
        <p:nvSpPr>
          <p:cNvPr id="120" name="Shape120"/>
          <p:cNvSpPr/>
          <p:nvPr/>
        </p:nvSpPr>
        <p:spPr>
          <a:xfrm>
            <a:off x="762000" y="4978400"/>
            <a:ext cx="3302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59FF"/>
            </a:solidFill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400" b="1" dirty="0">
                <a:solidFill>
                  <a:srgbClr val="3F59FF"/>
                </a:solidFill>
              </a:rPr>
              <a:t>Standardisiert</a:t>
            </a:r>
          </a:p>
          <a:p>
            <a:pPr algn="ctr"/>
            <a:r>
              <a:rPr lang="de-DE" sz="1100" dirty="0">
                <a:solidFill>
                  <a:srgbClr val="777777"/>
                </a:solidFill>
              </a:rPr>
              <a:t>JSON-RPC 2.0 über stdio oder HTTP</a:t>
            </a:r>
          </a:p>
        </p:txBody>
      </p:sp>
      <p:sp>
        <p:nvSpPr>
          <p:cNvPr id="121" name="Shape121"/>
          <p:cNvSpPr/>
          <p:nvPr/>
        </p:nvSpPr>
        <p:spPr>
          <a:xfrm>
            <a:off x="4508500" y="4978400"/>
            <a:ext cx="3302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59FF"/>
            </a:solidFill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400" b="1" dirty="0">
                <a:solidFill>
                  <a:srgbClr val="3F59FF"/>
                </a:solidFill>
              </a:rPr>
              <a:t>Lokal oder Remote</a:t>
            </a:r>
          </a:p>
          <a:p>
            <a:pPr algn="ctr"/>
            <a:r>
              <a:rPr lang="de-DE" sz="1100" dirty="0">
                <a:solidFill>
                  <a:srgbClr val="777777"/>
                </a:solidFill>
              </a:rPr>
              <a:t>Server als Prozess oder als Service</a:t>
            </a:r>
          </a:p>
        </p:txBody>
      </p:sp>
      <p:sp>
        <p:nvSpPr>
          <p:cNvPr id="122" name="Shape122"/>
          <p:cNvSpPr/>
          <p:nvPr/>
        </p:nvSpPr>
        <p:spPr>
          <a:xfrm>
            <a:off x="8255000" y="4978400"/>
            <a:ext cx="3302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59FF"/>
            </a:solidFill>
          </a:ln>
        </p:spPr>
        <p:txBody>
          <a:bodyPr wrap="square" lIns="72000" tIns="36000" rIns="72000" bIns="36000" anchor="ctr"/>
          <a:lstStyle/>
          <a:p>
            <a:pPr algn="ctr"/>
            <a:r>
              <a:rPr lang="de-DE" sz="1400" b="1" dirty="0">
                <a:solidFill>
                  <a:srgbClr val="3F59FF"/>
                </a:solidFill>
              </a:rPr>
              <a:t>Wiederverwendbar</a:t>
            </a:r>
          </a:p>
          <a:p>
            <a:pPr algn="ctr"/>
            <a:r>
              <a:rPr lang="de-DE" sz="1100" dirty="0">
                <a:solidFill>
                  <a:srgbClr val="777777"/>
                </a:solidFill>
              </a:rPr>
              <a:t>1× bauen → in jeder KI-App nutzen</a:t>
            </a:r>
          </a:p>
        </p:txBody>
      </p:sp>
    </p:spTree>
    <p:extLst>
      <p:ext uri="{BB962C8B-B14F-4D97-AF65-F5344CB8AC3E}">
        <p14:creationId xmlns:p14="http://schemas.microsoft.com/office/powerpoint/2010/main" val="1084378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5984B8-1FD7-F9B6-7DDA-742BE201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10160000" cy="825500"/>
          </a:xfrm>
        </p:spPr>
        <p:txBody>
          <a:bodyPr>
            <a:normAutofit/>
          </a:bodyPr>
          <a:lstStyle/>
          <a:p>
            <a:r>
              <a:rPr lang="de-DE" sz="3000" b="1"/>
              <a:t>MCP auf Protokoll-Ebene (JSON-RPC 2.0)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801E292-3954-C941-A75A-95D534A60695}"/>
              </a:ext>
            </a:extLst>
          </p:cNvPr>
          <p:cNvSpPr txBox="1"/>
          <p:nvPr/>
        </p:nvSpPr>
        <p:spPr>
          <a:xfrm>
            <a:off x="508000" y="13335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Request — Tools auflisten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DE90A33-68D7-A74B-9511-271669CEFDF7}"/>
              </a:ext>
            </a:extLst>
          </p:cNvPr>
          <p:cNvSpPr/>
          <p:nvPr/>
        </p:nvSpPr>
        <p:spPr>
          <a:xfrm>
            <a:off x="508000" y="1778000"/>
            <a:ext cx="5461000" cy="2286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"jsonrpc": "2.0",
  "id": 1,
  "method": "tools/list"
}
→ Server antwortet mit
  Tool-Definitionen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069F58D-2565-A040-8485-D13CF58A3438}"/>
              </a:ext>
            </a:extLst>
          </p:cNvPr>
          <p:cNvSpPr txBox="1"/>
          <p:nvPr/>
        </p:nvSpPr>
        <p:spPr>
          <a:xfrm>
            <a:off x="6223000" y="13335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Tool-Call — Tool aufrufen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D901D3E1-CF11-0541-A914-02F05EBFEB54}"/>
              </a:ext>
            </a:extLst>
          </p:cNvPr>
          <p:cNvSpPr/>
          <p:nvPr/>
        </p:nvSpPr>
        <p:spPr>
          <a:xfrm>
            <a:off x="6223000" y="1778000"/>
            <a:ext cx="5461000" cy="2286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"jsonrpc": "2.0",
  "id": 2,
  "method": "tools/call",
  "params": {
    "name": "query-table",
    "arguments": { ... }
  }
}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A31B844-A9A3-744D-8B03-12C49229AADE}"/>
              </a:ext>
            </a:extLst>
          </p:cNvPr>
          <p:cNvSpPr/>
          <p:nvPr/>
        </p:nvSpPr>
        <p:spPr>
          <a:xfrm>
            <a:off x="1016000" y="4334933"/>
            <a:ext cx="10160000" cy="5715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 dirty="0">
                <a:solidFill>
                  <a:srgbClr val="212121"/>
                </a:solidFill>
              </a:rPr>
              <a:t>Einfaches Request/Response über JSON — kein komplexes Framework</a:t>
            </a:r>
          </a:p>
        </p:txBody>
      </p:sp>
    </p:spTree>
    <p:extLst>
      <p:ext uri="{BB962C8B-B14F-4D97-AF65-F5344CB8AC3E}">
        <p14:creationId xmlns:p14="http://schemas.microsoft.com/office/powerpoint/2010/main" val="231783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50C5B3-EF6A-274C-BEA9-40C9E355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Transport — stdio vs. HTTP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CDE1E627-7019-C54A-8511-39394AF4D877}"/>
              </a:ext>
            </a:extLst>
          </p:cNvPr>
          <p:cNvSpPr/>
          <p:nvPr/>
        </p:nvSpPr>
        <p:spPr>
          <a:xfrm>
            <a:off x="508000" y="1397000"/>
            <a:ext cx="5334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BBAC647-E88C-4F42-BCE5-ECC5339D15EF}"/>
              </a:ext>
            </a:extLst>
          </p:cNvPr>
          <p:cNvSpPr txBox="1"/>
          <p:nvPr/>
        </p:nvSpPr>
        <p:spPr>
          <a:xfrm>
            <a:off x="698500" y="15240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 dirty="0" err="1">
                <a:solidFill>
                  <a:srgbClr val="3F59FF"/>
                </a:solidFill>
              </a:rPr>
              <a:t>stdio</a:t>
            </a:r>
            <a:r>
              <a:rPr lang="de-DE" sz="2200" b="1" dirty="0">
                <a:solidFill>
                  <a:srgbClr val="3F59FF"/>
                </a:solidFill>
              </a:rPr>
              <a:t> (lokal)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5B05B39-7CA0-8A4F-9212-95B5BFA5C9FD}"/>
              </a:ext>
            </a:extLst>
          </p:cNvPr>
          <p:cNvSpPr txBox="1"/>
          <p:nvPr/>
        </p:nvSpPr>
        <p:spPr>
          <a:xfrm>
            <a:off x="698500" y="2032000"/>
            <a:ext cx="4953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• Server als Child-Process
• Kommunikation via stdin/stdout
• Kein Netzwerk nötig
• Stoppt automatisch mit Client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D6E9CA00-9A33-C742-94BC-814A3B03B973}"/>
              </a:ext>
            </a:extLst>
          </p:cNvPr>
          <p:cNvSpPr/>
          <p:nvPr/>
        </p:nvSpPr>
        <p:spPr>
          <a:xfrm>
            <a:off x="6223000" y="1397000"/>
            <a:ext cx="5461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836C7FA-2BF0-1E44-A959-1D85705CA4D4}"/>
              </a:ext>
            </a:extLst>
          </p:cNvPr>
          <p:cNvSpPr txBox="1"/>
          <p:nvPr/>
        </p:nvSpPr>
        <p:spPr>
          <a:xfrm>
            <a:off x="6413500" y="1524000"/>
            <a:ext cx="508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B80"/>
                </a:solidFill>
              </a:rPr>
              <a:t>HTTP + SSE (remote)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ACFFA9B-91CD-504E-AE2C-C4337E782D35}"/>
              </a:ext>
            </a:extLst>
          </p:cNvPr>
          <p:cNvSpPr txBox="1"/>
          <p:nvPr/>
        </p:nvSpPr>
        <p:spPr>
          <a:xfrm>
            <a:off x="6413500" y="2032000"/>
            <a:ext cx="5080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• Server als Web-Service
• Mehrere Clients gleichzeitig
• Server-Sent Events für Streaming
• Unabhängiger Lifecycle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74701505-B31E-2844-A7AC-B250532C58AE}"/>
              </a:ext>
            </a:extLst>
          </p:cNvPr>
          <p:cNvSpPr/>
          <p:nvPr/>
        </p:nvSpPr>
        <p:spPr>
          <a:xfrm>
            <a:off x="508000" y="4445000"/>
            <a:ext cx="11176000" cy="5080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Lokaler MCP-Server → stdio   |   Shared Team-Server → HTTP</a:t>
            </a:r>
          </a:p>
        </p:txBody>
      </p:sp>
    </p:spTree>
    <p:extLst>
      <p:ext uri="{BB962C8B-B14F-4D97-AF65-F5344CB8AC3E}">
        <p14:creationId xmlns:p14="http://schemas.microsoft.com/office/powerpoint/2010/main" val="102722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020F52-4BA5-4909-2052-85A3EE79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Der MCP-Lifecycle (4 Phasen)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58766055-3BA3-A745-BC80-BB4F22E0D7A0}"/>
              </a:ext>
            </a:extLst>
          </p:cNvPr>
          <p:cNvSpPr/>
          <p:nvPr/>
        </p:nvSpPr>
        <p:spPr>
          <a:xfrm>
            <a:off x="381000" y="1397000"/>
            <a:ext cx="2692400" cy="304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6DDC91-803B-7647-9867-23E36C8C0402}"/>
              </a:ext>
            </a:extLst>
          </p:cNvPr>
          <p:cNvSpPr/>
          <p:nvPr/>
        </p:nvSpPr>
        <p:spPr>
          <a:xfrm>
            <a:off x="1397000" y="1587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099706F-8BFA-8649-AF77-DAB04450E2F6}"/>
              </a:ext>
            </a:extLst>
          </p:cNvPr>
          <p:cNvSpPr txBox="1"/>
          <p:nvPr/>
        </p:nvSpPr>
        <p:spPr>
          <a:xfrm>
            <a:off x="508000" y="2349500"/>
            <a:ext cx="243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INITIALIZE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D1BD28F-1BED-6C47-8FBA-23F26AB2FDCB}"/>
              </a:ext>
            </a:extLst>
          </p:cNvPr>
          <p:cNvSpPr txBox="1"/>
          <p:nvPr/>
        </p:nvSpPr>
        <p:spPr>
          <a:xfrm>
            <a:off x="571500" y="2794000"/>
            <a:ext cx="2311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Client startet Server
→ Server meldet
Capabilities</a:t>
            </a:r>
          </a:p>
        </p:txBody>
      </p:sp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F9971818-FA33-FA4F-8A12-2EA2F0C14822}"/>
              </a:ext>
            </a:extLst>
          </p:cNvPr>
          <p:cNvSpPr/>
          <p:nvPr/>
        </p:nvSpPr>
        <p:spPr>
          <a:xfrm>
            <a:off x="3149600" y="2730500"/>
            <a:ext cx="152400" cy="2032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4CBC96E-99C7-224D-9E6F-476460F5016F}"/>
              </a:ext>
            </a:extLst>
          </p:cNvPr>
          <p:cNvSpPr/>
          <p:nvPr/>
        </p:nvSpPr>
        <p:spPr>
          <a:xfrm>
            <a:off x="3327400" y="1397000"/>
            <a:ext cx="2692400" cy="304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A2C20B-9982-6144-9EF4-BBD46AFBBBD0}"/>
              </a:ext>
            </a:extLst>
          </p:cNvPr>
          <p:cNvSpPr/>
          <p:nvPr/>
        </p:nvSpPr>
        <p:spPr>
          <a:xfrm>
            <a:off x="4343400" y="1587500"/>
            <a:ext cx="635000" cy="635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B792D13-2947-B049-A2CA-984D6DD90D82}"/>
              </a:ext>
            </a:extLst>
          </p:cNvPr>
          <p:cNvSpPr txBox="1"/>
          <p:nvPr/>
        </p:nvSpPr>
        <p:spPr>
          <a:xfrm>
            <a:off x="3454400" y="2349500"/>
            <a:ext cx="243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  <a:latin typeface="Consolas"/>
                <a:cs typeface="Consolas"/>
              </a:rPr>
              <a:t>DISCOVERY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257836B-9A63-214D-BA9E-2E2C9CFF92E5}"/>
              </a:ext>
            </a:extLst>
          </p:cNvPr>
          <p:cNvSpPr txBox="1"/>
          <p:nvPr/>
        </p:nvSpPr>
        <p:spPr>
          <a:xfrm>
            <a:off x="3517900" y="2794000"/>
            <a:ext cx="2311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Client fragt tools/list
→ Server liefert Tools
mit Schemas</a:t>
            </a:r>
          </a:p>
        </p:txBody>
      </p:sp>
      <p:sp>
        <p:nvSpPr>
          <p:cNvPr id="12" name="Pfeil nach rechts 11">
            <a:extLst>
              <a:ext uri="{FF2B5EF4-FFF2-40B4-BE49-F238E27FC236}">
                <a16:creationId xmlns:a16="http://schemas.microsoft.com/office/drawing/2014/main" id="{0C5DDB7E-AE6D-294A-90F6-9EEE70E6E9E7}"/>
              </a:ext>
            </a:extLst>
          </p:cNvPr>
          <p:cNvSpPr/>
          <p:nvPr/>
        </p:nvSpPr>
        <p:spPr>
          <a:xfrm>
            <a:off x="6096000" y="2730500"/>
            <a:ext cx="152400" cy="2032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0702D2B-8347-BF43-BEA3-7FFF530DBA58}"/>
              </a:ext>
            </a:extLst>
          </p:cNvPr>
          <p:cNvSpPr/>
          <p:nvPr/>
        </p:nvSpPr>
        <p:spPr>
          <a:xfrm>
            <a:off x="6273800" y="1397000"/>
            <a:ext cx="2692400" cy="304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B37C31-13CB-D345-9FAC-44E16AAAC51E}"/>
              </a:ext>
            </a:extLst>
          </p:cNvPr>
          <p:cNvSpPr/>
          <p:nvPr/>
        </p:nvSpPr>
        <p:spPr>
          <a:xfrm>
            <a:off x="7289800" y="1587500"/>
            <a:ext cx="635000" cy="635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FF4B984-DC68-D14A-B4E2-733789B50385}"/>
              </a:ext>
            </a:extLst>
          </p:cNvPr>
          <p:cNvSpPr txBox="1"/>
          <p:nvPr/>
        </p:nvSpPr>
        <p:spPr>
          <a:xfrm>
            <a:off x="6400800" y="2349500"/>
            <a:ext cx="243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4CAF50"/>
                </a:solidFill>
                <a:latin typeface="Consolas"/>
                <a:cs typeface="Consolas"/>
              </a:rPr>
              <a:t>OPERATION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E14AF9C-91B8-A843-A0BE-4FD69EEE8A73}"/>
              </a:ext>
            </a:extLst>
          </p:cNvPr>
          <p:cNvSpPr txBox="1"/>
          <p:nvPr/>
        </p:nvSpPr>
        <p:spPr>
          <a:xfrm>
            <a:off x="6464300" y="2794000"/>
            <a:ext cx="2311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Client ruft tools/call
→ Server führt aus
(wiederholbar)</a:t>
            </a:r>
          </a:p>
        </p:txBody>
      </p:sp>
      <p:sp>
        <p:nvSpPr>
          <p:cNvPr id="17" name="Pfeil nach rechts 16">
            <a:extLst>
              <a:ext uri="{FF2B5EF4-FFF2-40B4-BE49-F238E27FC236}">
                <a16:creationId xmlns:a16="http://schemas.microsoft.com/office/drawing/2014/main" id="{EA97B544-BB45-A747-91BD-C750FC538037}"/>
              </a:ext>
            </a:extLst>
          </p:cNvPr>
          <p:cNvSpPr/>
          <p:nvPr/>
        </p:nvSpPr>
        <p:spPr>
          <a:xfrm>
            <a:off x="9042400" y="2730500"/>
            <a:ext cx="152400" cy="2032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81360781-03BD-4D4F-B215-A9240611D4D8}"/>
              </a:ext>
            </a:extLst>
          </p:cNvPr>
          <p:cNvSpPr/>
          <p:nvPr/>
        </p:nvSpPr>
        <p:spPr>
          <a:xfrm>
            <a:off x="9220200" y="1397000"/>
            <a:ext cx="2692400" cy="304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7C8D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AF7406A-C5E9-1143-B43F-1686A8319A11}"/>
              </a:ext>
            </a:extLst>
          </p:cNvPr>
          <p:cNvSpPr/>
          <p:nvPr/>
        </p:nvSpPr>
        <p:spPr>
          <a:xfrm>
            <a:off x="10236200" y="1587500"/>
            <a:ext cx="635000" cy="635000"/>
          </a:xfrm>
          <a:prstGeom prst="ellipse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91FD72B-BF19-1D48-87F8-3C4FB32B2493}"/>
              </a:ext>
            </a:extLst>
          </p:cNvPr>
          <p:cNvSpPr txBox="1"/>
          <p:nvPr/>
        </p:nvSpPr>
        <p:spPr>
          <a:xfrm>
            <a:off x="9347200" y="2349500"/>
            <a:ext cx="243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7C8DB5"/>
                </a:solidFill>
                <a:latin typeface="Consolas"/>
                <a:cs typeface="Consolas"/>
              </a:rPr>
              <a:t>SHUTDOWN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264B9BE-67B5-EA41-B502-A9E50FCD8D33}"/>
              </a:ext>
            </a:extLst>
          </p:cNvPr>
          <p:cNvSpPr txBox="1"/>
          <p:nvPr/>
        </p:nvSpPr>
        <p:spPr>
          <a:xfrm>
            <a:off x="9410700" y="2794000"/>
            <a:ext cx="2311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Client beendet
Verbindung
→ Server stoppt</a:t>
            </a: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F777FDFD-5A03-714C-920A-58F1E5B0D495}"/>
              </a:ext>
            </a:extLst>
          </p:cNvPr>
          <p:cNvSpPr/>
          <p:nvPr/>
        </p:nvSpPr>
        <p:spPr>
          <a:xfrm>
            <a:off x="1016000" y="4762500"/>
            <a:ext cx="10160000" cy="508000"/>
          </a:xfrm>
          <a:prstGeom prst="roundRect">
            <a:avLst/>
          </a:prstGeom>
          <a:solidFill>
            <a:srgbClr val="F0FFF0"/>
          </a:solidFill>
          <a:ln w="1905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Phase 3 (OPERATION) wiederholt sich — ein Tool-Call pro User-Nachricht</a:t>
            </a:r>
          </a:p>
        </p:txBody>
      </p:sp>
    </p:spTree>
    <p:extLst>
      <p:ext uri="{BB962C8B-B14F-4D97-AF65-F5344CB8AC3E}">
        <p14:creationId xmlns:p14="http://schemas.microsoft.com/office/powerpoint/2010/main" val="1683110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9772D8-6F15-5FD8-03BC-787DE2F4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10160000" cy="825500"/>
          </a:xfrm>
        </p:spPr>
        <p:txBody>
          <a:bodyPr>
            <a:normAutofit/>
          </a:bodyPr>
          <a:lstStyle/>
          <a:p>
            <a:r>
              <a:rPr lang="de-DE" sz="3000" b="1"/>
              <a:t>MCP-Server bauen — 15 Zeilen TypeScript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4E32F6E6-7F33-D442-932A-C6F898F9644D}"/>
              </a:ext>
            </a:extLst>
          </p:cNvPr>
          <p:cNvSpPr/>
          <p:nvPr/>
        </p:nvSpPr>
        <p:spPr>
          <a:xfrm>
            <a:off x="508000" y="1270000"/>
            <a:ext cx="11176000" cy="3683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import { McpServer } from "@modelcontextprotocol/sdk";
import { StdioServerTransport } from "@modelcontextprotocol/sdk";
import { z } from "zod";
const server = new McpServer({
  name: "demo", version: "1.0.0"
});
server.tool(
  "greet", "Begrüßt einen User",
  { name: z.string() },
  async ({ name }) =&gt; ({
    content: [{ type: "text", text: `Hallo ${name}!` }]
  })
);
await server.connect(new StdioServerTransport());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AE3F6F91-329C-7E42-A778-54EAEB26E498}"/>
              </a:ext>
            </a:extLst>
          </p:cNvPr>
          <p:cNvSpPr/>
          <p:nvPr/>
        </p:nvSpPr>
        <p:spPr>
          <a:xfrm>
            <a:off x="508000" y="5143500"/>
            <a:ext cx="11176000" cy="698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Das ist ein vollständiger MCP-Server.
Sofort nutzbar in Claude Code oder Copilot.</a:t>
            </a:r>
          </a:p>
        </p:txBody>
      </p:sp>
    </p:spTree>
    <p:extLst>
      <p:ext uri="{BB962C8B-B14F-4D97-AF65-F5344CB8AC3E}">
        <p14:creationId xmlns:p14="http://schemas.microsoft.com/office/powerpoint/2010/main" val="4048067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8CB039-0FC6-C1DE-481A-587A4370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Warum MCP besser ist als REST für KI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BB42BA6-8D78-204F-BB47-DE029BF7A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306275"/>
              </p:ext>
            </p:extLst>
          </p:nvPr>
        </p:nvGraphicFramePr>
        <p:xfrm>
          <a:off x="508000" y="1651000"/>
          <a:ext cx="11176000" cy="3280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774832651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1701562389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4046427347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Aspekt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REST + Tool Use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MCP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977852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Tool-Discovery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Manuell in JSON definieren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4CAF50"/>
                          </a:solidFill>
                          <a:latin typeface="Open Sans"/>
                          <a:ea typeface="Open Sans"/>
                          <a:cs typeface="Open Sans"/>
                        </a:rPr>
                        <a:t>Server liefert automatisch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015062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Schema-Inference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JSON Schema pro Endpoint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4CAF50"/>
                          </a:solidFill>
                          <a:latin typeface="Open Sans"/>
                          <a:ea typeface="Open Sans"/>
                          <a:cs typeface="Open Sans"/>
                        </a:rPr>
                        <a:t>Server deklariert Parameter + Typen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5229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Fehlerbehandlung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HTTP-Codes interpretieren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4CAF50"/>
                          </a:solidFill>
                          <a:latin typeface="Open Sans"/>
                          <a:ea typeface="Open Sans"/>
                          <a:cs typeface="Open Sans"/>
                        </a:rPr>
                        <a:t>Standardisiertes Error-Format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70457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de-DE" sz="1400" b="1" dirty="0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Multi-Client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Pro Client neu integrieren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 dirty="0">
                          <a:solidFill>
                            <a:srgbClr val="4CAF50"/>
                          </a:solidFill>
                          <a:latin typeface="Open Sans"/>
                          <a:ea typeface="Open Sans"/>
                          <a:cs typeface="Open Sans"/>
                        </a:rPr>
                        <a:t>Einmal bauen → überall nutzen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871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205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EF385-FD38-889A-71C9-A1F431B7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MCP Tool-Call — Technischer Ablauf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82AC0B-E525-7A4C-BE2F-6DC6E5BEF91D}"/>
              </a:ext>
            </a:extLst>
          </p:cNvPr>
          <p:cNvSpPr/>
          <p:nvPr/>
        </p:nvSpPr>
        <p:spPr>
          <a:xfrm>
            <a:off x="762000" y="13335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DDC737C-E8F8-E042-82D7-05F8A493D06F}"/>
              </a:ext>
            </a:extLst>
          </p:cNvPr>
          <p:cNvSpPr txBox="1"/>
          <p:nvPr/>
        </p:nvSpPr>
        <p:spPr>
          <a:xfrm>
            <a:off x="1460500" y="13335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Claude Code startet MCP-Server als Child-Process (stdio)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B86E077-6D51-E649-B462-2B90E6830F03}"/>
              </a:ext>
            </a:extLst>
          </p:cNvPr>
          <p:cNvSpPr/>
          <p:nvPr/>
        </p:nvSpPr>
        <p:spPr>
          <a:xfrm>
            <a:off x="990600" y="1841500"/>
            <a:ext cx="38100" cy="203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40145D-04E8-6D47-8FD3-1179F884D311}"/>
              </a:ext>
            </a:extLst>
          </p:cNvPr>
          <p:cNvSpPr/>
          <p:nvPr/>
        </p:nvSpPr>
        <p:spPr>
          <a:xfrm>
            <a:off x="762000" y="19939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AFA75D7-7A3F-2146-8617-712C0B2A11E5}"/>
              </a:ext>
            </a:extLst>
          </p:cNvPr>
          <p:cNvSpPr txBox="1"/>
          <p:nvPr/>
        </p:nvSpPr>
        <p:spPr>
          <a:xfrm>
            <a:off x="1460500" y="19939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Server schickt Tool-Liste (name, description, inputSchema)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03D0E0B-D595-0146-8BA3-CF7487919CF9}"/>
              </a:ext>
            </a:extLst>
          </p:cNvPr>
          <p:cNvSpPr/>
          <p:nvPr/>
        </p:nvSpPr>
        <p:spPr>
          <a:xfrm>
            <a:off x="990600" y="2501900"/>
            <a:ext cx="38100" cy="203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2B3597-6DC2-3B48-AA6C-505B1EC9DB78}"/>
              </a:ext>
            </a:extLst>
          </p:cNvPr>
          <p:cNvSpPr/>
          <p:nvPr/>
        </p:nvSpPr>
        <p:spPr>
          <a:xfrm>
            <a:off x="762000" y="26543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DA3F443-E3EF-5E49-848E-FD9C97456DB7}"/>
              </a:ext>
            </a:extLst>
          </p:cNvPr>
          <p:cNvSpPr txBox="1"/>
          <p:nvPr/>
        </p:nvSpPr>
        <p:spPr>
          <a:xfrm>
            <a:off x="1460500" y="26543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Claude matched Prompt gegen Tool-Descriptions → wählt Tool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011BEBA-81BD-FD4D-93AE-32D00B6C3A53}"/>
              </a:ext>
            </a:extLst>
          </p:cNvPr>
          <p:cNvSpPr/>
          <p:nvPr/>
        </p:nvSpPr>
        <p:spPr>
          <a:xfrm>
            <a:off x="990600" y="3162300"/>
            <a:ext cx="38100" cy="203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7776BE-296F-4749-A658-F5FE40B30556}"/>
              </a:ext>
            </a:extLst>
          </p:cNvPr>
          <p:cNvSpPr/>
          <p:nvPr/>
        </p:nvSpPr>
        <p:spPr>
          <a:xfrm>
            <a:off x="762000" y="33147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9A4F1D7-6A73-1A4D-A48A-EEFD9D204C85}"/>
              </a:ext>
            </a:extLst>
          </p:cNvPr>
          <p:cNvSpPr txBox="1"/>
          <p:nvPr/>
        </p:nvSpPr>
        <p:spPr>
          <a:xfrm>
            <a:off x="1460500" y="33147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Claude sendet Tool-Call mit Argumenten → Server führt aus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D33066C-12D0-F447-AF32-B347A007596A}"/>
              </a:ext>
            </a:extLst>
          </p:cNvPr>
          <p:cNvSpPr/>
          <p:nvPr/>
        </p:nvSpPr>
        <p:spPr>
          <a:xfrm>
            <a:off x="990600" y="3822700"/>
            <a:ext cx="38100" cy="203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51738E-7589-E74C-A8ED-B449C6E5014F}"/>
              </a:ext>
            </a:extLst>
          </p:cNvPr>
          <p:cNvSpPr/>
          <p:nvPr/>
        </p:nvSpPr>
        <p:spPr>
          <a:xfrm>
            <a:off x="762000" y="39751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7BEA9FA-392B-0A40-ABDE-3306ECB9B422}"/>
              </a:ext>
            </a:extLst>
          </p:cNvPr>
          <p:cNvSpPr txBox="1"/>
          <p:nvPr/>
        </p:nvSpPr>
        <p:spPr>
          <a:xfrm>
            <a:off x="1460500" y="39751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Server antwortet → Claude formuliert Antwort</a:t>
            </a: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7E412B77-C660-F34F-8FA9-F07A761BAB4A}"/>
              </a:ext>
            </a:extLst>
          </p:cNvPr>
          <p:cNvSpPr/>
          <p:nvPr/>
        </p:nvSpPr>
        <p:spPr>
          <a:xfrm>
            <a:off x="762000" y="4699000"/>
            <a:ext cx="10668000" cy="6350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 dirty="0">
                <a:solidFill>
                  <a:srgbClr val="212121"/>
                </a:solidFill>
              </a:rPr>
              <a:t>Die </a:t>
            </a:r>
            <a:r>
              <a:rPr lang="de-DE" sz="1600" b="1" dirty="0" err="1">
                <a:solidFill>
                  <a:srgbClr val="212121"/>
                </a:solidFill>
              </a:rPr>
              <a:t>description</a:t>
            </a:r>
            <a:r>
              <a:rPr lang="de-DE" sz="1600" b="1" dirty="0">
                <a:solidFill>
                  <a:srgbClr val="212121"/>
                </a:solidFill>
              </a:rPr>
              <a:t> des Tools ist ein Prompt an die KI — schlechte Description = falsches Tool</a:t>
            </a:r>
          </a:p>
        </p:txBody>
      </p:sp>
    </p:spTree>
    <p:extLst>
      <p:ext uri="{BB962C8B-B14F-4D97-AF65-F5344CB8AC3E}">
        <p14:creationId xmlns:p14="http://schemas.microsoft.com/office/powerpoint/2010/main" val="4002002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908BE-64CA-F05C-99AD-6BC53880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Tool-Descriptions — Schlecht vs. Gut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9ABE5DB-96AC-3540-A11E-5253B9492C35}"/>
              </a:ext>
            </a:extLst>
          </p:cNvPr>
          <p:cNvSpPr txBox="1"/>
          <p:nvPr/>
        </p:nvSpPr>
        <p:spPr>
          <a:xfrm>
            <a:off x="508000" y="1714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5252"/>
                </a:solidFill>
              </a:rPr>
              <a:t>❌ Schlecht — zu vage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C2BF0BE-6BE8-4F48-8A31-320AEFA37019}"/>
              </a:ext>
            </a:extLst>
          </p:cNvPr>
          <p:cNvSpPr/>
          <p:nvPr/>
        </p:nvSpPr>
        <p:spPr>
          <a:xfrm>
            <a:off x="508000" y="2032000"/>
            <a:ext cx="5461000" cy="1143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name: "get-data",
  description: "Holt Daten aus der DB"
}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0A78436-3768-EF47-9971-64E30070AAD5}"/>
              </a:ext>
            </a:extLst>
          </p:cNvPr>
          <p:cNvSpPr txBox="1"/>
          <p:nvPr/>
        </p:nvSpPr>
        <p:spPr>
          <a:xfrm>
            <a:off x="6223000" y="17145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4CAF50"/>
                </a:solidFill>
              </a:rPr>
              <a:t>✅ Gut — spezifisch und leitend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F638D84E-0BB4-F045-B9CF-28A6C64CE16B}"/>
              </a:ext>
            </a:extLst>
          </p:cNvPr>
          <p:cNvSpPr/>
          <p:nvPr/>
        </p:nvSpPr>
        <p:spPr>
          <a:xfrm>
            <a:off x="6223000" y="2032000"/>
            <a:ext cx="5588000" cy="1651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name: "list-tables",
  description: "Listet alle
  Tabellennamen auf. Nutze als
  ERSTEN Schritt um verfügbare
  Daten zu verstehen."
}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1A0ED339-63DB-1148-B064-30B5A063790F}"/>
              </a:ext>
            </a:extLst>
          </p:cNvPr>
          <p:cNvSpPr/>
          <p:nvPr/>
        </p:nvSpPr>
        <p:spPr>
          <a:xfrm>
            <a:off x="1016000" y="4191000"/>
            <a:ext cx="10160000" cy="6985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Token-Kosten: 4 Tools x 200 Tokens = 800 Tokens pro Nachricht nur für Definitionen</a:t>
            </a:r>
          </a:p>
        </p:txBody>
      </p:sp>
    </p:spTree>
    <p:extLst>
      <p:ext uri="{BB962C8B-B14F-4D97-AF65-F5344CB8AC3E}">
        <p14:creationId xmlns:p14="http://schemas.microsoft.com/office/powerpoint/2010/main" val="2133747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6A36D3-7091-059D-19E8-E3FEB1C04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Anatomie eines MCP-Servers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7A2BC21D-7FEA-0C48-90EA-4BB876E3063D}"/>
              </a:ext>
            </a:extLst>
          </p:cNvPr>
          <p:cNvSpPr/>
          <p:nvPr/>
        </p:nvSpPr>
        <p:spPr>
          <a:xfrm>
            <a:off x="571500" y="1397000"/>
            <a:ext cx="3429000" cy="431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D89413-9D67-CE46-9087-8FEA77DC6278}"/>
              </a:ext>
            </a:extLst>
          </p:cNvPr>
          <p:cNvSpPr/>
          <p:nvPr/>
        </p:nvSpPr>
        <p:spPr>
          <a:xfrm>
            <a:off x="1936750" y="1587500"/>
            <a:ext cx="698500" cy="698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/>
              <a:t>⚡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8382246-F307-7844-AE68-E0D7727F65F8}"/>
              </a:ext>
            </a:extLst>
          </p:cNvPr>
          <p:cNvSpPr txBox="1"/>
          <p:nvPr/>
        </p:nvSpPr>
        <p:spPr>
          <a:xfrm>
            <a:off x="762000" y="24130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Tools (Aktionen)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82CC92E-7342-8C49-8F6F-CFB84CC6E6EF}"/>
              </a:ext>
            </a:extLst>
          </p:cNvPr>
          <p:cNvSpPr txBox="1"/>
          <p:nvPr/>
        </p:nvSpPr>
        <p:spPr>
          <a:xfrm>
            <a:off x="762000" y="2794000"/>
            <a:ext cx="304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Was KI tun kann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4054987-30CC-7140-971F-C3DB5434E010}"/>
              </a:ext>
            </a:extLst>
          </p:cNvPr>
          <p:cNvSpPr txBox="1"/>
          <p:nvPr/>
        </p:nvSpPr>
        <p:spPr>
          <a:xfrm>
            <a:off x="825500" y="3238500"/>
            <a:ext cx="2921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  <a:latin typeface="Consolas"/>
                <a:cs typeface="Consolas"/>
              </a:rPr>
              <a:t>• get-user
• execute-query
• create-record
• delete-record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6296554C-50AF-F541-87E8-407025BA0E6A}"/>
              </a:ext>
            </a:extLst>
          </p:cNvPr>
          <p:cNvSpPr/>
          <p:nvPr/>
        </p:nvSpPr>
        <p:spPr>
          <a:xfrm>
            <a:off x="4381500" y="1397000"/>
            <a:ext cx="3429000" cy="431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5C34EE-2809-2B47-A008-005884AFD7EA}"/>
              </a:ext>
            </a:extLst>
          </p:cNvPr>
          <p:cNvSpPr/>
          <p:nvPr/>
        </p:nvSpPr>
        <p:spPr>
          <a:xfrm>
            <a:off x="5746750" y="1587500"/>
            <a:ext cx="698500" cy="698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/>
              <a:t>📄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9496A69-3C3A-A744-A535-B5ABE2D39ED0}"/>
              </a:ext>
            </a:extLst>
          </p:cNvPr>
          <p:cNvSpPr txBox="1"/>
          <p:nvPr/>
        </p:nvSpPr>
        <p:spPr>
          <a:xfrm>
            <a:off x="4572000" y="24130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Resources (Daten)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65D9FD9-06FD-EE4F-9194-10B44062CFA8}"/>
              </a:ext>
            </a:extLst>
          </p:cNvPr>
          <p:cNvSpPr txBox="1"/>
          <p:nvPr/>
        </p:nvSpPr>
        <p:spPr>
          <a:xfrm>
            <a:off x="4572000" y="2794000"/>
            <a:ext cx="304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Was KI lesen kann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56C6C4A-D9FE-3B40-9798-C71100DB1D40}"/>
              </a:ext>
            </a:extLst>
          </p:cNvPr>
          <p:cNvSpPr txBox="1"/>
          <p:nvPr/>
        </p:nvSpPr>
        <p:spPr>
          <a:xfrm>
            <a:off x="4635500" y="3238500"/>
            <a:ext cx="2921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  <a:latin typeface="Consolas"/>
                <a:cs typeface="Consolas"/>
              </a:rPr>
              <a:t>• db://schema
• config://settings
• docs://api-spec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1369A38D-B90B-0B4A-B428-6AD38A04BFA4}"/>
              </a:ext>
            </a:extLst>
          </p:cNvPr>
          <p:cNvSpPr/>
          <p:nvPr/>
        </p:nvSpPr>
        <p:spPr>
          <a:xfrm>
            <a:off x="8191500" y="1397000"/>
            <a:ext cx="3429000" cy="431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DD73C1-66A7-DE45-B83C-9D67D3AFD80B}"/>
              </a:ext>
            </a:extLst>
          </p:cNvPr>
          <p:cNvSpPr/>
          <p:nvPr/>
        </p:nvSpPr>
        <p:spPr>
          <a:xfrm>
            <a:off x="9556750" y="1587500"/>
            <a:ext cx="698500" cy="6985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/>
              <a:t>📝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4107B5-4DAE-824E-AB82-DFECD5BCB1E1}"/>
              </a:ext>
            </a:extLst>
          </p:cNvPr>
          <p:cNvSpPr txBox="1"/>
          <p:nvPr/>
        </p:nvSpPr>
        <p:spPr>
          <a:xfrm>
            <a:off x="8382000" y="24130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4CAF50"/>
                </a:solidFill>
              </a:rPr>
              <a:t>Prompts (Vorlagen)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DD8AD31-C16E-3846-9C03-09AAAF4F994B}"/>
              </a:ext>
            </a:extLst>
          </p:cNvPr>
          <p:cNvSpPr txBox="1"/>
          <p:nvPr/>
        </p:nvSpPr>
        <p:spPr>
          <a:xfrm>
            <a:off x="8382000" y="2794000"/>
            <a:ext cx="304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Vorgefertigte Templates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288321C-E85D-8B4D-B56E-1A43601D52CA}"/>
              </a:ext>
            </a:extLst>
          </p:cNvPr>
          <p:cNvSpPr txBox="1"/>
          <p:nvPr/>
        </p:nvSpPr>
        <p:spPr>
          <a:xfrm>
            <a:off x="8445500" y="3238500"/>
            <a:ext cx="2921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  <a:latin typeface="Consolas"/>
                <a:cs typeface="Consolas"/>
              </a:rPr>
              <a:t>• analyze-table
• generate-report
• debug-query</a:t>
            </a:r>
          </a:p>
        </p:txBody>
      </p:sp>
    </p:spTree>
    <p:extLst>
      <p:ext uri="{BB962C8B-B14F-4D97-AF65-F5344CB8AC3E}">
        <p14:creationId xmlns:p14="http://schemas.microsoft.com/office/powerpoint/2010/main" val="861917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8285AE-BD04-1390-BF37-4A02811E6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MCP-Konfiguration</a:t>
            </a:r>
          </a:p>
        </p:txBody>
      </p:sp>
      <p:sp>
        <p:nvSpPr>
          <p:cNvPr id="20" name="Label1"/>
          <p:cNvSpPr>
            <a:spLocks noGrp="1"/>
          </p:cNvSpPr>
          <p:nvPr/>
        </p:nvSpPr>
        <p:spPr>
          <a:xfrm>
            <a:off x="508000" y="1270000"/>
            <a:ext cx="3657600" cy="381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de-DE" sz="1500" b="1" dirty="0">
                <a:solidFill>
                  <a:srgbClr val="3F59FF"/>
                </a:solidFill>
              </a:rPr>
              <a:t>Claude Code — .mcp.json</a:t>
            </a:r>
          </a:p>
        </p:txBody>
      </p:sp>
      <p:sp>
        <p:nvSpPr>
          <p:cNvPr id="21" name="Label2"/>
          <p:cNvSpPr>
            <a:spLocks noGrp="1"/>
          </p:cNvSpPr>
          <p:nvPr/>
        </p:nvSpPr>
        <p:spPr>
          <a:xfrm>
            <a:off x="4292600" y="1270000"/>
            <a:ext cx="3657600" cy="381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de-DE" sz="1500" b="1" dirty="0">
                <a:solidFill>
                  <a:srgbClr val="FF8C00"/>
                </a:solidFill>
              </a:rPr>
              <a:t>Mistral Vibe — .vibe/config.toml</a:t>
            </a:r>
          </a:p>
        </p:txBody>
      </p:sp>
      <p:sp>
        <p:nvSpPr>
          <p:cNvPr id="22" name="Label3"/>
          <p:cNvSpPr>
            <a:spLocks noGrp="1"/>
          </p:cNvSpPr>
          <p:nvPr/>
        </p:nvSpPr>
        <p:spPr>
          <a:xfrm>
            <a:off x="8077200" y="1270000"/>
            <a:ext cx="3657600" cy="381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de-DE" sz="1500" b="1" dirty="0">
                <a:solidFill>
                  <a:srgbClr val="212B80"/>
                </a:solidFill>
              </a:rPr>
              <a:t>GitHub Copilot — .vscode/mcp.json</a:t>
            </a:r>
          </a:p>
        </p:txBody>
      </p:sp>
      <p:sp>
        <p:nvSpPr>
          <p:cNvPr id="23" name="Code1"/>
          <p:cNvSpPr>
            <a:spLocks noGrp="1"/>
          </p:cNvSpPr>
          <p:nvPr/>
        </p:nvSpPr>
        <p:spPr>
          <a:xfrm>
            <a:off x="508000" y="1778000"/>
            <a:ext cx="3657600" cy="3048000"/>
          </a:xfrm>
          <a:prstGeom prst="roundRect">
            <a:avLst>
              <a:gd name="adj" fmla="val 30000"/>
            </a:avLst>
          </a:prstGeom>
          <a:solidFill>
            <a:srgbClr val="1E1E2E"/>
          </a:solidFill>
          <a:ln>
            <a:solidFill>
              <a:srgbClr val="3F59FF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de-DE" sz="1200" dirty="0">
                <a:solidFill>
                  <a:srgbClr val="E0E0E0"/>
                </a:solidFill>
                <a:latin typeface="Consolas"/>
              </a:rPr>
              <a:t>{
  "mcpServers": {
    "postgres": {
      "command": "npx",
      "args": [
        "-y",
        "server-postgres"
      ]
    }
  }
}</a:t>
            </a:r>
          </a:p>
        </p:txBody>
      </p:sp>
      <p:sp>
        <p:nvSpPr>
          <p:cNvPr id="24" name="Code2"/>
          <p:cNvSpPr>
            <a:spLocks noGrp="1"/>
          </p:cNvSpPr>
          <p:nvPr/>
        </p:nvSpPr>
        <p:spPr>
          <a:xfrm>
            <a:off x="4292600" y="1778000"/>
            <a:ext cx="3657600" cy="3048000"/>
          </a:xfrm>
          <a:prstGeom prst="roundRect">
            <a:avLst>
              <a:gd name="adj" fmla="val 30000"/>
            </a:avLst>
          </a:prstGeom>
          <a:solidFill>
            <a:srgbClr val="1E1E2E"/>
          </a:solidFill>
          <a:ln>
            <a:solidFill>
              <a:srgbClr val="3F59FF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de-DE" sz="1200" dirty="0">
                <a:solidFill>
                  <a:srgbClr val="E0E0E0"/>
                </a:solidFill>
                <a:latin typeface="Consolas"/>
              </a:rPr>
              <a:t>[[mcp_servers]]
name = "postgres"
transport = "stdio"
command = "npx"
args = [
  "-y",
  "server-postgres"
]</a:t>
            </a:r>
          </a:p>
        </p:txBody>
      </p:sp>
      <p:sp>
        <p:nvSpPr>
          <p:cNvPr id="25" name="Code3"/>
          <p:cNvSpPr>
            <a:spLocks noGrp="1"/>
          </p:cNvSpPr>
          <p:nvPr/>
        </p:nvSpPr>
        <p:spPr>
          <a:xfrm>
            <a:off x="8077200" y="1778000"/>
            <a:ext cx="3657600" cy="3048000"/>
          </a:xfrm>
          <a:prstGeom prst="roundRect">
            <a:avLst>
              <a:gd name="adj" fmla="val 30000"/>
            </a:avLst>
          </a:prstGeom>
          <a:solidFill>
            <a:srgbClr val="1E1E2E"/>
          </a:solidFill>
          <a:ln>
            <a:solidFill>
              <a:srgbClr val="3F59FF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de-DE" sz="1200" dirty="0">
                <a:solidFill>
                  <a:srgbClr val="E0E0E0"/>
                </a:solidFill>
                <a:latin typeface="Consolas"/>
              </a:rPr>
              <a:t>{
  "servers": {
    "postgres": {
      "command": "npx",
      "args": [
        "-y",
        "server-postgres"
      ]
    }
  }
}</a:t>
            </a:r>
          </a:p>
        </p:txBody>
      </p:sp>
      <p:sp>
        <p:nvSpPr>
          <p:cNvPr id="26" name="KeyMsg"/>
          <p:cNvSpPr>
            <a:spLocks noGrp="1"/>
          </p:cNvSpPr>
          <p:nvPr/>
        </p:nvSpPr>
        <p:spPr>
          <a:xfrm>
            <a:off x="508000" y="4953800"/>
            <a:ext cx="11176000" cy="571500"/>
          </a:xfrm>
          <a:prstGeom prst="roundRect">
            <a:avLst>
              <a:gd name="adj" fmla="val 20000"/>
            </a:avLst>
          </a:prstGeom>
          <a:solidFill>
            <a:srgbClr val="3F59FF"/>
          </a:solidFill>
          <a:ln>
            <a:noFill/>
          </a:ln>
        </p:spPr>
        <p:txBody>
          <a:bodyPr wrap="square" lIns="114300" tIns="45720" rIns="114300" bIns="4572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</a:rPr>
              <a:t>Gleicher MCP-Server, 3 Config-Formate. Der Server-Code bleibt identisch — nur die Konfiguration unterscheidet sich.</a:t>
            </a:r>
          </a:p>
        </p:txBody>
      </p:sp>
    </p:spTree>
    <p:extLst>
      <p:ext uri="{BB962C8B-B14F-4D97-AF65-F5344CB8AC3E}">
        <p14:creationId xmlns:p14="http://schemas.microsoft.com/office/powerpoint/2010/main" val="755074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3EF329-35A3-FCC6-0831-663972A3C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MCP + Datenbank — Workflow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8BC8CCBF-BE6C-E048-9C33-DA55B9EB5D65}"/>
              </a:ext>
            </a:extLst>
          </p:cNvPr>
          <p:cNvSpPr/>
          <p:nvPr/>
        </p:nvSpPr>
        <p:spPr>
          <a:xfrm>
            <a:off x="444500" y="1778000"/>
            <a:ext cx="2540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23BCDC-65F0-C846-AB99-5611DCB3F449}"/>
              </a:ext>
            </a:extLst>
          </p:cNvPr>
          <p:cNvSpPr/>
          <p:nvPr/>
        </p:nvSpPr>
        <p:spPr>
          <a:xfrm>
            <a:off x="1397000" y="1968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0DCCC7D-2399-3541-8FFB-2AB4F6BE3CEE}"/>
              </a:ext>
            </a:extLst>
          </p:cNvPr>
          <p:cNvSpPr txBox="1"/>
          <p:nvPr/>
        </p:nvSpPr>
        <p:spPr>
          <a:xfrm>
            <a:off x="571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Schema lesen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DEF2DD8-D540-B94C-AF64-3A36FCBEACAD}"/>
              </a:ext>
            </a:extLst>
          </p:cNvPr>
          <p:cNvSpPr txBox="1"/>
          <p:nvPr/>
        </p:nvSpPr>
        <p:spPr>
          <a:xfrm>
            <a:off x="571500" y="317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KI liest Schema
via Resource</a:t>
            </a:r>
          </a:p>
        </p:txBody>
      </p:sp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B4575E41-A0E9-2E4D-B5E7-DF66D63738DB}"/>
              </a:ext>
            </a:extLst>
          </p:cNvPr>
          <p:cNvSpPr/>
          <p:nvPr/>
        </p:nvSpPr>
        <p:spPr>
          <a:xfrm>
            <a:off x="3086100" y="2857500"/>
            <a:ext cx="228600" cy="2540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A696F912-E2EF-4E43-AC53-EDF59A3F1A99}"/>
              </a:ext>
            </a:extLst>
          </p:cNvPr>
          <p:cNvSpPr/>
          <p:nvPr/>
        </p:nvSpPr>
        <p:spPr>
          <a:xfrm>
            <a:off x="3365500" y="1778000"/>
            <a:ext cx="2540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6F8DA1-C704-3C41-BF90-5E342AA053BF}"/>
              </a:ext>
            </a:extLst>
          </p:cNvPr>
          <p:cNvSpPr/>
          <p:nvPr/>
        </p:nvSpPr>
        <p:spPr>
          <a:xfrm>
            <a:off x="4318000" y="1968500"/>
            <a:ext cx="635000" cy="635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DE09437-FDA6-5444-A16D-C1A3F6EA13DC}"/>
              </a:ext>
            </a:extLst>
          </p:cNvPr>
          <p:cNvSpPr txBox="1"/>
          <p:nvPr/>
        </p:nvSpPr>
        <p:spPr>
          <a:xfrm>
            <a:off x="3492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Analysieren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93DB3B2-7035-C441-8A29-2DD259BB568D}"/>
              </a:ext>
            </a:extLst>
          </p:cNvPr>
          <p:cNvSpPr txBox="1"/>
          <p:nvPr/>
        </p:nvSpPr>
        <p:spPr>
          <a:xfrm>
            <a:off x="3492500" y="317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Tabellen +
Beziehungen</a:t>
            </a:r>
          </a:p>
        </p:txBody>
      </p:sp>
      <p:sp>
        <p:nvSpPr>
          <p:cNvPr id="12" name="Pfeil nach rechts 11">
            <a:extLst>
              <a:ext uri="{FF2B5EF4-FFF2-40B4-BE49-F238E27FC236}">
                <a16:creationId xmlns:a16="http://schemas.microsoft.com/office/drawing/2014/main" id="{DCBF6EB0-9669-C14E-8E55-F23B6C269C71}"/>
              </a:ext>
            </a:extLst>
          </p:cNvPr>
          <p:cNvSpPr/>
          <p:nvPr/>
        </p:nvSpPr>
        <p:spPr>
          <a:xfrm>
            <a:off x="6007100" y="2857500"/>
            <a:ext cx="228600" cy="2540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A97AE23B-68A9-094A-89B3-0726660B25D8}"/>
              </a:ext>
            </a:extLst>
          </p:cNvPr>
          <p:cNvSpPr/>
          <p:nvPr/>
        </p:nvSpPr>
        <p:spPr>
          <a:xfrm>
            <a:off x="6286500" y="1778000"/>
            <a:ext cx="2540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39833B-EE6A-F849-87B6-8FCE59C7A56C}"/>
              </a:ext>
            </a:extLst>
          </p:cNvPr>
          <p:cNvSpPr/>
          <p:nvPr/>
        </p:nvSpPr>
        <p:spPr>
          <a:xfrm>
            <a:off x="7239000" y="1968500"/>
            <a:ext cx="635000" cy="635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A39136E-4CB5-9C43-BD87-07829066F5EC}"/>
              </a:ext>
            </a:extLst>
          </p:cNvPr>
          <p:cNvSpPr txBox="1"/>
          <p:nvPr/>
        </p:nvSpPr>
        <p:spPr>
          <a:xfrm>
            <a:off x="6413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4CAF50"/>
                </a:solidFill>
              </a:rPr>
              <a:t>Query ausführen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99E40BC-E686-F54C-972D-52F30FDF0C06}"/>
              </a:ext>
            </a:extLst>
          </p:cNvPr>
          <p:cNvSpPr txBox="1"/>
          <p:nvPr/>
        </p:nvSpPr>
        <p:spPr>
          <a:xfrm>
            <a:off x="6413500" y="317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KI schreibt +
führt Query aus</a:t>
            </a:r>
          </a:p>
        </p:txBody>
      </p:sp>
      <p:sp>
        <p:nvSpPr>
          <p:cNvPr id="17" name="Pfeil nach rechts 16">
            <a:extLst>
              <a:ext uri="{FF2B5EF4-FFF2-40B4-BE49-F238E27FC236}">
                <a16:creationId xmlns:a16="http://schemas.microsoft.com/office/drawing/2014/main" id="{0A42ED5F-54A0-554E-B323-778E2ECCD55F}"/>
              </a:ext>
            </a:extLst>
          </p:cNvPr>
          <p:cNvSpPr/>
          <p:nvPr/>
        </p:nvSpPr>
        <p:spPr>
          <a:xfrm>
            <a:off x="8928100" y="2857500"/>
            <a:ext cx="228600" cy="2540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2E6334C-8F56-5B47-BC03-D30D505B31F9}"/>
              </a:ext>
            </a:extLst>
          </p:cNvPr>
          <p:cNvSpPr/>
          <p:nvPr/>
        </p:nvSpPr>
        <p:spPr>
          <a:xfrm>
            <a:off x="9207500" y="1778000"/>
            <a:ext cx="2540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CE22AB-E4CE-9848-ADAC-0098613AE139}"/>
              </a:ext>
            </a:extLst>
          </p:cNvPr>
          <p:cNvSpPr/>
          <p:nvPr/>
        </p:nvSpPr>
        <p:spPr>
          <a:xfrm>
            <a:off x="10160000" y="1968500"/>
            <a:ext cx="635000" cy="6350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</a:rPr>
              <a:t>4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EA83D53-7FB7-9E4E-ABE9-26988908F1E5}"/>
              </a:ext>
            </a:extLst>
          </p:cNvPr>
          <p:cNvSpPr txBox="1"/>
          <p:nvPr/>
        </p:nvSpPr>
        <p:spPr>
          <a:xfrm>
            <a:off x="9334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Antworten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B18A74E-6FC1-5D4D-9A2D-C30301480A33}"/>
              </a:ext>
            </a:extLst>
          </p:cNvPr>
          <p:cNvSpPr txBox="1"/>
          <p:nvPr/>
        </p:nvSpPr>
        <p:spPr>
          <a:xfrm>
            <a:off x="9334500" y="317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KI interpretiert
und antwortet</a:t>
            </a: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013B8C3C-E4A7-EC41-910B-9B67E0D75ACB}"/>
              </a:ext>
            </a:extLst>
          </p:cNvPr>
          <p:cNvSpPr/>
          <p:nvPr/>
        </p:nvSpPr>
        <p:spPr>
          <a:xfrm>
            <a:off x="1016000" y="4826000"/>
            <a:ext cx="10160000" cy="63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KI führt Queries selbst aus, nicht nur Vorschläge</a:t>
            </a:r>
          </a:p>
        </p:txBody>
      </p:sp>
    </p:spTree>
    <p:extLst>
      <p:ext uri="{BB962C8B-B14F-4D97-AF65-F5344CB8AC3E}">
        <p14:creationId xmlns:p14="http://schemas.microsoft.com/office/powerpoint/2010/main" val="2738953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01302-61BB-872D-F510-204AF52A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Authentifizierung — 3 Ebenen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58737EDD-A621-E441-A9E3-3685D51F95F3}"/>
              </a:ext>
            </a:extLst>
          </p:cNvPr>
          <p:cNvSpPr/>
          <p:nvPr/>
        </p:nvSpPr>
        <p:spPr>
          <a:xfrm>
            <a:off x="1016000" y="1778000"/>
            <a:ext cx="10160000" cy="1143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F01C37-C7EB-2C47-A8D4-A55EA07F0CCE}"/>
              </a:ext>
            </a:extLst>
          </p:cNvPr>
          <p:cNvSpPr/>
          <p:nvPr/>
        </p:nvSpPr>
        <p:spPr>
          <a:xfrm>
            <a:off x="1270000" y="2032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93C7574-7975-2347-B5F8-8D081993AAE8}"/>
              </a:ext>
            </a:extLst>
          </p:cNvPr>
          <p:cNvSpPr txBox="1"/>
          <p:nvPr/>
        </p:nvSpPr>
        <p:spPr>
          <a:xfrm>
            <a:off x="2159000" y="1905000"/>
            <a:ext cx="381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3F59FF"/>
                </a:solidFill>
              </a:rPr>
              <a:t>Transport-Security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1196925-4717-594D-86F6-2BBF54E9B3EF}"/>
              </a:ext>
            </a:extLst>
          </p:cNvPr>
          <p:cNvSpPr txBox="1"/>
          <p:nvPr/>
        </p:nvSpPr>
        <p:spPr>
          <a:xfrm>
            <a:off x="2159000" y="2387600"/>
            <a:ext cx="863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API-Key im Header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097B8D7-8A94-F24D-8DBD-872CC9E71CF1}"/>
              </a:ext>
            </a:extLst>
          </p:cNvPr>
          <p:cNvSpPr/>
          <p:nvPr/>
        </p:nvSpPr>
        <p:spPr>
          <a:xfrm>
            <a:off x="1016000" y="3365500"/>
            <a:ext cx="10160000" cy="1143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BCB1DA-9E01-7944-9D27-21C8F2414F21}"/>
              </a:ext>
            </a:extLst>
          </p:cNvPr>
          <p:cNvSpPr/>
          <p:nvPr/>
        </p:nvSpPr>
        <p:spPr>
          <a:xfrm>
            <a:off x="1270000" y="3619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6DDD15F-FF64-5F49-9295-5632F0DE77CC}"/>
              </a:ext>
            </a:extLst>
          </p:cNvPr>
          <p:cNvSpPr txBox="1"/>
          <p:nvPr/>
        </p:nvSpPr>
        <p:spPr>
          <a:xfrm>
            <a:off x="2159000" y="3492500"/>
            <a:ext cx="381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 dirty="0">
                <a:solidFill>
                  <a:srgbClr val="3F59FF"/>
                </a:solidFill>
              </a:rPr>
              <a:t>DB-Berechtigungen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BC9BA23-1AC4-6449-8194-B4BFC3DC2269}"/>
              </a:ext>
            </a:extLst>
          </p:cNvPr>
          <p:cNvSpPr txBox="1"/>
          <p:nvPr/>
        </p:nvSpPr>
        <p:spPr>
          <a:xfrm>
            <a:off x="2159000" y="3975100"/>
            <a:ext cx="863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Read-Only User, Schema-Beschränkung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CEC6B78D-CF68-2342-8FE0-98DDB7B6B628}"/>
              </a:ext>
            </a:extLst>
          </p:cNvPr>
          <p:cNvSpPr/>
          <p:nvPr/>
        </p:nvSpPr>
        <p:spPr>
          <a:xfrm>
            <a:off x="1016000" y="4953000"/>
            <a:ext cx="10160000" cy="1143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258F21-EEE4-284A-9A6A-08EAE736B99A}"/>
              </a:ext>
            </a:extLst>
          </p:cNvPr>
          <p:cNvSpPr/>
          <p:nvPr/>
        </p:nvSpPr>
        <p:spPr>
          <a:xfrm>
            <a:off x="1270000" y="5207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340EFFA-6DEE-CE4B-9F1A-5AC80A310B16}"/>
              </a:ext>
            </a:extLst>
          </p:cNvPr>
          <p:cNvSpPr txBox="1"/>
          <p:nvPr/>
        </p:nvSpPr>
        <p:spPr>
          <a:xfrm>
            <a:off x="2159000" y="5080000"/>
            <a:ext cx="381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 dirty="0">
                <a:solidFill>
                  <a:srgbClr val="3F59FF"/>
                </a:solidFill>
              </a:rPr>
              <a:t>Tool-Level Authorization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AB9F909-9C95-A647-AECE-D3C52720E0DE}"/>
              </a:ext>
            </a:extLst>
          </p:cNvPr>
          <p:cNvSpPr txBox="1"/>
          <p:nvPr/>
        </p:nvSpPr>
        <p:spPr>
          <a:xfrm>
            <a:off x="2159000" y="5562600"/>
            <a:ext cx="863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Admin-Only für delete, Role-based Access</a:t>
            </a:r>
          </a:p>
        </p:txBody>
      </p:sp>
    </p:spTree>
    <p:extLst>
      <p:ext uri="{BB962C8B-B14F-4D97-AF65-F5344CB8AC3E}">
        <p14:creationId xmlns:p14="http://schemas.microsoft.com/office/powerpoint/2010/main" val="3574204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842F45-70C1-3DD2-F3D0-84D372BD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SQL-Injection im MCP-Kontext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C92596D-6888-F749-9D4C-7B77EBE58C18}"/>
              </a:ext>
            </a:extLst>
          </p:cNvPr>
          <p:cNvSpPr txBox="1"/>
          <p:nvPr/>
        </p:nvSpPr>
        <p:spPr>
          <a:xfrm>
            <a:off x="508000" y="1651000"/>
            <a:ext cx="546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FF5252"/>
                </a:solidFill>
              </a:rPr>
              <a:t>❌ UNSICHER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A15B209A-FCB3-F640-B61C-F25B5D4F1404}"/>
              </a:ext>
            </a:extLst>
          </p:cNvPr>
          <p:cNvSpPr/>
          <p:nvPr/>
        </p:nvSpPr>
        <p:spPr>
          <a:xfrm>
            <a:off x="508000" y="1879600"/>
            <a:ext cx="5461000" cy="889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FF5252"/>
                </a:solidFill>
                <a:latin typeface="Consolas"/>
                <a:cs typeface="Consolas"/>
              </a:rPr>
              <a:t>SELECT * FROM ${tableName}
WHERE ${whereClause}
// KI könnte: 1=1; DROP TABLE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A90768-677C-834B-A6FE-3691DDAE972A}"/>
              </a:ext>
            </a:extLst>
          </p:cNvPr>
          <p:cNvSpPr txBox="1"/>
          <p:nvPr/>
        </p:nvSpPr>
        <p:spPr>
          <a:xfrm>
            <a:off x="6223000" y="1651000"/>
            <a:ext cx="558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4CAF50"/>
                </a:solidFill>
              </a:rPr>
              <a:t>✅ SICHER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DE35F735-8C09-CC47-ADEE-F7C6C8E74832}"/>
              </a:ext>
            </a:extLst>
          </p:cNvPr>
          <p:cNvSpPr/>
          <p:nvPr/>
        </p:nvSpPr>
        <p:spPr>
          <a:xfrm>
            <a:off x="6223000" y="1879600"/>
            <a:ext cx="5588000" cy="889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4CAF50"/>
                </a:solidFill>
                <a:latin typeface="Consolas"/>
                <a:cs typeface="Consolas"/>
              </a:rPr>
              <a:t>Tabellen-Whitelist +
Parameterized Queries +
Regex-Validierung für WHERE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A8F5DD06-6067-0147-A301-48038095E682}"/>
              </a:ext>
            </a:extLst>
          </p:cNvPr>
          <p:cNvSpPr/>
          <p:nvPr/>
        </p:nvSpPr>
        <p:spPr>
          <a:xfrm>
            <a:off x="762000" y="3048000"/>
            <a:ext cx="10668000" cy="4064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Tabellen-Whitelist (nur erlaubte Tabellen)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D19CAE2-6779-5648-A443-7FBB83D0C60B}"/>
              </a:ext>
            </a:extLst>
          </p:cNvPr>
          <p:cNvSpPr/>
          <p:nvPr/>
        </p:nvSpPr>
        <p:spPr>
          <a:xfrm>
            <a:off x="762000" y="3530600"/>
            <a:ext cx="10668000" cy="406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Parameterized Queries (keine String-Interpolation)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40DAB4DD-B6CB-7948-93E5-B1B8EE815B77}"/>
              </a:ext>
            </a:extLst>
          </p:cNvPr>
          <p:cNvSpPr/>
          <p:nvPr/>
        </p:nvSpPr>
        <p:spPr>
          <a:xfrm>
            <a:off x="762000" y="4013200"/>
            <a:ext cx="10668000" cy="4064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Sensible Spalten filtern (PASSWORD, SECRET, API_KEY)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1E773D35-CDA6-1346-AD0D-ED1F15202D6D}"/>
              </a:ext>
            </a:extLst>
          </p:cNvPr>
          <p:cNvSpPr/>
          <p:nvPr/>
        </p:nvSpPr>
        <p:spPr>
          <a:xfrm>
            <a:off x="762000" y="4495800"/>
            <a:ext cx="10668000" cy="406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Rate Limiting: Max. 10 Tool-Calls/Minute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B19F097F-CEA2-2849-9592-72BF55964F6E}"/>
              </a:ext>
            </a:extLst>
          </p:cNvPr>
          <p:cNvSpPr/>
          <p:nvPr/>
        </p:nvSpPr>
        <p:spPr>
          <a:xfrm>
            <a:off x="762000" y="4978400"/>
            <a:ext cx="10668000" cy="4064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Logging: Tool-Calls loggen, KEINE Query-Parameter</a:t>
            </a:r>
          </a:p>
        </p:txBody>
      </p:sp>
    </p:spTree>
    <p:extLst>
      <p:ext uri="{BB962C8B-B14F-4D97-AF65-F5344CB8AC3E}">
        <p14:creationId xmlns:p14="http://schemas.microsoft.com/office/powerpoint/2010/main" val="909446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E744E-5916-B248-9279-9F7F64CE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000" b="1"/>
              <a:t>Security-Checklist für KI im Unternehmen</a:t>
            </a:r>
          </a:p>
        </p:txBody>
      </p:sp>
      <p:sp>
        <p:nvSpPr>
          <p:cNvPr id="60" name="CardBg60"/>
          <p:cNvSpPr>
            <a:spLocks noGrp="1"/>
          </p:cNvSpPr>
          <p:nvPr/>
        </p:nvSpPr>
        <p:spPr>
          <a:xfrm>
            <a:off x="457200" y="1219200"/>
            <a:ext cx="5537200" cy="1231900"/>
          </a:xfrm>
          <a:prstGeom prst="roundRect">
            <a:avLst>
              <a:gd name="adj" fmla="val 18000"/>
            </a:avLst>
          </a:prstGeom>
          <a:solidFill>
            <a:srgbClr val="EEF1FB"/>
          </a:solidFill>
          <a:ln w="9525">
            <a:solidFill>
              <a:srgbClr val="A8B4E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1" name="Badge60"/>
          <p:cNvSpPr>
            <a:spLocks noGrp="1"/>
          </p:cNvSpPr>
          <p:nvPr/>
        </p:nvSpPr>
        <p:spPr>
          <a:xfrm>
            <a:off x="609600" y="1600200"/>
            <a:ext cx="482600" cy="4826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2" name="CardText60"/>
          <p:cNvSpPr txBox="1">
            <a:spLocks noGrp="1"/>
          </p:cNvSpPr>
          <p:nvPr/>
        </p:nvSpPr>
        <p:spPr>
          <a:xfrm>
            <a:off x="1219200" y="15621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100"/>
              </a:spcAft>
            </a:pPr>
            <a:r>
              <a:rPr lang="de-DE" sz="1500" b="1" dirty="0">
                <a:solidFill>
                  <a:srgbClr val="1A2370"/>
                </a:solidFill>
              </a:rPr>
              <a:t>Datenklassifizierung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Welche Daten dürfen an welche KI?</a:t>
            </a:r>
          </a:p>
        </p:txBody>
      </p:sp>
      <p:sp>
        <p:nvSpPr>
          <p:cNvPr id="63" name="CardBg63"/>
          <p:cNvSpPr>
            <a:spLocks noGrp="1"/>
          </p:cNvSpPr>
          <p:nvPr/>
        </p:nvSpPr>
        <p:spPr>
          <a:xfrm>
            <a:off x="457200" y="2552700"/>
            <a:ext cx="5537200" cy="1231900"/>
          </a:xfrm>
          <a:prstGeom prst="roundRect">
            <a:avLst>
              <a:gd name="adj" fmla="val 18000"/>
            </a:avLst>
          </a:prstGeom>
          <a:solidFill>
            <a:srgbClr val="EEF1FB"/>
          </a:solidFill>
          <a:ln w="9525">
            <a:solidFill>
              <a:srgbClr val="A8B4E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4" name="Badge63"/>
          <p:cNvSpPr>
            <a:spLocks noGrp="1"/>
          </p:cNvSpPr>
          <p:nvPr/>
        </p:nvSpPr>
        <p:spPr>
          <a:xfrm>
            <a:off x="609600" y="2933700"/>
            <a:ext cx="482600" cy="4826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5" name="CardText63"/>
          <p:cNvSpPr txBox="1">
            <a:spLocks noGrp="1"/>
          </p:cNvSpPr>
          <p:nvPr/>
        </p:nvSpPr>
        <p:spPr>
          <a:xfrm>
            <a:off x="1219200" y="28956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100"/>
              </a:spcAft>
            </a:pPr>
            <a:r>
              <a:rPr lang="de-DE" sz="1500" b="1" dirty="0">
                <a:solidFill>
                  <a:srgbClr val="1A2370"/>
                </a:solidFill>
              </a:rPr>
              <a:t>Anbieter-Compliance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DSGVO, SOC2, ISO 27001?</a:t>
            </a:r>
          </a:p>
        </p:txBody>
      </p:sp>
      <p:sp>
        <p:nvSpPr>
          <p:cNvPr id="66" name="CardBg66"/>
          <p:cNvSpPr>
            <a:spLocks noGrp="1"/>
          </p:cNvSpPr>
          <p:nvPr/>
        </p:nvSpPr>
        <p:spPr>
          <a:xfrm>
            <a:off x="457200" y="3886200"/>
            <a:ext cx="5537200" cy="1231900"/>
          </a:xfrm>
          <a:prstGeom prst="roundRect">
            <a:avLst>
              <a:gd name="adj" fmla="val 18000"/>
            </a:avLst>
          </a:prstGeom>
          <a:solidFill>
            <a:srgbClr val="EEF1FB"/>
          </a:solidFill>
          <a:ln w="9525">
            <a:solidFill>
              <a:srgbClr val="A8B4E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7" name="Badge66"/>
          <p:cNvSpPr>
            <a:spLocks noGrp="1"/>
          </p:cNvSpPr>
          <p:nvPr/>
        </p:nvSpPr>
        <p:spPr>
          <a:xfrm>
            <a:off x="609600" y="4267200"/>
            <a:ext cx="482600" cy="4826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8" name="CardText66"/>
          <p:cNvSpPr txBox="1">
            <a:spLocks noGrp="1"/>
          </p:cNvSpPr>
          <p:nvPr/>
        </p:nvSpPr>
        <p:spPr>
          <a:xfrm>
            <a:off x="1219200" y="42291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100"/>
              </a:spcAft>
            </a:pPr>
            <a:r>
              <a:rPr lang="de-DE" sz="1500" b="1" dirty="0">
                <a:solidFill>
                  <a:srgbClr val="1A2370"/>
                </a:solidFill>
              </a:rPr>
              <a:t>API-Key-Management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Sichere Verwaltung + Rotation</a:t>
            </a:r>
          </a:p>
        </p:txBody>
      </p:sp>
      <p:sp>
        <p:nvSpPr>
          <p:cNvPr id="69" name="CardBg69"/>
          <p:cNvSpPr>
            <a:spLocks noGrp="1"/>
          </p:cNvSpPr>
          <p:nvPr/>
        </p:nvSpPr>
        <p:spPr>
          <a:xfrm>
            <a:off x="457200" y="5219700"/>
            <a:ext cx="5537200" cy="1231900"/>
          </a:xfrm>
          <a:prstGeom prst="roundRect">
            <a:avLst>
              <a:gd name="adj" fmla="val 18000"/>
            </a:avLst>
          </a:prstGeom>
          <a:solidFill>
            <a:srgbClr val="EEF1FB"/>
          </a:solidFill>
          <a:ln w="9525">
            <a:solidFill>
              <a:srgbClr val="A8B4E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70" name="Badge69"/>
          <p:cNvSpPr>
            <a:spLocks noGrp="1"/>
          </p:cNvSpPr>
          <p:nvPr/>
        </p:nvSpPr>
        <p:spPr>
          <a:xfrm>
            <a:off x="609600" y="5600700"/>
            <a:ext cx="482600" cy="4826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1" name="CardText69"/>
          <p:cNvSpPr txBox="1">
            <a:spLocks noGrp="1"/>
          </p:cNvSpPr>
          <p:nvPr/>
        </p:nvSpPr>
        <p:spPr>
          <a:xfrm>
            <a:off x="1219200" y="55626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100"/>
              </a:spcAft>
            </a:pPr>
            <a:r>
              <a:rPr lang="de-DE" sz="1500" b="1" dirty="0">
                <a:solidFill>
                  <a:srgbClr val="1A2370"/>
                </a:solidFill>
              </a:rPr>
              <a:t>Output-Validierung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KI-Outputs vor Nutzung prüfen</a:t>
            </a:r>
          </a:p>
        </p:txBody>
      </p:sp>
      <p:sp>
        <p:nvSpPr>
          <p:cNvPr id="72" name="CardBg72"/>
          <p:cNvSpPr>
            <a:spLocks noGrp="1"/>
          </p:cNvSpPr>
          <p:nvPr/>
        </p:nvSpPr>
        <p:spPr>
          <a:xfrm>
            <a:off x="6197600" y="1219200"/>
            <a:ext cx="5537200" cy="1231900"/>
          </a:xfrm>
          <a:prstGeom prst="roundRect">
            <a:avLst>
              <a:gd name="adj" fmla="val 18000"/>
            </a:avLst>
          </a:prstGeom>
          <a:solidFill>
            <a:srgbClr val="EEF1FB"/>
          </a:solidFill>
          <a:ln w="9525">
            <a:solidFill>
              <a:srgbClr val="A8B4E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73" name="Badge72"/>
          <p:cNvSpPr>
            <a:spLocks noGrp="1"/>
          </p:cNvSpPr>
          <p:nvPr/>
        </p:nvSpPr>
        <p:spPr>
          <a:xfrm>
            <a:off x="6350000" y="1600200"/>
            <a:ext cx="482600" cy="4826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4" name="CardText72"/>
          <p:cNvSpPr txBox="1">
            <a:spLocks noGrp="1"/>
          </p:cNvSpPr>
          <p:nvPr/>
        </p:nvSpPr>
        <p:spPr>
          <a:xfrm>
            <a:off x="6959600" y="15621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100"/>
              </a:spcAft>
            </a:pPr>
            <a:r>
              <a:rPr lang="de-DE" sz="1500" b="1" dirty="0">
                <a:solidFill>
                  <a:srgbClr val="1A2370"/>
                </a:solidFill>
              </a:rPr>
              <a:t>Logging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Alle KI-Interaktionen auditierbar</a:t>
            </a:r>
          </a:p>
        </p:txBody>
      </p:sp>
      <p:sp>
        <p:nvSpPr>
          <p:cNvPr id="75" name="CardBg75"/>
          <p:cNvSpPr>
            <a:spLocks noGrp="1"/>
          </p:cNvSpPr>
          <p:nvPr/>
        </p:nvSpPr>
        <p:spPr>
          <a:xfrm>
            <a:off x="6197600" y="2552700"/>
            <a:ext cx="5537200" cy="1231900"/>
          </a:xfrm>
          <a:prstGeom prst="roundRect">
            <a:avLst>
              <a:gd name="adj" fmla="val 18000"/>
            </a:avLst>
          </a:prstGeom>
          <a:solidFill>
            <a:srgbClr val="EEF1FB"/>
          </a:solidFill>
          <a:ln w="9525">
            <a:solidFill>
              <a:srgbClr val="A8B4E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76" name="Badge75"/>
          <p:cNvSpPr>
            <a:spLocks noGrp="1"/>
          </p:cNvSpPr>
          <p:nvPr/>
        </p:nvSpPr>
        <p:spPr>
          <a:xfrm>
            <a:off x="6350000" y="2933700"/>
            <a:ext cx="482600" cy="4826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7" name="CardText75"/>
          <p:cNvSpPr txBox="1">
            <a:spLocks noGrp="1"/>
          </p:cNvSpPr>
          <p:nvPr/>
        </p:nvSpPr>
        <p:spPr>
          <a:xfrm>
            <a:off x="6959600" y="28956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100"/>
              </a:spcAft>
            </a:pPr>
            <a:r>
              <a:rPr lang="de-DE" sz="1500" b="1" dirty="0">
                <a:solidFill>
                  <a:srgbClr val="1A2370"/>
                </a:solidFill>
              </a:rPr>
              <a:t>Lokale Alternativen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Sensible Daten nur lokal (OLLAMA)</a:t>
            </a:r>
          </a:p>
        </p:txBody>
      </p:sp>
      <p:sp>
        <p:nvSpPr>
          <p:cNvPr id="78" name="CardBg78"/>
          <p:cNvSpPr>
            <a:spLocks noGrp="1"/>
          </p:cNvSpPr>
          <p:nvPr/>
        </p:nvSpPr>
        <p:spPr>
          <a:xfrm>
            <a:off x="6197600" y="3886200"/>
            <a:ext cx="5537200" cy="1231900"/>
          </a:xfrm>
          <a:prstGeom prst="roundRect">
            <a:avLst>
              <a:gd name="adj" fmla="val 18000"/>
            </a:avLst>
          </a:prstGeom>
          <a:solidFill>
            <a:srgbClr val="EEF1FB"/>
          </a:solidFill>
          <a:ln w="9525">
            <a:solidFill>
              <a:srgbClr val="A8B4E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79" name="Badge78"/>
          <p:cNvSpPr>
            <a:spLocks noGrp="1"/>
          </p:cNvSpPr>
          <p:nvPr/>
        </p:nvSpPr>
        <p:spPr>
          <a:xfrm>
            <a:off x="6350000" y="4267200"/>
            <a:ext cx="482600" cy="4826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0" name="CardText78"/>
          <p:cNvSpPr txBox="1">
            <a:spLocks noGrp="1"/>
          </p:cNvSpPr>
          <p:nvPr/>
        </p:nvSpPr>
        <p:spPr>
          <a:xfrm>
            <a:off x="6959600" y="42291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100"/>
              </a:spcAft>
            </a:pPr>
            <a:r>
              <a:rPr lang="de-DE" sz="1500" b="1" dirty="0">
                <a:solidFill>
                  <a:srgbClr val="1A2370"/>
                </a:solidFill>
              </a:rPr>
              <a:t>Security Scans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Automatisch in CI/CD</a:t>
            </a:r>
          </a:p>
        </p:txBody>
      </p:sp>
      <p:sp>
        <p:nvSpPr>
          <p:cNvPr id="81" name="CardBg81"/>
          <p:cNvSpPr>
            <a:spLocks noGrp="1"/>
          </p:cNvSpPr>
          <p:nvPr/>
        </p:nvSpPr>
        <p:spPr>
          <a:xfrm>
            <a:off x="6197600" y="5219700"/>
            <a:ext cx="5537200" cy="1231900"/>
          </a:xfrm>
          <a:prstGeom prst="roundRect">
            <a:avLst>
              <a:gd name="adj" fmla="val 18000"/>
            </a:avLst>
          </a:prstGeom>
          <a:solidFill>
            <a:srgbClr val="EEF1FB"/>
          </a:solidFill>
          <a:ln w="9525">
            <a:solidFill>
              <a:srgbClr val="A8B4E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82" name="Badge81"/>
          <p:cNvSpPr>
            <a:spLocks noGrp="1"/>
          </p:cNvSpPr>
          <p:nvPr/>
        </p:nvSpPr>
        <p:spPr>
          <a:xfrm>
            <a:off x="6350000" y="5600700"/>
            <a:ext cx="482600" cy="4826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3" name="CardText81"/>
          <p:cNvSpPr txBox="1">
            <a:spLocks noGrp="1"/>
          </p:cNvSpPr>
          <p:nvPr/>
        </p:nvSpPr>
        <p:spPr>
          <a:xfrm>
            <a:off x="6959600" y="5562600"/>
            <a:ext cx="4673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100"/>
              </a:spcAft>
            </a:pPr>
            <a:r>
              <a:rPr lang="de-DE" sz="1500" b="1" dirty="0">
                <a:solidFill>
                  <a:srgbClr val="1A2370"/>
                </a:solidFill>
              </a:rPr>
              <a:t>Penetration Testing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Regelmäßig mit KI-Support</a:t>
            </a:r>
          </a:p>
        </p:txBody>
      </p:sp>
    </p:spTree>
    <p:extLst>
      <p:ext uri="{BB962C8B-B14F-4D97-AF65-F5344CB8AC3E}">
        <p14:creationId xmlns:p14="http://schemas.microsoft.com/office/powerpoint/2010/main" val="776589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ardBg60"/>
          <p:cNvSpPr>
            <a:spLocks noGrp="1"/>
          </p:cNvSpPr>
          <p:nvPr/>
        </p:nvSpPr>
        <p:spPr>
          <a:xfrm>
            <a:off x="457200" y="1244600"/>
            <a:ext cx="3619500" cy="2514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 w="12700">
            <a:solidFill>
              <a:srgbClr val="8FA0D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1" name="Accent60"/>
          <p:cNvSpPr>
            <a:spLocks noGrp="1"/>
          </p:cNvSpPr>
          <p:nvPr/>
        </p:nvSpPr>
        <p:spPr>
          <a:xfrm>
            <a:off x="457200" y="1244600"/>
            <a:ext cx="3619500" cy="76200"/>
          </a:xfrm>
          <a:prstGeom prst="roundRect">
            <a:avLst>
              <a:gd name="adj" fmla="val 30000"/>
            </a:avLst>
          </a:prstGeom>
          <a:solidFill>
            <a:srgbClr val="212B8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" name="Badge60"/>
          <p:cNvSpPr>
            <a:spLocks noGrp="1"/>
          </p:cNvSpPr>
          <p:nvPr/>
        </p:nvSpPr>
        <p:spPr>
          <a:xfrm>
            <a:off x="635000" y="1447800"/>
            <a:ext cx="431800" cy="4318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3" name="CardTitle60"/>
          <p:cNvSpPr txBox="1">
            <a:spLocks noGrp="1"/>
          </p:cNvSpPr>
          <p:nvPr/>
        </p:nvSpPr>
        <p:spPr>
          <a:xfrm>
            <a:off x="1193800" y="1473200"/>
            <a:ext cx="28067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500" b="1" dirty="0">
                <a:solidFill>
                  <a:srgbClr val="1A2370"/>
                </a:solidFill>
              </a:rPr>
              <a:t>Viele Tools &amp; Datenquellen</a:t>
            </a:r>
          </a:p>
        </p:txBody>
      </p:sp>
      <p:sp>
        <p:nvSpPr>
          <p:cNvPr id="64" name="Div60"/>
          <p:cNvSpPr>
            <a:spLocks noGrp="1"/>
          </p:cNvSpPr>
          <p:nvPr/>
        </p:nvSpPr>
        <p:spPr>
          <a:xfrm>
            <a:off x="635000" y="1981200"/>
            <a:ext cx="3263900" cy="12700"/>
          </a:xfrm>
          <a:prstGeom prst="rect">
            <a:avLst/>
          </a:prstGeom>
          <a:solidFill>
            <a:srgbClr val="C5CDF5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5" name="CardSub60"/>
          <p:cNvSpPr txBox="1">
            <a:spLocks noGrp="1"/>
          </p:cNvSpPr>
          <p:nvPr/>
        </p:nvSpPr>
        <p:spPr>
          <a:xfrm>
            <a:off x="635000" y="2082800"/>
            <a:ext cx="32639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KI greift auf DB, APIs und Dateien zu – MCP ersetzt N×M Custom-Integrationen durch ein einziges Protokoll</a:t>
            </a:r>
          </a:p>
        </p:txBody>
      </p:sp>
      <p:sp>
        <p:nvSpPr>
          <p:cNvPr id="66" name="CardBg66"/>
          <p:cNvSpPr>
            <a:spLocks noGrp="1"/>
          </p:cNvSpPr>
          <p:nvPr/>
        </p:nvSpPr>
        <p:spPr>
          <a:xfrm>
            <a:off x="4279900" y="1244600"/>
            <a:ext cx="3619500" cy="2514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 w="12700">
            <a:solidFill>
              <a:srgbClr val="8FA0D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67" name="Accent66"/>
          <p:cNvSpPr>
            <a:spLocks noGrp="1"/>
          </p:cNvSpPr>
          <p:nvPr/>
        </p:nvSpPr>
        <p:spPr>
          <a:xfrm>
            <a:off x="4279900" y="1244600"/>
            <a:ext cx="3619500" cy="76200"/>
          </a:xfrm>
          <a:prstGeom prst="roundRect">
            <a:avLst>
              <a:gd name="adj" fmla="val 30000"/>
            </a:avLst>
          </a:prstGeom>
          <a:solidFill>
            <a:srgbClr val="212B8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8" name="Badge66"/>
          <p:cNvSpPr>
            <a:spLocks noGrp="1"/>
          </p:cNvSpPr>
          <p:nvPr/>
        </p:nvSpPr>
        <p:spPr>
          <a:xfrm>
            <a:off x="4457700" y="1447800"/>
            <a:ext cx="431800" cy="4318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9" name="CardTitle66"/>
          <p:cNvSpPr txBox="1">
            <a:spLocks noGrp="1"/>
          </p:cNvSpPr>
          <p:nvPr/>
        </p:nvSpPr>
        <p:spPr>
          <a:xfrm>
            <a:off x="5016500" y="1473200"/>
            <a:ext cx="28067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500" b="1" dirty="0">
                <a:solidFill>
                  <a:srgbClr val="1A2370"/>
                </a:solidFill>
              </a:rPr>
              <a:t>Agentic Workflows</a:t>
            </a:r>
          </a:p>
        </p:txBody>
      </p:sp>
      <p:sp>
        <p:nvSpPr>
          <p:cNvPr id="70" name="Div66"/>
          <p:cNvSpPr>
            <a:spLocks noGrp="1"/>
          </p:cNvSpPr>
          <p:nvPr/>
        </p:nvSpPr>
        <p:spPr>
          <a:xfrm>
            <a:off x="4457700" y="1981200"/>
            <a:ext cx="3263900" cy="12700"/>
          </a:xfrm>
          <a:prstGeom prst="rect">
            <a:avLst/>
          </a:prstGeom>
          <a:solidFill>
            <a:srgbClr val="C5CDF5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1" name="CardSub66"/>
          <p:cNvSpPr txBox="1">
            <a:spLocks noGrp="1"/>
          </p:cNvSpPr>
          <p:nvPr/>
        </p:nvSpPr>
        <p:spPr>
          <a:xfrm>
            <a:off x="4457700" y="2082800"/>
            <a:ext cx="32639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Autonome KI-Agenten führen mehrstufige Aufgaben aus – MCP liefert die standardisierte Tool-Schnittstelle</a:t>
            </a:r>
          </a:p>
        </p:txBody>
      </p:sp>
      <p:sp>
        <p:nvSpPr>
          <p:cNvPr id="72" name="CardBg72"/>
          <p:cNvSpPr>
            <a:spLocks noGrp="1"/>
          </p:cNvSpPr>
          <p:nvPr/>
        </p:nvSpPr>
        <p:spPr>
          <a:xfrm>
            <a:off x="8102600" y="1244600"/>
            <a:ext cx="3619500" cy="2514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 w="12700">
            <a:solidFill>
              <a:srgbClr val="8FA0D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73" name="Accent72"/>
          <p:cNvSpPr>
            <a:spLocks noGrp="1"/>
          </p:cNvSpPr>
          <p:nvPr/>
        </p:nvSpPr>
        <p:spPr>
          <a:xfrm>
            <a:off x="8102600" y="1244600"/>
            <a:ext cx="3619500" cy="76200"/>
          </a:xfrm>
          <a:prstGeom prst="roundRect">
            <a:avLst>
              <a:gd name="adj" fmla="val 30000"/>
            </a:avLst>
          </a:prstGeom>
          <a:solidFill>
            <a:srgbClr val="212B8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4" name="Badge72"/>
          <p:cNvSpPr>
            <a:spLocks noGrp="1"/>
          </p:cNvSpPr>
          <p:nvPr/>
        </p:nvSpPr>
        <p:spPr>
          <a:xfrm>
            <a:off x="8280400" y="1447800"/>
            <a:ext cx="431800" cy="4318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5" name="CardTitle72"/>
          <p:cNvSpPr txBox="1">
            <a:spLocks noGrp="1"/>
          </p:cNvSpPr>
          <p:nvPr/>
        </p:nvSpPr>
        <p:spPr>
          <a:xfrm>
            <a:off x="8839200" y="1473200"/>
            <a:ext cx="28067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500" b="1" dirty="0">
                <a:solidFill>
                  <a:srgbClr val="1A2370"/>
                </a:solidFill>
              </a:rPr>
              <a:t>AI-powered IDEs</a:t>
            </a:r>
          </a:p>
        </p:txBody>
      </p:sp>
      <p:sp>
        <p:nvSpPr>
          <p:cNvPr id="76" name="Div72"/>
          <p:cNvSpPr>
            <a:spLocks noGrp="1"/>
          </p:cNvSpPr>
          <p:nvPr/>
        </p:nvSpPr>
        <p:spPr>
          <a:xfrm>
            <a:off x="8280400" y="1981200"/>
            <a:ext cx="3263900" cy="12700"/>
          </a:xfrm>
          <a:prstGeom prst="rect">
            <a:avLst/>
          </a:prstGeom>
          <a:solidFill>
            <a:srgbClr val="C5CDF5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7" name="CardSub72"/>
          <p:cNvSpPr txBox="1">
            <a:spLocks noGrp="1"/>
          </p:cNvSpPr>
          <p:nvPr/>
        </p:nvSpPr>
        <p:spPr>
          <a:xfrm>
            <a:off x="8280400" y="2082800"/>
            <a:ext cx="32639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Code-Assistenten brauchen Echtzeit-Kontext – MCP verbindet IDE-KI mit GitHub, Postgres, Playwright u.v.m.</a:t>
            </a:r>
          </a:p>
        </p:txBody>
      </p:sp>
      <p:sp>
        <p:nvSpPr>
          <p:cNvPr id="78" name="CardBg78"/>
          <p:cNvSpPr>
            <a:spLocks noGrp="1"/>
          </p:cNvSpPr>
          <p:nvPr/>
        </p:nvSpPr>
        <p:spPr>
          <a:xfrm>
            <a:off x="457200" y="3937000"/>
            <a:ext cx="3619500" cy="2514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 w="12700">
            <a:solidFill>
              <a:srgbClr val="8FA0D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79" name="Accent78"/>
          <p:cNvSpPr>
            <a:spLocks noGrp="1"/>
          </p:cNvSpPr>
          <p:nvPr/>
        </p:nvSpPr>
        <p:spPr>
          <a:xfrm>
            <a:off x="457200" y="3937000"/>
            <a:ext cx="3619500" cy="76200"/>
          </a:xfrm>
          <a:prstGeom prst="roundRect">
            <a:avLst>
              <a:gd name="adj" fmla="val 30000"/>
            </a:avLst>
          </a:prstGeom>
          <a:solidFill>
            <a:srgbClr val="212B8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0" name="Badge78"/>
          <p:cNvSpPr>
            <a:spLocks noGrp="1"/>
          </p:cNvSpPr>
          <p:nvPr/>
        </p:nvSpPr>
        <p:spPr>
          <a:xfrm>
            <a:off x="635000" y="4140200"/>
            <a:ext cx="431800" cy="4318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1" name="CardTitle78"/>
          <p:cNvSpPr txBox="1">
            <a:spLocks noGrp="1"/>
          </p:cNvSpPr>
          <p:nvPr/>
        </p:nvSpPr>
        <p:spPr>
          <a:xfrm>
            <a:off x="1193800" y="4165600"/>
            <a:ext cx="28067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500" b="1" dirty="0">
                <a:solidFill>
                  <a:srgbClr val="1A2370"/>
                </a:solidFill>
              </a:rPr>
              <a:t>Enterprise-Systeme</a:t>
            </a:r>
          </a:p>
        </p:txBody>
      </p:sp>
      <p:sp>
        <p:nvSpPr>
          <p:cNvPr id="82" name="Div78"/>
          <p:cNvSpPr>
            <a:spLocks noGrp="1"/>
          </p:cNvSpPr>
          <p:nvPr/>
        </p:nvSpPr>
        <p:spPr>
          <a:xfrm>
            <a:off x="635000" y="4673600"/>
            <a:ext cx="3263900" cy="12700"/>
          </a:xfrm>
          <a:prstGeom prst="rect">
            <a:avLst/>
          </a:prstGeom>
          <a:solidFill>
            <a:srgbClr val="C5CDF5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3" name="CardSub78"/>
          <p:cNvSpPr txBox="1">
            <a:spLocks noGrp="1"/>
          </p:cNvSpPr>
          <p:nvPr/>
        </p:nvSpPr>
        <p:spPr>
          <a:xfrm>
            <a:off x="635000" y="4775200"/>
            <a:ext cx="32639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CRM, ERP, Slack, Google Drive mit KI verbinden – fertige MCP-Server ohne eigenen Custom-Code</a:t>
            </a:r>
          </a:p>
        </p:txBody>
      </p:sp>
      <p:sp>
        <p:nvSpPr>
          <p:cNvPr id="84" name="CardBg84"/>
          <p:cNvSpPr>
            <a:spLocks noGrp="1"/>
          </p:cNvSpPr>
          <p:nvPr/>
        </p:nvSpPr>
        <p:spPr>
          <a:xfrm>
            <a:off x="4279900" y="3937000"/>
            <a:ext cx="3619500" cy="2514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 w="12700">
            <a:solidFill>
              <a:srgbClr val="8FA0D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85" name="Accent84"/>
          <p:cNvSpPr>
            <a:spLocks noGrp="1"/>
          </p:cNvSpPr>
          <p:nvPr/>
        </p:nvSpPr>
        <p:spPr>
          <a:xfrm>
            <a:off x="4279900" y="3937000"/>
            <a:ext cx="3619500" cy="76200"/>
          </a:xfrm>
          <a:prstGeom prst="roundRect">
            <a:avLst>
              <a:gd name="adj" fmla="val 30000"/>
            </a:avLst>
          </a:prstGeom>
          <a:solidFill>
            <a:srgbClr val="212B8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6" name="Badge84"/>
          <p:cNvSpPr>
            <a:spLocks noGrp="1"/>
          </p:cNvSpPr>
          <p:nvPr/>
        </p:nvSpPr>
        <p:spPr>
          <a:xfrm>
            <a:off x="4457700" y="4140200"/>
            <a:ext cx="431800" cy="4318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7" name="CardTitle84"/>
          <p:cNvSpPr txBox="1">
            <a:spLocks noGrp="1"/>
          </p:cNvSpPr>
          <p:nvPr/>
        </p:nvSpPr>
        <p:spPr>
          <a:xfrm>
            <a:off x="5016500" y="4165600"/>
            <a:ext cx="28067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500" b="1" dirty="0">
                <a:solidFill>
                  <a:srgbClr val="1A2370"/>
                </a:solidFill>
              </a:rPr>
              <a:t>Multi-Modell-Umgebungen</a:t>
            </a:r>
          </a:p>
        </p:txBody>
      </p:sp>
      <p:sp>
        <p:nvSpPr>
          <p:cNvPr id="88" name="Div84"/>
          <p:cNvSpPr>
            <a:spLocks noGrp="1"/>
          </p:cNvSpPr>
          <p:nvPr/>
        </p:nvSpPr>
        <p:spPr>
          <a:xfrm>
            <a:off x="4457700" y="4673600"/>
            <a:ext cx="3263900" cy="12700"/>
          </a:xfrm>
          <a:prstGeom prst="rect">
            <a:avLst/>
          </a:prstGeom>
          <a:solidFill>
            <a:srgbClr val="C5CDF5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9" name="CardSub84"/>
          <p:cNvSpPr txBox="1">
            <a:spLocks noGrp="1"/>
          </p:cNvSpPr>
          <p:nvPr/>
        </p:nvSpPr>
        <p:spPr>
          <a:xfrm>
            <a:off x="4457700" y="4775200"/>
            <a:ext cx="32639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Claude, GPT, Gemini greifen auf dieselben Daten zu – MCP ist modellunabhängig und herstelleroffen</a:t>
            </a:r>
          </a:p>
        </p:txBody>
      </p:sp>
      <p:sp>
        <p:nvSpPr>
          <p:cNvPr id="90" name="CardBg90"/>
          <p:cNvSpPr>
            <a:spLocks noGrp="1"/>
          </p:cNvSpPr>
          <p:nvPr/>
        </p:nvSpPr>
        <p:spPr>
          <a:xfrm>
            <a:off x="8102600" y="3937000"/>
            <a:ext cx="3619500" cy="2514600"/>
          </a:xfrm>
          <a:prstGeom prst="roundRect">
            <a:avLst>
              <a:gd name="adj" fmla="val 15000"/>
            </a:avLst>
          </a:prstGeom>
          <a:solidFill>
            <a:srgbClr val="EEF1FB"/>
          </a:solidFill>
          <a:ln w="12700">
            <a:solidFill>
              <a:srgbClr val="8FA0D8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91" name="Accent90"/>
          <p:cNvSpPr>
            <a:spLocks noGrp="1"/>
          </p:cNvSpPr>
          <p:nvPr/>
        </p:nvSpPr>
        <p:spPr>
          <a:xfrm>
            <a:off x="8102600" y="3937000"/>
            <a:ext cx="3619500" cy="76200"/>
          </a:xfrm>
          <a:prstGeom prst="roundRect">
            <a:avLst>
              <a:gd name="adj" fmla="val 30000"/>
            </a:avLst>
          </a:prstGeom>
          <a:solidFill>
            <a:srgbClr val="212B8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2" name="Badge90"/>
          <p:cNvSpPr>
            <a:spLocks noGrp="1"/>
          </p:cNvSpPr>
          <p:nvPr/>
        </p:nvSpPr>
        <p:spPr>
          <a:xfrm>
            <a:off x="8280400" y="4140200"/>
            <a:ext cx="431800" cy="431800"/>
          </a:xfrm>
          <a:prstGeom prst="ellipse">
            <a:avLst/>
          </a:prstGeom>
          <a:solidFill>
            <a:srgbClr val="212B8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4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3" name="CardTitle90"/>
          <p:cNvSpPr txBox="1">
            <a:spLocks noGrp="1"/>
          </p:cNvSpPr>
          <p:nvPr/>
        </p:nvSpPr>
        <p:spPr>
          <a:xfrm>
            <a:off x="8839200" y="4165600"/>
            <a:ext cx="28067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500" b="1" dirty="0">
                <a:solidFill>
                  <a:srgbClr val="1A2370"/>
                </a:solidFill>
              </a:rPr>
              <a:t>Schnelle Time-to-Value</a:t>
            </a:r>
          </a:p>
        </p:txBody>
      </p:sp>
      <p:sp>
        <p:nvSpPr>
          <p:cNvPr id="94" name="Div90"/>
          <p:cNvSpPr>
            <a:spLocks noGrp="1"/>
          </p:cNvSpPr>
          <p:nvPr/>
        </p:nvSpPr>
        <p:spPr>
          <a:xfrm>
            <a:off x="8280400" y="4673600"/>
            <a:ext cx="3263900" cy="12700"/>
          </a:xfrm>
          <a:prstGeom prst="rect">
            <a:avLst/>
          </a:prstGeom>
          <a:solidFill>
            <a:srgbClr val="C5CDF5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5" name="CardSub90"/>
          <p:cNvSpPr txBox="1">
            <a:spLocks noGrp="1"/>
          </p:cNvSpPr>
          <p:nvPr/>
        </p:nvSpPr>
        <p:spPr>
          <a:xfrm>
            <a:off x="8280400" y="4775200"/>
            <a:ext cx="32639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300" dirty="0">
                <a:solidFill>
                  <a:srgbClr val="2D2D2D"/>
                </a:solidFill>
              </a:rPr>
              <a:t>MCP-Server in Stunden deployen statt wochenlanger Custom-Entwicklung – ideal für MVP und Produktion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8FE09F6-E76F-DF45-AD84-36B9E12A810E}"/>
              </a:ext>
            </a:extLst>
          </p:cNvPr>
          <p:cNvSpPr txBox="1"/>
          <p:nvPr/>
        </p:nvSpPr>
        <p:spPr>
          <a:xfrm>
            <a:off x="762000" y="304800"/>
            <a:ext cx="9525000" cy="787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de-DE" sz="3000" b="1"/>
              <a:t>Wann MCP einsetzen?</a:t>
            </a:r>
          </a:p>
        </p:txBody>
      </p:sp>
    </p:spTree>
    <p:extLst>
      <p:ext uri="{BB962C8B-B14F-4D97-AF65-F5344CB8AC3E}">
        <p14:creationId xmlns:p14="http://schemas.microsoft.com/office/powerpoint/2010/main" val="685505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336CF-4020-3C92-0131-A604356B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Hands-on: Architektur-Überblick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99A2D2C2-6156-CA45-B315-40DD092A32D6}"/>
              </a:ext>
            </a:extLst>
          </p:cNvPr>
          <p:cNvSpPr/>
          <p:nvPr/>
        </p:nvSpPr>
        <p:spPr>
          <a:xfrm>
            <a:off x="869950" y="1905000"/>
            <a:ext cx="1968500" cy="1143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Vue.js
Frontend</a:t>
            </a:r>
          </a:p>
        </p:txBody>
      </p:sp>
      <p:sp>
        <p:nvSpPr>
          <p:cNvPr id="4" name="Pfeil nach rechts 3">
            <a:extLst>
              <a:ext uri="{FF2B5EF4-FFF2-40B4-BE49-F238E27FC236}">
                <a16:creationId xmlns:a16="http://schemas.microsoft.com/office/drawing/2014/main" id="{FE8BB1EF-9AA4-1141-A8EB-2EC2D1800F8A}"/>
              </a:ext>
            </a:extLst>
          </p:cNvPr>
          <p:cNvSpPr/>
          <p:nvPr/>
        </p:nvSpPr>
        <p:spPr>
          <a:xfrm>
            <a:off x="2863850" y="2349500"/>
            <a:ext cx="101600" cy="2286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F93F10BC-50B1-F04E-B6F0-914257FAAE96}"/>
              </a:ext>
            </a:extLst>
          </p:cNvPr>
          <p:cNvSpPr/>
          <p:nvPr/>
        </p:nvSpPr>
        <p:spPr>
          <a:xfrm>
            <a:off x="2990850" y="1905000"/>
            <a:ext cx="1968500" cy="1143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Spring Boot
Backend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FA41948D-8A5B-C94D-8EF8-8EB3F5C2096E}"/>
              </a:ext>
            </a:extLst>
          </p:cNvPr>
          <p:cNvSpPr/>
          <p:nvPr/>
        </p:nvSpPr>
        <p:spPr>
          <a:xfrm>
            <a:off x="4984750" y="2349500"/>
            <a:ext cx="101600" cy="2286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3157A968-5BF9-7C48-BCEA-BE2DDC932DEB}"/>
              </a:ext>
            </a:extLst>
          </p:cNvPr>
          <p:cNvSpPr/>
          <p:nvPr/>
        </p:nvSpPr>
        <p:spPr>
          <a:xfrm>
            <a:off x="5111750" y="1905000"/>
            <a:ext cx="1968500" cy="1143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Claude API
(Tool Use)</a:t>
            </a:r>
          </a:p>
        </p:txBody>
      </p:sp>
      <p:sp>
        <p:nvSpPr>
          <p:cNvPr id="8" name="Pfeil nach rechts 7">
            <a:extLst>
              <a:ext uri="{FF2B5EF4-FFF2-40B4-BE49-F238E27FC236}">
                <a16:creationId xmlns:a16="http://schemas.microsoft.com/office/drawing/2014/main" id="{829EE023-2354-424F-9DC4-41111A0CE7E9}"/>
              </a:ext>
            </a:extLst>
          </p:cNvPr>
          <p:cNvSpPr/>
          <p:nvPr/>
        </p:nvSpPr>
        <p:spPr>
          <a:xfrm>
            <a:off x="7105650" y="2349500"/>
            <a:ext cx="101600" cy="2286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C6165E93-0863-B54F-AACD-F662517DC56B}"/>
              </a:ext>
            </a:extLst>
          </p:cNvPr>
          <p:cNvSpPr/>
          <p:nvPr/>
        </p:nvSpPr>
        <p:spPr>
          <a:xfrm>
            <a:off x="7232650" y="1905000"/>
            <a:ext cx="1968500" cy="1143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MCP Server
(TypeScript)</a:t>
            </a:r>
          </a:p>
        </p:txBody>
      </p:sp>
      <p:sp>
        <p:nvSpPr>
          <p:cNvPr id="10" name="Pfeil nach rechts 9">
            <a:extLst>
              <a:ext uri="{FF2B5EF4-FFF2-40B4-BE49-F238E27FC236}">
                <a16:creationId xmlns:a16="http://schemas.microsoft.com/office/drawing/2014/main" id="{9FFA0A27-1981-DE44-8C9F-816B058C2C87}"/>
              </a:ext>
            </a:extLst>
          </p:cNvPr>
          <p:cNvSpPr/>
          <p:nvPr/>
        </p:nvSpPr>
        <p:spPr>
          <a:xfrm>
            <a:off x="9226550" y="2349500"/>
            <a:ext cx="101600" cy="2286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815AE725-0960-394C-A3A7-5F15AB1D1FC4}"/>
              </a:ext>
            </a:extLst>
          </p:cNvPr>
          <p:cNvSpPr/>
          <p:nvPr/>
        </p:nvSpPr>
        <p:spPr>
          <a:xfrm>
            <a:off x="9353550" y="1905000"/>
            <a:ext cx="1968500" cy="1143000"/>
          </a:xfrm>
          <a:prstGeom prst="roundRect">
            <a:avLst/>
          </a:prstGeom>
          <a:solidFill>
            <a:srgbClr val="FF52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PostgreSQL
Database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0FA674D-A1FE-5344-9C71-BF4B81143532}"/>
              </a:ext>
            </a:extLst>
          </p:cNvPr>
          <p:cNvSpPr txBox="1"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3F59FF"/>
                </a:solidFill>
              </a:rPr>
              <a:t>Wir erweitern den Chatbot von Tag 1!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4AB69BE3-F87D-E14A-BF36-DC69D1CE98CC}"/>
              </a:ext>
            </a:extLst>
          </p:cNvPr>
          <p:cNvSpPr/>
          <p:nvPr/>
        </p:nvSpPr>
        <p:spPr>
          <a:xfrm>
            <a:off x="6858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09A840-24C9-8242-90F6-5134039E81E4}"/>
              </a:ext>
            </a:extLst>
          </p:cNvPr>
          <p:cNvSpPr/>
          <p:nvPr/>
        </p:nvSpPr>
        <p:spPr>
          <a:xfrm>
            <a:off x="12954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F8F2416-ABE4-B742-8CE0-AC66EE667708}"/>
              </a:ext>
            </a:extLst>
          </p:cNvPr>
          <p:cNvSpPr txBox="1"/>
          <p:nvPr/>
        </p:nvSpPr>
        <p:spPr>
          <a:xfrm>
            <a:off x="7493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Starter verstehen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BFA9E70-2A60-B845-8874-CC61C7665AE7}"/>
              </a:ext>
            </a:extLst>
          </p:cNvPr>
          <p:cNvSpPr txBox="1"/>
          <p:nvPr/>
        </p:nvSpPr>
        <p:spPr>
          <a:xfrm>
            <a:off x="7493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15 Min</a:t>
            </a: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536BA1C5-33E1-4245-8A1C-FA6FCAA98E94}"/>
              </a:ext>
            </a:extLst>
          </p:cNvPr>
          <p:cNvSpPr/>
          <p:nvPr/>
        </p:nvSpPr>
        <p:spPr>
          <a:xfrm>
            <a:off x="25146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3F06D73-2466-BF4B-9EBF-77BA818A909E}"/>
              </a:ext>
            </a:extLst>
          </p:cNvPr>
          <p:cNvSpPr/>
          <p:nvPr/>
        </p:nvSpPr>
        <p:spPr>
          <a:xfrm>
            <a:off x="31242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7873A8E-F180-2C4D-9BCE-5C087279E3F3}"/>
              </a:ext>
            </a:extLst>
          </p:cNvPr>
          <p:cNvSpPr txBox="1"/>
          <p:nvPr/>
        </p:nvSpPr>
        <p:spPr>
          <a:xfrm>
            <a:off x="25781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PostgreSQL Connector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0D333BD-870B-D04D-B47A-95C408C7E4A1}"/>
              </a:ext>
            </a:extLst>
          </p:cNvPr>
          <p:cNvSpPr txBox="1"/>
          <p:nvPr/>
        </p:nvSpPr>
        <p:spPr>
          <a:xfrm>
            <a:off x="25781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30 Min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609504F6-4435-6F49-BF29-2F4555B0FEE6}"/>
              </a:ext>
            </a:extLst>
          </p:cNvPr>
          <p:cNvSpPr/>
          <p:nvPr/>
        </p:nvSpPr>
        <p:spPr>
          <a:xfrm>
            <a:off x="43434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562D39-602B-E141-84F3-38FBED01B8C5}"/>
              </a:ext>
            </a:extLst>
          </p:cNvPr>
          <p:cNvSpPr/>
          <p:nvPr/>
        </p:nvSpPr>
        <p:spPr>
          <a:xfrm>
            <a:off x="49530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BD4E6F9-DE81-524B-80B8-25B50AAD0ADC}"/>
              </a:ext>
            </a:extLst>
          </p:cNvPr>
          <p:cNvSpPr txBox="1"/>
          <p:nvPr/>
        </p:nvSpPr>
        <p:spPr>
          <a:xfrm>
            <a:off x="44069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MCP Tools bauen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7F771D5-EDBB-0846-A499-817FDEBD0E3C}"/>
              </a:ext>
            </a:extLst>
          </p:cNvPr>
          <p:cNvSpPr txBox="1"/>
          <p:nvPr/>
        </p:nvSpPr>
        <p:spPr>
          <a:xfrm>
            <a:off x="44069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50 Min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D7B59EB7-1AC2-F542-9B5E-FBB0B6243670}"/>
              </a:ext>
            </a:extLst>
          </p:cNvPr>
          <p:cNvSpPr/>
          <p:nvPr/>
        </p:nvSpPr>
        <p:spPr>
          <a:xfrm>
            <a:off x="61722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0962439-3951-F74D-B5B8-C0F47A47C2C4}"/>
              </a:ext>
            </a:extLst>
          </p:cNvPr>
          <p:cNvSpPr/>
          <p:nvPr/>
        </p:nvSpPr>
        <p:spPr>
          <a:xfrm>
            <a:off x="67818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285370A-D8BF-1443-84BF-04BCADFC86B0}"/>
              </a:ext>
            </a:extLst>
          </p:cNvPr>
          <p:cNvSpPr txBox="1"/>
          <p:nvPr/>
        </p:nvSpPr>
        <p:spPr>
          <a:xfrm>
            <a:off x="62357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API-Key Auth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9870768-EBB5-334C-8CBF-73C9FB4C4FEE}"/>
              </a:ext>
            </a:extLst>
          </p:cNvPr>
          <p:cNvSpPr txBox="1"/>
          <p:nvPr/>
        </p:nvSpPr>
        <p:spPr>
          <a:xfrm>
            <a:off x="62357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20 Min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E5384B72-175F-224A-BEB0-7F3463C4A6EA}"/>
              </a:ext>
            </a:extLst>
          </p:cNvPr>
          <p:cNvSpPr/>
          <p:nvPr/>
        </p:nvSpPr>
        <p:spPr>
          <a:xfrm>
            <a:off x="80010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540C863-392F-104F-8F23-99413FCF0A5D}"/>
              </a:ext>
            </a:extLst>
          </p:cNvPr>
          <p:cNvSpPr/>
          <p:nvPr/>
        </p:nvSpPr>
        <p:spPr>
          <a:xfrm>
            <a:off x="86106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52A2727-0B27-DA41-AB5D-356B09B8B31A}"/>
              </a:ext>
            </a:extLst>
          </p:cNvPr>
          <p:cNvSpPr txBox="1"/>
          <p:nvPr/>
        </p:nvSpPr>
        <p:spPr>
          <a:xfrm>
            <a:off x="80645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Claude Code anbinden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95F4F01-BD18-8A4A-905E-34AED1B9EE77}"/>
              </a:ext>
            </a:extLst>
          </p:cNvPr>
          <p:cNvSpPr txBox="1"/>
          <p:nvPr/>
        </p:nvSpPr>
        <p:spPr>
          <a:xfrm>
            <a:off x="80645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20 Min</a:t>
            </a:r>
          </a:p>
        </p:txBody>
      </p:sp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A6CB269F-ADED-EF49-8611-81ABF0557151}"/>
              </a:ext>
            </a:extLst>
          </p:cNvPr>
          <p:cNvSpPr/>
          <p:nvPr/>
        </p:nvSpPr>
        <p:spPr>
          <a:xfrm>
            <a:off x="98298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50DFF2F-18FA-774A-B463-FF7AF4F2ACE1}"/>
              </a:ext>
            </a:extLst>
          </p:cNvPr>
          <p:cNvSpPr/>
          <p:nvPr/>
        </p:nvSpPr>
        <p:spPr>
          <a:xfrm>
            <a:off x="104394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87E42F6-76F6-4A41-9792-9EF453F02A96}"/>
              </a:ext>
            </a:extLst>
          </p:cNvPr>
          <p:cNvSpPr txBox="1"/>
          <p:nvPr/>
        </p:nvSpPr>
        <p:spPr>
          <a:xfrm>
            <a:off x="98933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Backend Tool Use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9280AE2-A4D7-2C4B-B3EC-DE7DD41ED786}"/>
              </a:ext>
            </a:extLst>
          </p:cNvPr>
          <p:cNvSpPr txBox="1"/>
          <p:nvPr/>
        </p:nvSpPr>
        <p:spPr>
          <a:xfrm>
            <a:off x="98933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30 Min</a:t>
            </a:r>
          </a:p>
        </p:txBody>
      </p:sp>
    </p:spTree>
    <p:extLst>
      <p:ext uri="{BB962C8B-B14F-4D97-AF65-F5344CB8AC3E}">
        <p14:creationId xmlns:p14="http://schemas.microsoft.com/office/powerpoint/2010/main" val="775468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30DB86-136E-A40F-77BE-6A867A79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1: Starter verstehen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ECFDA694-97B0-4B47-90B3-6948B9DC539E}"/>
              </a:ext>
            </a:extLst>
          </p:cNvPr>
          <p:cNvSpPr/>
          <p:nvPr/>
        </p:nvSpPr>
        <p:spPr>
          <a:xfrm>
            <a:off x="508000" y="1778000"/>
            <a:ext cx="5334000" cy="1524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de-DE" sz="2000">
                <a:solidFill>
                  <a:srgbClr val="E0E0E0"/>
                </a:solidFill>
                <a:latin typeface="Consolas"/>
                <a:cs typeface="Consolas"/>
              </a:rPr>
              <a:t>📁 server.ts
📁 db-connector.ts
📁 auth-middleware.ts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4E883EC-1D70-A64F-A41E-B9A28F72FE10}"/>
              </a:ext>
            </a:extLst>
          </p:cNvPr>
          <p:cNvSpPr txBox="1"/>
          <p:nvPr/>
        </p:nvSpPr>
        <p:spPr>
          <a:xfrm>
            <a:off x="6223000" y="17780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3F59FF"/>
                </a:solidFill>
              </a:rPr>
              <a:t>Aufgabe: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102F581-69B0-914D-801C-BF23BA8BEE98}"/>
              </a:ext>
            </a:extLst>
          </p:cNvPr>
          <p:cNvSpPr txBox="1"/>
          <p:nvPr/>
        </p:nvSpPr>
        <p:spPr>
          <a:xfrm>
            <a:off x="6223000" y="2095500"/>
            <a:ext cx="558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MCP-Struktur mit Claude erklären lassen:
"Erkläre mir die Architektur dieses MCP-Servers. Wie hängen die Dateien zusammen?"</a:t>
            </a:r>
          </a:p>
        </p:txBody>
      </p:sp>
    </p:spTree>
    <p:extLst>
      <p:ext uri="{BB962C8B-B14F-4D97-AF65-F5344CB8AC3E}">
        <p14:creationId xmlns:p14="http://schemas.microsoft.com/office/powerpoint/2010/main" val="18079850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3B9C3A-B926-3649-A083-DD6A1BFF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2: PostgreSQL DB Connector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C5BE9C4-90D8-1B49-AD21-D32916C36D96}"/>
              </a:ext>
            </a:extLst>
          </p:cNvPr>
          <p:cNvSpPr/>
          <p:nvPr/>
        </p:nvSpPr>
        <p:spPr>
          <a:xfrm>
            <a:off x="762000" y="1778000"/>
            <a:ext cx="10668000" cy="5715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1. PostgreSQL Connector einrichten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CEB57E45-8D38-2E45-9082-9AE8D81768CC}"/>
              </a:ext>
            </a:extLst>
          </p:cNvPr>
          <p:cNvSpPr/>
          <p:nvPr/>
        </p:nvSpPr>
        <p:spPr>
          <a:xfrm>
            <a:off x="762000" y="2476500"/>
            <a:ext cx="10668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2. pg Package installieren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09BC84E0-8ADF-0A48-9A7A-64C624584D8B}"/>
              </a:ext>
            </a:extLst>
          </p:cNvPr>
          <p:cNvSpPr/>
          <p:nvPr/>
        </p:nvSpPr>
        <p:spPr>
          <a:xfrm>
            <a:off x="762000" y="3175000"/>
            <a:ext cx="10668000" cy="5715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3. .env mit PostgreSQL-Credentials füllen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DDE4D2D-EC5F-FF45-A773-88DA40A84F63}"/>
              </a:ext>
            </a:extLst>
          </p:cNvPr>
          <p:cNvSpPr/>
          <p:nvPr/>
        </p:nvSpPr>
        <p:spPr>
          <a:xfrm>
            <a:off x="762000" y="3873500"/>
            <a:ext cx="10668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4. Connection Pool konfigurieren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CBC52720-160B-924B-9EA5-6BB11EE66E83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de-DE" sz="1600">
                <a:solidFill>
                  <a:srgbClr val="E0E0E0"/>
                </a:solidFill>
                <a:latin typeface="Consolas"/>
                <a:cs typeface="Consolas"/>
              </a:rPr>
              <a:t>npm install pg
// .env: DB_USER=readonly DB_PASS=*** DB_URL=postgresql://host:5432/ID</a:t>
            </a:r>
          </a:p>
        </p:txBody>
      </p:sp>
    </p:spTree>
    <p:extLst>
      <p:ext uri="{BB962C8B-B14F-4D97-AF65-F5344CB8AC3E}">
        <p14:creationId xmlns:p14="http://schemas.microsoft.com/office/powerpoint/2010/main" val="30932089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EAE8BD-BCB3-1240-E5AA-ED46A7D6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Schritt 3: MCP Tools bauen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CBCC0D35-22A8-BD41-8E94-7CDDB902CE4B}"/>
              </a:ext>
            </a:extLst>
          </p:cNvPr>
          <p:cNvSpPr/>
          <p:nvPr/>
        </p:nvSpPr>
        <p:spPr>
          <a:xfrm>
            <a:off x="444500" y="1778000"/>
            <a:ext cx="2667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2D9479-9AB5-BA42-AB14-A84FA0559E0B}"/>
              </a:ext>
            </a:extLst>
          </p:cNvPr>
          <p:cNvSpPr/>
          <p:nvPr/>
        </p:nvSpPr>
        <p:spPr>
          <a:xfrm>
            <a:off x="1460500" y="1841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/>
              <a:t>📋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93326BF-9FBF-A247-AD03-7ED7E94F4D8E}"/>
              </a:ext>
            </a:extLst>
          </p:cNvPr>
          <p:cNvSpPr txBox="1"/>
          <p:nvPr/>
        </p:nvSpPr>
        <p:spPr>
          <a:xfrm>
            <a:off x="571500" y="2603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list-tables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6138122-359E-314A-8DC1-2F602DF4E14C}"/>
              </a:ext>
            </a:extLst>
          </p:cNvPr>
          <p:cNvSpPr txBox="1"/>
          <p:nvPr/>
        </p:nvSpPr>
        <p:spPr>
          <a:xfrm>
            <a:off x="571500" y="30226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Alle Tabellen
auflisten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0410CFE0-88AC-CF4F-9F87-89791A320A8A}"/>
              </a:ext>
            </a:extLst>
          </p:cNvPr>
          <p:cNvSpPr/>
          <p:nvPr/>
        </p:nvSpPr>
        <p:spPr>
          <a:xfrm>
            <a:off x="3365500" y="1778000"/>
            <a:ext cx="2667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7B40CE-E0A4-CF4C-AFE7-D22C52DB71E2}"/>
              </a:ext>
            </a:extLst>
          </p:cNvPr>
          <p:cNvSpPr/>
          <p:nvPr/>
        </p:nvSpPr>
        <p:spPr>
          <a:xfrm>
            <a:off x="4381500" y="1841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/>
              <a:t>🔍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443AB3E-1042-A44E-B66C-29141A3B3C24}"/>
              </a:ext>
            </a:extLst>
          </p:cNvPr>
          <p:cNvSpPr txBox="1"/>
          <p:nvPr/>
        </p:nvSpPr>
        <p:spPr>
          <a:xfrm>
            <a:off x="3492500" y="2603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describe-table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C04F153-5AA1-4745-A29A-9BD4360C4A08}"/>
              </a:ext>
            </a:extLst>
          </p:cNvPr>
          <p:cNvSpPr txBox="1"/>
          <p:nvPr/>
        </p:nvSpPr>
        <p:spPr>
          <a:xfrm>
            <a:off x="3492500" y="30226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Spalten + Typen
einer Tabelle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F2471829-32E1-1D45-ADBC-84F56A396B79}"/>
              </a:ext>
            </a:extLst>
          </p:cNvPr>
          <p:cNvSpPr/>
          <p:nvPr/>
        </p:nvSpPr>
        <p:spPr>
          <a:xfrm>
            <a:off x="6286500" y="1778000"/>
            <a:ext cx="2667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B71FAC-6BED-4941-AE65-C149809502D4}"/>
              </a:ext>
            </a:extLst>
          </p:cNvPr>
          <p:cNvSpPr/>
          <p:nvPr/>
        </p:nvSpPr>
        <p:spPr>
          <a:xfrm>
            <a:off x="7302500" y="1841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/>
              <a:t>⚡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DDE76EC-744B-A841-AFA7-6133C773D0E8}"/>
              </a:ext>
            </a:extLst>
          </p:cNvPr>
          <p:cNvSpPr txBox="1"/>
          <p:nvPr/>
        </p:nvSpPr>
        <p:spPr>
          <a:xfrm>
            <a:off x="6413500" y="2603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query-table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556694B-26E7-E242-86F5-64C073623E48}"/>
              </a:ext>
            </a:extLst>
          </p:cNvPr>
          <p:cNvSpPr txBox="1"/>
          <p:nvPr/>
        </p:nvSpPr>
        <p:spPr>
          <a:xfrm>
            <a:off x="6413500" y="30226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SELECT mit
Parametern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26CFE618-C2B6-624E-8FA6-F3D9818E813E}"/>
              </a:ext>
            </a:extLst>
          </p:cNvPr>
          <p:cNvSpPr/>
          <p:nvPr/>
        </p:nvSpPr>
        <p:spPr>
          <a:xfrm>
            <a:off x="9207500" y="1778000"/>
            <a:ext cx="2667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FA93F2-F1B4-464A-A71E-3D3CEB158B11}"/>
              </a:ext>
            </a:extLst>
          </p:cNvPr>
          <p:cNvSpPr/>
          <p:nvPr/>
        </p:nvSpPr>
        <p:spPr>
          <a:xfrm>
            <a:off x="10223500" y="1841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/>
              <a:t>#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D8D8444-7C7B-7C40-9048-05E5C91EA8F2}"/>
              </a:ext>
            </a:extLst>
          </p:cNvPr>
          <p:cNvSpPr txBox="1"/>
          <p:nvPr/>
        </p:nvSpPr>
        <p:spPr>
          <a:xfrm>
            <a:off x="9334500" y="2603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count-rows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F229B17-3527-CC43-93DA-19DE6A39485D}"/>
              </a:ext>
            </a:extLst>
          </p:cNvPr>
          <p:cNvSpPr txBox="1"/>
          <p:nvPr/>
        </p:nvSpPr>
        <p:spPr>
          <a:xfrm>
            <a:off x="9334500" y="30226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Anzahl Zeilen
einer Tabelle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464A29AF-D545-D347-9DF1-AA8B8BF8B981}"/>
              </a:ext>
            </a:extLst>
          </p:cNvPr>
          <p:cNvSpPr/>
          <p:nvPr/>
        </p:nvSpPr>
        <p:spPr>
          <a:xfrm>
            <a:off x="508000" y="4572000"/>
            <a:ext cx="11176000" cy="1270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server.tool("list-tables", "Listet alle Tabellen auf.", async () =&gt; {
  const tables = await db.query("SELECT table_name FROM user_tables");
  return { content: [{ type: "text", text: JSON.stringify(tables) }] };
});</a:t>
            </a:r>
          </a:p>
        </p:txBody>
      </p:sp>
    </p:spTree>
    <p:extLst>
      <p:ext uri="{BB962C8B-B14F-4D97-AF65-F5344CB8AC3E}">
        <p14:creationId xmlns:p14="http://schemas.microsoft.com/office/powerpoint/2010/main" val="55116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D1A781-0245-3DD5-0301-8E77BCC4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4: API-Key Auth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3E6CA02-F61F-B14D-B011-8A4105C2001B}"/>
              </a:ext>
            </a:extLst>
          </p:cNvPr>
          <p:cNvSpPr/>
          <p:nvPr/>
        </p:nvSpPr>
        <p:spPr>
          <a:xfrm>
            <a:off x="508000" y="1778000"/>
            <a:ext cx="11176000" cy="1778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// auth-middleware.ts
function validateApiKey(req: Request): boolean {
  const key = req.headers["x-api-key"];
  return key === process.env.API_KEY;
}
// Tabellen-Whitelist
const ALLOWED = ["CUSTOMERS","ORDERS","PRODUCTS"];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951DC7-2A7F-9E44-A7F9-151C03AE01E1}"/>
              </a:ext>
            </a:extLst>
          </p:cNvPr>
          <p:cNvSpPr txBox="1"/>
          <p:nvPr/>
        </p:nvSpPr>
        <p:spPr>
          <a:xfrm>
            <a:off x="762000" y="3683000"/>
            <a:ext cx="1066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• Security-Layer mit x-api-key Header
• Parameterized Queries implementieren
• Table Whitelist konfigurieren
• Sensible Spalten ausschließen</a:t>
            </a:r>
          </a:p>
        </p:txBody>
      </p:sp>
    </p:spTree>
    <p:extLst>
      <p:ext uri="{BB962C8B-B14F-4D97-AF65-F5344CB8AC3E}">
        <p14:creationId xmlns:p14="http://schemas.microsoft.com/office/powerpoint/2010/main" val="40678309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A84E69-4249-B115-881D-732F313D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5: Claude Code anbinden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553EA80-5363-5147-8C01-71D443C64497}"/>
              </a:ext>
            </a:extLst>
          </p:cNvPr>
          <p:cNvSpPr/>
          <p:nvPr/>
        </p:nvSpPr>
        <p:spPr>
          <a:xfrm>
            <a:off x="508000" y="1778000"/>
            <a:ext cx="6350000" cy="2032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// .mcp.json
{
  "mcpServers": {
    "postgres-db": {
      "command": "npx",
      "args": ["tsx", "server.ts"],
      "env": { "DB_URL": "..." }
    }
  }
}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FFC60438-26A0-F446-B745-94CE97125D6D}"/>
              </a:ext>
            </a:extLst>
          </p:cNvPr>
          <p:cNvSpPr/>
          <p:nvPr/>
        </p:nvSpPr>
        <p:spPr>
          <a:xfrm>
            <a:off x="7239000" y="1778000"/>
            <a:ext cx="4445000" cy="2032000"/>
          </a:xfrm>
          <a:prstGeom prst="roundRect">
            <a:avLst/>
          </a:prstGeom>
          <a:solidFill>
            <a:srgbClr val="F0F4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Testen:
"Welche Tabellen gibt es in der DB?"
→ KI nutzt MCP-Server automatisch!</a:t>
            </a:r>
          </a:p>
        </p:txBody>
      </p:sp>
    </p:spTree>
    <p:extLst>
      <p:ext uri="{BB962C8B-B14F-4D97-AF65-F5344CB8AC3E}">
        <p14:creationId xmlns:p14="http://schemas.microsoft.com/office/powerpoint/2010/main" val="2128443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90DAF6-6C4E-A7A6-0BD7-8FCC3BC5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6: Backend Tool Use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D6CBE24-DF37-D243-9D09-2E006296988C}"/>
              </a:ext>
            </a:extLst>
          </p:cNvPr>
          <p:cNvSpPr/>
          <p:nvPr/>
        </p:nvSpPr>
        <p:spPr>
          <a:xfrm>
            <a:off x="508000" y="1778000"/>
            <a:ext cx="11176000" cy="2159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// Spring Boot: Claude API mit tool_use
if (block.type == "tool_use") {
  String toolName = block.name;     // z.B. "list-tables"
  JsonNode input = block.input;     // z.B. {}
  // MCP-Server aufrufen
  String result = mcpClient.callTool(toolName, input);
  // Ergebnis an Claude zurückgeben
  messages.add(toolResult(block.id, result));
}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D17E4BB8-6CBD-8943-B35E-0B215D0E3873}"/>
              </a:ext>
            </a:extLst>
          </p:cNvPr>
          <p:cNvSpPr/>
          <p:nvPr/>
        </p:nvSpPr>
        <p:spPr>
          <a:xfrm>
            <a:off x="508000" y="4191000"/>
            <a:ext cx="11176000" cy="762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Ergebnis: Chatbot beantwortet jetzt echte DB-Fragen!</a:t>
            </a:r>
          </a:p>
        </p:txBody>
      </p:sp>
    </p:spTree>
    <p:extLst>
      <p:ext uri="{BB962C8B-B14F-4D97-AF65-F5344CB8AC3E}">
        <p14:creationId xmlns:p14="http://schemas.microsoft.com/office/powerpoint/2010/main" val="148418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AI Blueprint">
      <a:dk1>
        <a:srgbClr val="212121"/>
      </a:dk1>
      <a:lt1>
        <a:srgbClr val="FFFFFF"/>
      </a:lt1>
      <a:dk2>
        <a:srgbClr val="212B80"/>
      </a:dk2>
      <a:lt2>
        <a:srgbClr val="F5F5F5"/>
      </a:lt2>
      <a:accent1>
        <a:srgbClr val="3F59FF"/>
      </a:accent1>
      <a:accent2>
        <a:srgbClr val="212B80"/>
      </a:accent2>
      <a:accent3>
        <a:srgbClr val="FFD440"/>
      </a:accent3>
      <a:accent4>
        <a:srgbClr val="4CAF50"/>
      </a:accent4>
      <a:accent5>
        <a:srgbClr val="FF5252"/>
      </a:accent5>
      <a:accent6>
        <a:srgbClr val="7C8DB5"/>
      </a:accent6>
      <a:hlink>
        <a:srgbClr val="467886"/>
      </a:hlink>
      <a:folHlink>
        <a:srgbClr val="96607D"/>
      </a:folHlink>
    </a:clrScheme>
    <a:fontScheme name="AI Blueprint">
      <a:majorFont>
        <a:latin typeface="Open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ED646-CF38-F745-BB76-900216FAB92A}">
  <we:reference id="wa200010001" version="1.0.0.0" store="de-DE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3663</Words>
  <Application>Microsoft Macintosh PowerPoint</Application>
  <PresentationFormat>Breitbild</PresentationFormat>
  <Paragraphs>503</Paragraphs>
  <Slides>39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5" baseType="lpstr">
      <vt:lpstr>Aptos</vt:lpstr>
      <vt:lpstr>Arial</vt:lpstr>
      <vt:lpstr>Consolas</vt:lpstr>
      <vt:lpstr>Courier New</vt:lpstr>
      <vt:lpstr>Open Sans</vt:lpstr>
      <vt:lpstr>Office</vt:lpstr>
      <vt:lpstr>Tag 2: KI als Coding-Partner + MCP</vt:lpstr>
      <vt:lpstr>Das Problem — KI ohne Kontext</vt:lpstr>
      <vt:lpstr>Die Kontext-Hierarchie</vt:lpstr>
      <vt:lpstr>lessons.md — Team-Gedächtnis</vt:lpstr>
      <vt:lpstr>Copilot — Inline vs. Agent Mode</vt:lpstr>
      <vt:lpstr>Sub-Agents — Kontext sauber halten</vt:lpstr>
      <vt:lpstr>Context-Window-Management</vt:lpstr>
      <vt:lpstr>Built-in Commands</vt:lpstr>
      <vt:lpstr>KI autonom arbeiten lassen</vt:lpstr>
      <vt:lpstr>/swarm — Parallele Agents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Überleitung</vt:lpstr>
      <vt:lpstr>TEIL 2</vt:lpstr>
      <vt:lpstr>Wie funktioniert MCP?</vt:lpstr>
      <vt:lpstr>MCP auf Protokoll-Ebene (JSON-RPC 2.0)</vt:lpstr>
      <vt:lpstr>Transport — stdio vs. HTTP</vt:lpstr>
      <vt:lpstr>Der MCP-Lifecycle (4 Phasen)</vt:lpstr>
      <vt:lpstr>MCP-Server bauen — 15 Zeilen TypeScript</vt:lpstr>
      <vt:lpstr>Warum MCP besser ist als REST für KI</vt:lpstr>
      <vt:lpstr>MCP Tool-Call — Technischer Ablauf</vt:lpstr>
      <vt:lpstr>Tool-Descriptions — Schlecht vs. Gut</vt:lpstr>
      <vt:lpstr>Anatomie eines MCP-Servers</vt:lpstr>
      <vt:lpstr>MCP-Konfiguration</vt:lpstr>
      <vt:lpstr>MCP + Datenbank — Workflow</vt:lpstr>
      <vt:lpstr>Authentifizierung — 3 Ebenen</vt:lpstr>
      <vt:lpstr>SQL-Injection im MCP-Kontext</vt:lpstr>
      <vt:lpstr>Security-Checklist für KI im Unternehmen</vt:lpstr>
      <vt:lpstr>PowerPoint-Präsentation</vt:lpstr>
      <vt:lpstr>Hands-on: Architektur-Überblick</vt:lpstr>
      <vt:lpstr>Schritt 1: Starter verstehen</vt:lpstr>
      <vt:lpstr>Schritt 2: PostgreSQL DB Connector</vt:lpstr>
      <vt:lpstr>Schritt 3: MCP Tools bauen</vt:lpstr>
      <vt:lpstr>Schritt 4: API-Key Auth</vt:lpstr>
      <vt:lpstr>Schritt 5: Claude Code anbinden</vt:lpstr>
      <vt:lpstr>Schritt 6: Backend Tool 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Tkalcic</dc:creator>
  <cp:lastModifiedBy>Patrick Tkalcic</cp:lastModifiedBy>
  <cp:revision>35</cp:revision>
  <dcterms:created xsi:type="dcterms:W3CDTF">2026-03-09T11:59:50Z</dcterms:created>
  <dcterms:modified xsi:type="dcterms:W3CDTF">2026-03-13T17:46:54Z</dcterms:modified>
</cp:coreProperties>
</file>