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89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5" r:id="rId18"/>
    <p:sldId id="276" r:id="rId19"/>
    <p:sldId id="277" r:id="rId20"/>
    <p:sldId id="278" r:id="rId21"/>
    <p:sldId id="280" r:id="rId22"/>
    <p:sldId id="281" r:id="rId23"/>
    <p:sldId id="282" r:id="rId24"/>
    <p:sldId id="283" r:id="rId25"/>
    <p:sldId id="284" r:id="rId26"/>
    <p:sldId id="293" r:id="rId2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33"/>
    <p:restoredTop sz="94740"/>
  </p:normalViewPr>
  <p:slideViewPr>
    <p:cSldViewPr snapToGrid="0">
      <p:cViewPr varScale="1">
        <p:scale>
          <a:sx n="125" d="100"/>
          <a:sy n="125" d="100"/>
        </p:scale>
        <p:origin x="144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FE450-0D0F-414A-BC82-CA0860B910B9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9D1CD-0F7B-3D4B-8C33-9DCE3601BF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306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9D1CD-0F7B-3D4B-8C33-9DCE3601BFA7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6872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14E751-5202-6A5E-75AD-8DB30B0162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3AD577D-5BEC-7513-4BF7-C58730DD5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B55C09-4EE7-B1F3-7FDA-DC6B4534B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B4713C-51B2-F28B-71C5-F431FF468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A542D4-978E-FEF7-EF09-BE6F6401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3877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AD8A35-AE04-6185-8E88-BD7743AF7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A589EB-37BF-8A28-2671-6B1775E58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EB6124-2B29-25D6-825F-90721F012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FE0880-C376-DD14-DD24-6FB3A33BA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15DC2C-5C68-6CBC-E1D3-EBCBF0984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454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947B4B-378F-52D0-C369-3AF38536C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BAA79A-DC2E-13DA-56E0-9CB48BEEE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F86DF9-ED8F-4535-5FB4-C55E8D37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3069EE-0547-ABB2-6D70-780438225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4832C7-D424-A1FB-419F-B3B50D318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3851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B364B3-9FA1-D910-61FF-B5BCFB0AE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AB687C-9447-6189-C57B-1E7F7AE71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5441EBB-9D27-C551-66C8-EC3F67E94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05AF12-9336-30B3-713C-AA7F32BF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0192F25-AE4E-D942-0EAC-89872F8C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5123F43-9B3F-F42A-3140-8C263836B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1107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54E06F-C038-045D-46BC-FD56C9E6D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B89D82-A5BC-2D8A-B228-E855EBCED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A022C8-64A5-1199-B0D3-EC6C990C9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59337B4-AE46-4A25-0067-0EE565BCAA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CE834F8-40B2-EFEF-BDDA-C3BE932017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23A77FF-DD6C-B2D9-A37E-C2AF1F7F9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2A0C4E9-7652-5E10-4F65-4286A0F4E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888BA53-75D9-8D32-29FA-01D510D27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2924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373F94-D7D6-320A-18B7-E51AE91F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B849FA8-7831-0A3A-F577-46D9051DE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D7E0C1-D3EB-E6A8-9C96-87E4B54AD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F2FB680-6866-A1B4-F3E1-166F7CCC8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4375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4D5ACF0-BB59-B2D4-FF63-AFF1095A5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12C7D0D-6084-0995-E353-0B2587906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26966B-39C4-6327-77C8-8E7B28997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5783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46D7A9-8B8A-80C4-62F2-2879CA28A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BAB805-D26C-8601-821E-4A45178E1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A57C556-A0C1-5181-3457-3B203BCF4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AB9A0C-A1D3-2F72-35EF-97E7D740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0F5714E-6ABD-2875-70DF-7E57AB13D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4E5984-347A-6FA5-C992-F877DB657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5784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D3D173-632A-E0AB-30C4-2598743FD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7293E1D-F065-5EEC-B521-42C0C00F9F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9C1FCFF-57E6-D402-45E7-664630A5B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229105-8B78-922B-F53D-0DC0AF6E9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8199CF2-A1F7-D004-90CA-161DD5977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05E7417-A495-BCB1-DFF2-91C30015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0511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D025C-6621-C8B3-BDBA-36B966ED1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E5B890A-6FEF-AF26-3739-E440CAA4A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2201EA-5CF0-B20F-8353-59DCBE1D2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057519-EB71-586B-FD21-C7C8D0105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3EC309-6E2A-4D8A-F398-328748507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122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927D42A-D650-AE93-D2B5-888721B48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7864DF2-1C0F-C24A-9DD9-33ACA3065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F68E02-BB4C-FF08-5FFD-0668EF9A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FF94-66A1-1642-9D1D-43198EE3618C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289EE9-1CDD-E9F7-38DD-55ADBDD9B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8B3E05-D7CF-B0D9-9927-F93CB044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472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35AD79C-7578-A6C5-BCD2-D868C58F2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A88502-9A1E-473B-DCF8-0AAB0DD4A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84537A-CEA0-2E8D-41DC-BDAF63AB98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1CFF94-66A1-1642-9D1D-43198EE3618C}" type="datetimeFigureOut">
              <a:rPr lang="de-DE" smtClean="0"/>
              <a:t>13.03.26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641FC6-02FC-B7CE-7BEF-4725CAF1AF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9BCFA7-A756-76D7-3CC2-811D4CC06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3F6AC-A46D-2D45-B385-BF2CABE1E304}" type="slidenum">
              <a:rPr lang="de-DE" smtClean="0"/>
              <a:t>‹Nr.›</a:t>
            </a:fld>
            <a:endParaRPr lang="de-DE"/>
          </a:p>
        </p:txBody>
      </p:sp>
      <p:sp>
        <p:nvSpPr>
          <p:cNvPr id="900" name="Accent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F59F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901" name="GoldLine"/>
          <p:cNvSpPr/>
          <p:nvPr/>
        </p:nvSpPr>
        <p:spPr>
          <a:xfrm>
            <a:off x="0" y="57150"/>
            <a:ext cx="12192000" cy="19050"/>
          </a:xfrm>
          <a:prstGeom prst="rect">
            <a:avLst/>
          </a:prstGeom>
          <a:solidFill>
            <a:srgbClr val="FFD44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857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212B8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rgbClr val="21212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B8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B6AA43A6-AAD0-FF42-BDEA-FF87AA4CE42E}"/>
              </a:ext>
            </a:extLst>
          </p:cNvPr>
          <p:cNvSpPr txBox="1"/>
          <p:nvPr/>
        </p:nvSpPr>
        <p:spPr>
          <a:xfrm>
            <a:off x="762000" y="16510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FFD440"/>
                </a:solidFill>
                <a:latin typeface="Open Sans"/>
                <a:ea typeface="Open Sans"/>
                <a:cs typeface="Open Sans"/>
              </a:rPr>
              <a:t>TAG 3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0717DEE-FFE7-CB4B-9631-F13FE19E13C9}"/>
              </a:ext>
            </a:extLst>
          </p:cNvPr>
          <p:cNvSpPr txBox="1"/>
          <p:nvPr/>
        </p:nvSpPr>
        <p:spPr>
          <a:xfrm>
            <a:off x="762000" y="2222500"/>
            <a:ext cx="7620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40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Legacy-Code modernisieren
mit KI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1AC2D9C-7BFB-1046-AA31-F829B28E3D85}"/>
              </a:ext>
            </a:extLst>
          </p:cNvPr>
          <p:cNvSpPr/>
          <p:nvPr/>
        </p:nvSpPr>
        <p:spPr>
          <a:xfrm>
            <a:off x="859971" y="2050143"/>
            <a:ext cx="1016000" cy="635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0369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EAAD0CB-F617-204D-9E44-6ED03D2E31B7}"/>
              </a:ext>
            </a:extLst>
          </p:cNvPr>
          <p:cNvSpPr txBox="1"/>
          <p:nvPr/>
        </p:nvSpPr>
        <p:spPr>
          <a:xfrm>
            <a:off x="762000" y="3810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3F59FF"/>
                </a:solidFill>
                <a:latin typeface="Open Sans"/>
                <a:ea typeface="Open Sans"/>
                <a:cs typeface="Open Sans"/>
              </a:rPr>
              <a:t>BLOCKER 1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DF67666-A1AA-BC40-8DA4-95D4D5678E61}"/>
              </a:ext>
            </a:extLst>
          </p:cNvPr>
          <p:cNvSpPr txBox="1"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  <a:latin typeface="Open Sans"/>
                <a:ea typeface="Open Sans"/>
                <a:cs typeface="Open Sans"/>
              </a:rPr>
              <a:t>Sinkende Produktivität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DC6E389-7C1A-3247-A10A-4869EA0C11F7}"/>
              </a:ext>
            </a:extLst>
          </p:cNvPr>
          <p:cNvSpPr txBox="1"/>
          <p:nvPr/>
        </p:nvSpPr>
        <p:spPr>
          <a:xfrm>
            <a:off x="1016000" y="1524000"/>
            <a:ext cx="4445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8000" b="1">
                <a:solidFill>
                  <a:srgbClr val="3F59FF"/>
                </a:solidFill>
                <a:latin typeface="Open Sans"/>
                <a:ea typeface="Open Sans"/>
                <a:cs typeface="Open Sans"/>
              </a:rPr>
              <a:t>17,3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22C788A-C352-9D42-B78B-DA2E4968D0E8}"/>
              </a:ext>
            </a:extLst>
          </p:cNvPr>
          <p:cNvSpPr txBox="1"/>
          <p:nvPr/>
        </p:nvSpPr>
        <p:spPr>
          <a:xfrm>
            <a:off x="1016000" y="2984500"/>
            <a:ext cx="444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212121"/>
                </a:solidFill>
                <a:latin typeface="Open Sans"/>
                <a:ea typeface="Open Sans"/>
                <a:cs typeface="Open Sans"/>
              </a:rPr>
              <a:t>Stunden pro Woche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A61542F-8609-D741-8DA8-C10EBB36C1AD}"/>
              </a:ext>
            </a:extLst>
          </p:cNvPr>
          <p:cNvSpPr txBox="1"/>
          <p:nvPr/>
        </p:nvSpPr>
        <p:spPr>
          <a:xfrm>
            <a:off x="1016000" y="3492500"/>
            <a:ext cx="4445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...verbringt der durchschnittliche
Entwickler mit Tech Debt und Wartung.
Das ist fast die Hälfte der
Arbeitswoche. (McKinsey)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0420B27-5F68-214F-A224-D6675DE0B85D}"/>
              </a:ext>
            </a:extLst>
          </p:cNvPr>
          <p:cNvSpPr/>
          <p:nvPr/>
        </p:nvSpPr>
        <p:spPr>
          <a:xfrm>
            <a:off x="7366000" y="1651000"/>
            <a:ext cx="1905000" cy="1016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Wartung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0800AF6-C2CC-314C-B961-4258F1D67B91}"/>
              </a:ext>
            </a:extLst>
          </p:cNvPr>
          <p:cNvSpPr/>
          <p:nvPr/>
        </p:nvSpPr>
        <p:spPr>
          <a:xfrm>
            <a:off x="8890000" y="3556000"/>
            <a:ext cx="1905000" cy="10160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Weniger
Innovation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AC543E-FB33-BA49-88CE-C2EA6EB0AEB9}"/>
              </a:ext>
            </a:extLst>
          </p:cNvPr>
          <p:cNvSpPr/>
          <p:nvPr/>
        </p:nvSpPr>
        <p:spPr>
          <a:xfrm>
            <a:off x="6731000" y="4826000"/>
            <a:ext cx="1905000" cy="10160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Mehr
Tech Debt</a:t>
            </a:r>
          </a:p>
        </p:txBody>
      </p:sp>
    </p:spTree>
    <p:extLst>
      <p:ext uri="{BB962C8B-B14F-4D97-AF65-F5344CB8AC3E}">
        <p14:creationId xmlns:p14="http://schemas.microsoft.com/office/powerpoint/2010/main" val="2925863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1D2665B-9EBD-6C46-B855-A3F398ADE7A8}"/>
              </a:ext>
            </a:extLst>
          </p:cNvPr>
          <p:cNvSpPr txBox="1"/>
          <p:nvPr/>
        </p:nvSpPr>
        <p:spPr>
          <a:xfrm>
            <a:off x="762000" y="3810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3F59FF"/>
                </a:solidFill>
              </a:rPr>
              <a:t>BLOCKER 2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F72ACB6-5D26-EE48-AF01-E7538E9C2B68}"/>
              </a:ext>
            </a:extLst>
          </p:cNvPr>
          <p:cNvSpPr txBox="1"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Talent-Knappheit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532F100F-B697-1D4D-BD82-583DC06CD65C}"/>
              </a:ext>
            </a:extLst>
          </p:cNvPr>
          <p:cNvSpPr/>
          <p:nvPr/>
        </p:nvSpPr>
        <p:spPr>
          <a:xfrm>
            <a:off x="762000" y="1651000"/>
            <a:ext cx="3429000" cy="4064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0560E6F-8C82-9B4D-93DF-98F072F3003C}"/>
              </a:ext>
            </a:extLst>
          </p:cNvPr>
          <p:cNvSpPr/>
          <p:nvPr/>
        </p:nvSpPr>
        <p:spPr>
          <a:xfrm>
            <a:off x="1968500" y="1968500"/>
            <a:ext cx="1016000" cy="1016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DDAEE01-79AA-1C47-8F45-4FAF799603D5}"/>
              </a:ext>
            </a:extLst>
          </p:cNvPr>
          <p:cNvSpPr txBox="1"/>
          <p:nvPr/>
        </p:nvSpPr>
        <p:spPr>
          <a:xfrm>
            <a:off x="952500" y="3238500"/>
            <a:ext cx="304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212B80"/>
                </a:solidFill>
              </a:rPr>
              <a:t>Nachwuchs fehlt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7097868-CA83-444D-B5E2-BC216A8C61AB}"/>
              </a:ext>
            </a:extLst>
          </p:cNvPr>
          <p:cNvSpPr txBox="1"/>
          <p:nvPr/>
        </p:nvSpPr>
        <p:spPr>
          <a:xfrm>
            <a:off x="952500" y="3746500"/>
            <a:ext cx="3048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Junge Entwickler lernen
moderne Sprachen —
nicht COBOL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EE380CC0-2054-7943-9369-C6D3E6EBE387}"/>
              </a:ext>
            </a:extLst>
          </p:cNvPr>
          <p:cNvSpPr/>
          <p:nvPr/>
        </p:nvSpPr>
        <p:spPr>
          <a:xfrm>
            <a:off x="4572000" y="1651000"/>
            <a:ext cx="3429000" cy="4064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5FEAAB-F7E7-D143-A30D-2D544A9D7AC2}"/>
              </a:ext>
            </a:extLst>
          </p:cNvPr>
          <p:cNvSpPr/>
          <p:nvPr/>
        </p:nvSpPr>
        <p:spPr>
          <a:xfrm>
            <a:off x="5778500" y="1968500"/>
            <a:ext cx="1016000" cy="10160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/>
            <a:r>
              <a:rPr lang="de-DE" dirty="0"/>
              <a:t>2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0B02BA0-649B-954E-B9C4-47D5FA883786}"/>
              </a:ext>
            </a:extLst>
          </p:cNvPr>
          <p:cNvSpPr txBox="1"/>
          <p:nvPr/>
        </p:nvSpPr>
        <p:spPr>
          <a:xfrm>
            <a:off x="4762500" y="3238500"/>
            <a:ext cx="304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212B80"/>
                </a:solidFill>
              </a:rPr>
              <a:t>Recruiting-Aufwand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D8D2FC3-C3D3-E349-B43D-0126617EC738}"/>
              </a:ext>
            </a:extLst>
          </p:cNvPr>
          <p:cNvSpPr txBox="1"/>
          <p:nvPr/>
        </p:nvSpPr>
        <p:spPr>
          <a:xfrm>
            <a:off x="4762500" y="3746500"/>
            <a:ext cx="3048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Legacy-Positionen:
Monate Recruiting +
Monate Einarbeitung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83F3FD8C-5960-9B45-9E65-3BAA14A7F9ED}"/>
              </a:ext>
            </a:extLst>
          </p:cNvPr>
          <p:cNvSpPr/>
          <p:nvPr/>
        </p:nvSpPr>
        <p:spPr>
          <a:xfrm>
            <a:off x="8382000" y="1651000"/>
            <a:ext cx="3429000" cy="4064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ADD2D87-9D8E-5547-A16C-B6591531025C}"/>
              </a:ext>
            </a:extLst>
          </p:cNvPr>
          <p:cNvSpPr/>
          <p:nvPr/>
        </p:nvSpPr>
        <p:spPr>
          <a:xfrm>
            <a:off x="9588500" y="1968500"/>
            <a:ext cx="1016000" cy="10160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/>
            <a:r>
              <a:rPr lang="de-DE" dirty="0"/>
              <a:t>3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1F16D85-F52C-C445-A0B8-29AD662162D5}"/>
              </a:ext>
            </a:extLst>
          </p:cNvPr>
          <p:cNvSpPr txBox="1"/>
          <p:nvPr/>
        </p:nvSpPr>
        <p:spPr>
          <a:xfrm>
            <a:off x="8572500" y="3238500"/>
            <a:ext cx="304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212B80"/>
                </a:solidFill>
              </a:rPr>
              <a:t>Bus-Faktor!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D0B9CAC-92CC-A943-A7BF-97FF481C2FB6}"/>
              </a:ext>
            </a:extLst>
          </p:cNvPr>
          <p:cNvSpPr txBox="1"/>
          <p:nvPr/>
        </p:nvSpPr>
        <p:spPr>
          <a:xfrm>
            <a:off x="8572500" y="3746500"/>
            <a:ext cx="3048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Wissen in den Köpfen
einzelner Experten —
nicht dokumentiert</a:t>
            </a:r>
          </a:p>
        </p:txBody>
      </p:sp>
    </p:spTree>
    <p:extLst>
      <p:ext uri="{BB962C8B-B14F-4D97-AF65-F5344CB8AC3E}">
        <p14:creationId xmlns:p14="http://schemas.microsoft.com/office/powerpoint/2010/main" val="2883837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A16CE84-340B-DE46-B7B4-D683704E705C}"/>
              </a:ext>
            </a:extLst>
          </p:cNvPr>
          <p:cNvSpPr txBox="1"/>
          <p:nvPr/>
        </p:nvSpPr>
        <p:spPr>
          <a:xfrm>
            <a:off x="762000" y="3810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3F59FF"/>
                </a:solidFill>
              </a:rPr>
              <a:t>BLOCKER 3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038B939-F6B6-3445-93DC-650A98F95392}"/>
              </a:ext>
            </a:extLst>
          </p:cNvPr>
          <p:cNvSpPr txBox="1"/>
          <p:nvPr/>
        </p:nvSpPr>
        <p:spPr>
          <a:xfrm>
            <a:off x="762000" y="6985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Security &amp; Compliance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76469BD2-14BE-0B4F-8ABD-EA7AAB4DF0B1}"/>
              </a:ext>
            </a:extLst>
          </p:cNvPr>
          <p:cNvSpPr/>
          <p:nvPr/>
        </p:nvSpPr>
        <p:spPr>
          <a:xfrm>
            <a:off x="762000" y="1651000"/>
            <a:ext cx="5334000" cy="1270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648DDA2-1523-C546-856C-AAD7ADF01515}"/>
              </a:ext>
            </a:extLst>
          </p:cNvPr>
          <p:cNvSpPr txBox="1"/>
          <p:nvPr/>
        </p:nvSpPr>
        <p:spPr>
          <a:xfrm>
            <a:off x="1016000" y="1714500"/>
            <a:ext cx="152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4800" b="1">
                <a:solidFill>
                  <a:srgbClr val="FFD440"/>
                </a:solidFill>
              </a:rPr>
              <a:t>70%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B82D058-CFD4-FB4E-A0A8-AB0ABDDB90C2}"/>
              </a:ext>
            </a:extLst>
          </p:cNvPr>
          <p:cNvSpPr txBox="1"/>
          <p:nvPr/>
        </p:nvSpPr>
        <p:spPr>
          <a:xfrm>
            <a:off x="2540000" y="1803400"/>
            <a:ext cx="3302000" cy="61555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dirty="0">
                <a:solidFill>
                  <a:srgbClr val="FFFFFF"/>
                </a:solidFill>
              </a:rPr>
              <a:t>nennen Tech </a:t>
            </a:r>
            <a:r>
              <a:rPr lang="de-DE" sz="1700" dirty="0" err="1">
                <a:solidFill>
                  <a:srgbClr val="FFFFFF"/>
                </a:solidFill>
              </a:rPr>
              <a:t>Debt</a:t>
            </a:r>
            <a:r>
              <a:rPr lang="de-DE" sz="1700" dirty="0">
                <a:solidFill>
                  <a:srgbClr val="FFFFFF"/>
                </a:solidFill>
              </a:rPr>
              <a:t> als
Innovationsblocker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EE6C8A18-54A7-B842-A0D6-3775A9D9155A}"/>
              </a:ext>
            </a:extLst>
          </p:cNvPr>
          <p:cNvSpPr/>
          <p:nvPr/>
        </p:nvSpPr>
        <p:spPr>
          <a:xfrm>
            <a:off x="6350000" y="1651000"/>
            <a:ext cx="5334000" cy="1270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2D9B5E9-172C-104D-A9E5-A12B4B6CA1D0}"/>
              </a:ext>
            </a:extLst>
          </p:cNvPr>
          <p:cNvSpPr txBox="1"/>
          <p:nvPr/>
        </p:nvSpPr>
        <p:spPr>
          <a:xfrm>
            <a:off x="6604000" y="1714500"/>
            <a:ext cx="152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4800" b="1">
                <a:solidFill>
                  <a:srgbClr val="FFD440"/>
                </a:solidFill>
              </a:rPr>
              <a:t>82%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C9A05CB-B9AC-3746-81E8-FAC4F4BA4A2E}"/>
              </a:ext>
            </a:extLst>
          </p:cNvPr>
          <p:cNvSpPr txBox="1"/>
          <p:nvPr/>
        </p:nvSpPr>
        <p:spPr>
          <a:xfrm>
            <a:off x="8128000" y="1995557"/>
            <a:ext cx="3302000" cy="3539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dirty="0">
                <a:solidFill>
                  <a:srgbClr val="FFFFFF"/>
                </a:solidFill>
              </a:rPr>
              <a:t>im Finanzwesen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E4AC421-2C58-CA4C-B0D2-D2E0E51D4F60}"/>
              </a:ext>
            </a:extLst>
          </p:cNvPr>
          <p:cNvSpPr/>
          <p:nvPr/>
        </p:nvSpPr>
        <p:spPr>
          <a:xfrm>
            <a:off x="1016000" y="3530600"/>
            <a:ext cx="177800" cy="1778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929A07F-35C2-964B-AF30-7BBD7810BE6B}"/>
              </a:ext>
            </a:extLst>
          </p:cNvPr>
          <p:cNvSpPr txBox="1"/>
          <p:nvPr/>
        </p:nvSpPr>
        <p:spPr>
          <a:xfrm>
            <a:off x="1397000" y="3429000"/>
            <a:ext cx="990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Ungepatchte Sicherheitslücken in Systemen, die niemand anfassen will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17A346F-86E4-4D45-93B9-2C10EDC6965C}"/>
              </a:ext>
            </a:extLst>
          </p:cNvPr>
          <p:cNvSpPr/>
          <p:nvPr/>
        </p:nvSpPr>
        <p:spPr>
          <a:xfrm>
            <a:off x="1016000" y="4483100"/>
            <a:ext cx="177800" cy="1778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EBED8BF-DE65-F54C-9F9D-CDB867A1DE6D}"/>
              </a:ext>
            </a:extLst>
          </p:cNvPr>
          <p:cNvSpPr txBox="1"/>
          <p:nvPr/>
        </p:nvSpPr>
        <p:spPr>
          <a:xfrm>
            <a:off x="1397000" y="4381500"/>
            <a:ext cx="990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Wachsende Compliance-Anforderungen (DSGVO, PCI-DSS, SOX)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46725DA-487C-F743-ACC0-B69B6DEE95ED}"/>
              </a:ext>
            </a:extLst>
          </p:cNvPr>
          <p:cNvSpPr/>
          <p:nvPr/>
        </p:nvSpPr>
        <p:spPr>
          <a:xfrm>
            <a:off x="1016000" y="5435600"/>
            <a:ext cx="177800" cy="1778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4A17E42-F503-8146-92FB-D850D4770A54}"/>
              </a:ext>
            </a:extLst>
          </p:cNvPr>
          <p:cNvSpPr txBox="1"/>
          <p:nvPr/>
        </p:nvSpPr>
        <p:spPr>
          <a:xfrm>
            <a:off x="1397000" y="5334000"/>
            <a:ext cx="990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Legacy-Systeme bleiben statisch — Anforderungen wachsen exponentiell</a:t>
            </a:r>
          </a:p>
        </p:txBody>
      </p:sp>
    </p:spTree>
    <p:extLst>
      <p:ext uri="{BB962C8B-B14F-4D97-AF65-F5344CB8AC3E}">
        <p14:creationId xmlns:p14="http://schemas.microsoft.com/office/powerpoint/2010/main" val="623535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E241AD3-7D34-714F-A35F-C345CC256384}"/>
              </a:ext>
            </a:extLst>
          </p:cNvPr>
          <p:cNvSpPr txBox="1"/>
          <p:nvPr/>
        </p:nvSpPr>
        <p:spPr>
          <a:xfrm>
            <a:off x="762000" y="3810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D440"/>
                </a:solidFill>
              </a:rPr>
              <a:t>DIE LÖSUNG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5E77A44-9E99-9C49-9668-D73EE87984EA}"/>
              </a:ext>
            </a:extLst>
          </p:cNvPr>
          <p:cNvSpPr txBox="1"/>
          <p:nvPr/>
        </p:nvSpPr>
        <p:spPr>
          <a:xfrm>
            <a:off x="762000" y="698500"/>
            <a:ext cx="889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Agentic Code Modernization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59485451-17FD-A84A-9ADF-E1605AAF4E91}"/>
              </a:ext>
            </a:extLst>
          </p:cNvPr>
          <p:cNvSpPr/>
          <p:nvPr/>
        </p:nvSpPr>
        <p:spPr>
          <a:xfrm>
            <a:off x="762000" y="1524000"/>
            <a:ext cx="10668000" cy="762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700">
                <a:solidFill>
                  <a:srgbClr val="212121"/>
                </a:solidFill>
              </a:rPr>
              <a:t>Nicht Lift-and-Shift. Sondern: KI-Agents die systematisch modernisieren während der Betrieb weiterläuft.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C15F8A73-5793-A948-8E2B-9F097234B1F9}"/>
              </a:ext>
            </a:extLst>
          </p:cNvPr>
          <p:cNvSpPr/>
          <p:nvPr/>
        </p:nvSpPr>
        <p:spPr>
          <a:xfrm>
            <a:off x="762000" y="2921000"/>
            <a:ext cx="2794000" cy="2794000"/>
          </a:xfrm>
          <a:prstGeom prst="round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FF72481-8DCC-134C-93E7-1F9A30C2CFBA}"/>
              </a:ext>
            </a:extLst>
          </p:cNvPr>
          <p:cNvSpPr txBox="1"/>
          <p:nvPr/>
        </p:nvSpPr>
        <p:spPr>
          <a:xfrm>
            <a:off x="1016000" y="3302000"/>
            <a:ext cx="228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Legacy
System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A55D620-BD51-3B4F-A834-5B7DFD420460}"/>
              </a:ext>
            </a:extLst>
          </p:cNvPr>
          <p:cNvSpPr txBox="1"/>
          <p:nvPr/>
        </p:nvSpPr>
        <p:spPr>
          <a:xfrm>
            <a:off x="952500" y="4191000"/>
            <a:ext cx="2413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COBOL / C / VB6
Mainframe
Batch-Verarbeitung</a:t>
            </a:r>
          </a:p>
        </p:txBody>
      </p:sp>
      <p:sp>
        <p:nvSpPr>
          <p:cNvPr id="8" name="Pfeil nach rechts 7">
            <a:extLst>
              <a:ext uri="{FF2B5EF4-FFF2-40B4-BE49-F238E27FC236}">
                <a16:creationId xmlns:a16="http://schemas.microsoft.com/office/drawing/2014/main" id="{F98BB729-D478-674E-B558-FBE9AA1AF2E8}"/>
              </a:ext>
            </a:extLst>
          </p:cNvPr>
          <p:cNvSpPr/>
          <p:nvPr/>
        </p:nvSpPr>
        <p:spPr>
          <a:xfrm>
            <a:off x="3873500" y="3937000"/>
            <a:ext cx="1016000" cy="635000"/>
          </a:xfrm>
          <a:prstGeom prst="right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BF5F2F1D-364C-D54A-940E-E8CFAA09E4B5}"/>
              </a:ext>
            </a:extLst>
          </p:cNvPr>
          <p:cNvSpPr/>
          <p:nvPr/>
        </p:nvSpPr>
        <p:spPr>
          <a:xfrm>
            <a:off x="5080000" y="2921000"/>
            <a:ext cx="2286000" cy="2794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6D234ED-211D-334A-855E-1DDD8AA1943D}"/>
              </a:ext>
            </a:extLst>
          </p:cNvPr>
          <p:cNvSpPr txBox="1"/>
          <p:nvPr/>
        </p:nvSpPr>
        <p:spPr>
          <a:xfrm>
            <a:off x="5207000" y="3302000"/>
            <a:ext cx="203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KI Agent
analysiert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AB85FFB-9DAE-3641-A9C0-A8062CC70404}"/>
              </a:ext>
            </a:extLst>
          </p:cNvPr>
          <p:cNvSpPr txBox="1"/>
          <p:nvPr/>
        </p:nvSpPr>
        <p:spPr>
          <a:xfrm>
            <a:off x="5207000" y="4191000"/>
            <a:ext cx="2032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E8EAFF"/>
                </a:solidFill>
              </a:rPr>
              <a:t>Versteht Code
Extrahiert Logik
Generiert Tests</a:t>
            </a:r>
          </a:p>
        </p:txBody>
      </p:sp>
      <p:sp>
        <p:nvSpPr>
          <p:cNvPr id="12" name="Pfeil nach rechts 11">
            <a:extLst>
              <a:ext uri="{FF2B5EF4-FFF2-40B4-BE49-F238E27FC236}">
                <a16:creationId xmlns:a16="http://schemas.microsoft.com/office/drawing/2014/main" id="{9CBDFE89-388A-1741-9AAF-9BDEB408891B}"/>
              </a:ext>
            </a:extLst>
          </p:cNvPr>
          <p:cNvSpPr/>
          <p:nvPr/>
        </p:nvSpPr>
        <p:spPr>
          <a:xfrm>
            <a:off x="7620000" y="3937000"/>
            <a:ext cx="1016000" cy="635000"/>
          </a:xfrm>
          <a:prstGeom prst="right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D427EF51-5590-3C49-951B-71C898331114}"/>
              </a:ext>
            </a:extLst>
          </p:cNvPr>
          <p:cNvSpPr/>
          <p:nvPr/>
        </p:nvSpPr>
        <p:spPr>
          <a:xfrm>
            <a:off x="8890000" y="2921000"/>
            <a:ext cx="2794000" cy="2794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A7842DE-9ED1-F84F-8A54-EF6940593FBB}"/>
              </a:ext>
            </a:extLst>
          </p:cNvPr>
          <p:cNvSpPr txBox="1"/>
          <p:nvPr/>
        </p:nvSpPr>
        <p:spPr>
          <a:xfrm>
            <a:off x="9144000" y="3302000"/>
            <a:ext cx="228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Modernes
System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EA71194-5060-FC4B-9A36-953DE5CD5296}"/>
              </a:ext>
            </a:extLst>
          </p:cNvPr>
          <p:cNvSpPr txBox="1"/>
          <p:nvPr/>
        </p:nvSpPr>
        <p:spPr>
          <a:xfrm>
            <a:off x="9080500" y="4191000"/>
            <a:ext cx="2413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Java / Spring Boot
Cloud-native
Echtzeit + CI/CD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3E44EEA-1971-7D47-A3A2-C56A4B0F7850}"/>
              </a:ext>
            </a:extLst>
          </p:cNvPr>
          <p:cNvSpPr txBox="1"/>
          <p:nvPr/>
        </p:nvSpPr>
        <p:spPr>
          <a:xfrm>
            <a:off x="3175000" y="5969000"/>
            <a:ext cx="5842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</a:rPr>
              <a:t>▲  Betrieb läuft parallel weiter  ▲</a:t>
            </a:r>
          </a:p>
        </p:txBody>
      </p:sp>
    </p:spTree>
    <p:extLst>
      <p:ext uri="{BB962C8B-B14F-4D97-AF65-F5344CB8AC3E}">
        <p14:creationId xmlns:p14="http://schemas.microsoft.com/office/powerpoint/2010/main" val="3177319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7D7CE74-1E87-2649-A8DA-6A063DA65C57}"/>
              </a:ext>
            </a:extLst>
          </p:cNvPr>
          <p:cNvSpPr txBox="1"/>
          <p:nvPr/>
        </p:nvSpPr>
        <p:spPr>
          <a:xfrm>
            <a:off x="762000" y="3810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Die 3 Säulen der Modernisierung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A810E1C-9536-4D4C-AF30-56B024CF3913}"/>
              </a:ext>
            </a:extLst>
          </p:cNvPr>
          <p:cNvSpPr/>
          <p:nvPr/>
        </p:nvSpPr>
        <p:spPr>
          <a:xfrm>
            <a:off x="762000" y="10160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82640E95-2408-984D-94DE-C7E18C06E94A}"/>
              </a:ext>
            </a:extLst>
          </p:cNvPr>
          <p:cNvSpPr/>
          <p:nvPr/>
        </p:nvSpPr>
        <p:spPr>
          <a:xfrm>
            <a:off x="762000" y="1397000"/>
            <a:ext cx="3492500" cy="469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4BA7D0C-40FF-D84D-B4B4-1A93B5F85C2A}"/>
              </a:ext>
            </a:extLst>
          </p:cNvPr>
          <p:cNvSpPr/>
          <p:nvPr/>
        </p:nvSpPr>
        <p:spPr>
          <a:xfrm>
            <a:off x="2032000" y="1651000"/>
            <a:ext cx="889000" cy="889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800" b="1" dirty="0">
                <a:solidFill>
                  <a:srgbClr val="FFFFFF"/>
                </a:solidFill>
              </a:rPr>
              <a:t> 1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AE36F7D-E99A-CA4F-BF83-8BD07A75F694}"/>
              </a:ext>
            </a:extLst>
          </p:cNvPr>
          <p:cNvSpPr txBox="1"/>
          <p:nvPr/>
        </p:nvSpPr>
        <p:spPr>
          <a:xfrm>
            <a:off x="952500" y="2730500"/>
            <a:ext cx="3111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Architektur-
Transformation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48EB2BE-E793-1145-91F9-5D917CB20A7E}"/>
              </a:ext>
            </a:extLst>
          </p:cNvPr>
          <p:cNvSpPr/>
          <p:nvPr/>
        </p:nvSpPr>
        <p:spPr>
          <a:xfrm>
            <a:off x="1841500" y="3556000"/>
            <a:ext cx="1270000" cy="381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B0B3626-2E07-0A46-9E1E-407609E944C1}"/>
              </a:ext>
            </a:extLst>
          </p:cNvPr>
          <p:cNvSpPr txBox="1"/>
          <p:nvPr/>
        </p:nvSpPr>
        <p:spPr>
          <a:xfrm>
            <a:off x="952500" y="3810000"/>
            <a:ext cx="31115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Monolith → Microservices
Batch → Echtzeit
Tight Coupling → Events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F7C942F4-7C44-5242-A302-22403ABCCA2B}"/>
              </a:ext>
            </a:extLst>
          </p:cNvPr>
          <p:cNvSpPr/>
          <p:nvPr/>
        </p:nvSpPr>
        <p:spPr>
          <a:xfrm>
            <a:off x="4572000" y="1397000"/>
            <a:ext cx="3492500" cy="469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BCFE3CA-7E0D-E940-A7D1-63FBD617AC5E}"/>
              </a:ext>
            </a:extLst>
          </p:cNvPr>
          <p:cNvSpPr/>
          <p:nvPr/>
        </p:nvSpPr>
        <p:spPr>
          <a:xfrm>
            <a:off x="5842000" y="1651000"/>
            <a:ext cx="889000" cy="8890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800" b="1" dirty="0">
                <a:solidFill>
                  <a:srgbClr val="FFFFFF"/>
                </a:solidFill>
              </a:rPr>
              <a:t> 2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A9D3A80-D3D6-A44B-B77E-6F4161383AE5}"/>
              </a:ext>
            </a:extLst>
          </p:cNvPr>
          <p:cNvSpPr txBox="1"/>
          <p:nvPr/>
        </p:nvSpPr>
        <p:spPr>
          <a:xfrm>
            <a:off x="4762500" y="2730500"/>
            <a:ext cx="3111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Tech-Stack-
Modernisierung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7DC5CC3-7544-8D4D-875F-B14AD0B90A73}"/>
              </a:ext>
            </a:extLst>
          </p:cNvPr>
          <p:cNvSpPr/>
          <p:nvPr/>
        </p:nvSpPr>
        <p:spPr>
          <a:xfrm>
            <a:off x="5651500" y="3556000"/>
            <a:ext cx="1270000" cy="38100"/>
          </a:xfrm>
          <a:prstGeom prst="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527F73A-C402-3343-9BB0-076380EA06AE}"/>
              </a:ext>
            </a:extLst>
          </p:cNvPr>
          <p:cNvSpPr txBox="1"/>
          <p:nvPr/>
        </p:nvSpPr>
        <p:spPr>
          <a:xfrm>
            <a:off x="4762500" y="3810000"/>
            <a:ext cx="3302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dirty="0">
                <a:solidFill>
                  <a:srgbClr val="555555"/>
                </a:solidFill>
              </a:rPr>
              <a:t>COBOL/C/VB6 → Java/</a:t>
            </a:r>
            <a:r>
              <a:rPr lang="de-DE" sz="1600" dirty="0" err="1">
                <a:solidFill>
                  <a:srgbClr val="555555"/>
                </a:solidFill>
              </a:rPr>
              <a:t>TypeScript</a:t>
            </a:r>
            <a:r>
              <a:rPr lang="de-DE" sz="1600" dirty="0">
                <a:solidFill>
                  <a:srgbClr val="555555"/>
                </a:solidFill>
              </a:rPr>
              <a:t>
Mainframe → Cloud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F6233831-AAB5-4F48-8860-C669BC130A0D}"/>
              </a:ext>
            </a:extLst>
          </p:cNvPr>
          <p:cNvSpPr/>
          <p:nvPr/>
        </p:nvSpPr>
        <p:spPr>
          <a:xfrm>
            <a:off x="8382000" y="1397000"/>
            <a:ext cx="3492500" cy="469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47C21A1-9539-8242-9389-BF631A4116EA}"/>
              </a:ext>
            </a:extLst>
          </p:cNvPr>
          <p:cNvSpPr/>
          <p:nvPr/>
        </p:nvSpPr>
        <p:spPr>
          <a:xfrm>
            <a:off x="9652000" y="1651000"/>
            <a:ext cx="889000" cy="8890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800" b="1" dirty="0">
                <a:solidFill>
                  <a:srgbClr val="FFFFFF"/>
                </a:solidFill>
              </a:rPr>
              <a:t> 3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544C2F7-9219-4747-82A1-4A73F72435FC}"/>
              </a:ext>
            </a:extLst>
          </p:cNvPr>
          <p:cNvSpPr txBox="1"/>
          <p:nvPr/>
        </p:nvSpPr>
        <p:spPr>
          <a:xfrm>
            <a:off x="8572500" y="2730500"/>
            <a:ext cx="3111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Entwicklungspraxis-
Evolution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E5B58A7-5A1B-CA41-B5D0-FD9775442663}"/>
              </a:ext>
            </a:extLst>
          </p:cNvPr>
          <p:cNvSpPr/>
          <p:nvPr/>
        </p:nvSpPr>
        <p:spPr>
          <a:xfrm>
            <a:off x="9461500" y="3556000"/>
            <a:ext cx="1270000" cy="38100"/>
          </a:xfrm>
          <a:prstGeom prst="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5DB3FF8-D8EA-344F-9972-9357CBA9B8B6}"/>
              </a:ext>
            </a:extLst>
          </p:cNvPr>
          <p:cNvSpPr txBox="1"/>
          <p:nvPr/>
        </p:nvSpPr>
        <p:spPr>
          <a:xfrm>
            <a:off x="8572500" y="3810000"/>
            <a:ext cx="31115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Wasserfall → CI/CD
Manuell → Automatisiert
Silo → DevOps</a:t>
            </a:r>
          </a:p>
        </p:txBody>
      </p:sp>
    </p:spTree>
    <p:extLst>
      <p:ext uri="{BB962C8B-B14F-4D97-AF65-F5344CB8AC3E}">
        <p14:creationId xmlns:p14="http://schemas.microsoft.com/office/powerpoint/2010/main" val="67184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949CA85-47FA-BD4D-9834-B04519653214}"/>
              </a:ext>
            </a:extLst>
          </p:cNvPr>
          <p:cNvSpPr txBox="1"/>
          <p:nvPr/>
        </p:nvSpPr>
        <p:spPr>
          <a:xfrm>
            <a:off x="762000" y="190500"/>
            <a:ext cx="317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3F59FF"/>
                </a:solidFill>
              </a:rPr>
              <a:t>PRAXIS-BEISPIEL A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6B78C2D-CEF4-B14D-9779-A545683A2215}"/>
              </a:ext>
            </a:extLst>
          </p:cNvPr>
          <p:cNvSpPr txBox="1"/>
          <p:nvPr/>
        </p:nvSpPr>
        <p:spPr>
          <a:xfrm>
            <a:off x="762000" y="482600"/>
            <a:ext cx="635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212B80"/>
                </a:solidFill>
              </a:rPr>
              <a:t>C → Java (produktionsreif)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13FECE14-CB97-394E-A1F5-99B6D6C0A5E0}"/>
              </a:ext>
            </a:extLst>
          </p:cNvPr>
          <p:cNvSpPr/>
          <p:nvPr/>
        </p:nvSpPr>
        <p:spPr>
          <a:xfrm>
            <a:off x="381000" y="1079500"/>
            <a:ext cx="5588000" cy="3175000"/>
          </a:xfrm>
          <a:prstGeom prst="roundRect">
            <a:avLst/>
          </a:prstGeom>
          <a:solidFill>
            <a:srgbClr val="2D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12F4830-069D-5645-B5F0-51D63E0218B2}"/>
              </a:ext>
            </a:extLst>
          </p:cNvPr>
          <p:cNvSpPr txBox="1"/>
          <p:nvPr/>
        </p:nvSpPr>
        <p:spPr>
          <a:xfrm>
            <a:off x="508000" y="1117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6B6B"/>
                </a:solidFill>
              </a:rPr>
              <a:t>C — Vorher (FEHLER!)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92D5601-690F-2549-A580-AA086218B6F7}"/>
              </a:ext>
            </a:extLst>
          </p:cNvPr>
          <p:cNvSpPr txBox="1"/>
          <p:nvPr/>
        </p:nvSpPr>
        <p:spPr>
          <a:xfrm>
            <a:off x="508000" y="1460500"/>
            <a:ext cx="53340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E8EAFF"/>
                </a:solidFill>
                <a:latin typeface="Consolas"/>
                <a:cs typeface="Consolas"/>
              </a:rPr>
              <a:t>struct Claim {
  double claim_amount;  // FEHLER!
  char status[20];
  char category[30];
};
void process_claim(Claim* c) {
  c-&gt;claim_amount *= 1.05;
  // Kein Error-Handling
  // Kein Audit-Log
}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53FE74EF-411A-D345-96B9-E62211ADEC0D}"/>
              </a:ext>
            </a:extLst>
          </p:cNvPr>
          <p:cNvSpPr/>
          <p:nvPr/>
        </p:nvSpPr>
        <p:spPr>
          <a:xfrm>
            <a:off x="6223000" y="1079500"/>
            <a:ext cx="5715000" cy="3175000"/>
          </a:xfrm>
          <a:prstGeom prst="roundRect">
            <a:avLst/>
          </a:prstGeom>
          <a:solidFill>
            <a:srgbClr val="1A23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1BA8446-1C3F-D74E-882E-E5343EFDBCF7}"/>
              </a:ext>
            </a:extLst>
          </p:cNvPr>
          <p:cNvSpPr txBox="1"/>
          <p:nvPr/>
        </p:nvSpPr>
        <p:spPr>
          <a:xfrm>
            <a:off x="6350000" y="1117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4CAF50"/>
                </a:solidFill>
              </a:rPr>
              <a:t>Java — Nachher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56996A6-744E-F44F-AB18-3E1E7A55D45A}"/>
              </a:ext>
            </a:extLst>
          </p:cNvPr>
          <p:cNvSpPr txBox="1"/>
          <p:nvPr/>
        </p:nvSpPr>
        <p:spPr>
          <a:xfrm>
            <a:off x="6350000" y="1460500"/>
            <a:ext cx="5461000" cy="266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E8EAFF"/>
                </a:solidFill>
                <a:latin typeface="Consolas"/>
                <a:cs typeface="Consolas"/>
              </a:rPr>
              <a:t>@Transactional
public Claim process(Claim c) {
  BigDecimal amt = c.getAmount()
    .multiply(RATE_FACTOR);
  c.setAmount(amt.setScale(2,
    RoundingMode.HALF_UP));
  c.setStatus(Status.PROCESSED);
  auditLog.record(c, "PROCESS");
  eventBus.publish(new Event(c));
  return claimRepo.save(c);
}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F0D455BA-E6ED-394C-A28E-0C8B98FBEF9C}"/>
              </a:ext>
            </a:extLst>
          </p:cNvPr>
          <p:cNvSpPr/>
          <p:nvPr/>
        </p:nvSpPr>
        <p:spPr>
          <a:xfrm>
            <a:off x="381000" y="4381500"/>
            <a:ext cx="7239000" cy="10795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4E90086-CDCA-354E-84F7-5BC9F89C4BDB}"/>
              </a:ext>
            </a:extLst>
          </p:cNvPr>
          <p:cNvSpPr txBox="1"/>
          <p:nvPr/>
        </p:nvSpPr>
        <p:spPr>
          <a:xfrm>
            <a:off x="571500" y="4419600"/>
            <a:ext cx="254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212B80"/>
                </a:solidFill>
              </a:rPr>
              <a:t>Was KI geleistet hat: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128EB2E-1F9C-F245-A229-1D17BA128609}"/>
              </a:ext>
            </a:extLst>
          </p:cNvPr>
          <p:cNvSpPr txBox="1"/>
          <p:nvPr/>
        </p:nvSpPr>
        <p:spPr>
          <a:xfrm>
            <a:off x="571500" y="4762500"/>
            <a:ext cx="685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double → BigDecimal  |  char[] → Enum  |  Events ergänzt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2E9E4F64-E332-ED41-A6D0-62919A70367E}"/>
              </a:ext>
            </a:extLst>
          </p:cNvPr>
          <p:cNvSpPr/>
          <p:nvPr/>
        </p:nvSpPr>
        <p:spPr>
          <a:xfrm>
            <a:off x="7874000" y="4381500"/>
            <a:ext cx="4064000" cy="10795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BA2E520-DB14-2346-A27E-CF0C982C6E6B}"/>
              </a:ext>
            </a:extLst>
          </p:cNvPr>
          <p:cNvSpPr txBox="1"/>
          <p:nvPr/>
        </p:nvSpPr>
        <p:spPr>
          <a:xfrm>
            <a:off x="8064500" y="4470400"/>
            <a:ext cx="3683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 b="1">
                <a:solidFill>
                  <a:srgbClr val="212121"/>
                </a:solidFill>
              </a:rPr>
              <a:t>KI generiert Happy Path gut.
Error Handling + Audit müsst
ihr explizit anfordern.</a:t>
            </a:r>
          </a:p>
        </p:txBody>
      </p:sp>
      <p:sp>
        <p:nvSpPr>
          <p:cNvPr id="15" name="Pfeil nach rechts 14">
            <a:extLst>
              <a:ext uri="{FF2B5EF4-FFF2-40B4-BE49-F238E27FC236}">
                <a16:creationId xmlns:a16="http://schemas.microsoft.com/office/drawing/2014/main" id="{55205513-DE2C-1B4C-8BCA-79D7244A035D}"/>
              </a:ext>
            </a:extLst>
          </p:cNvPr>
          <p:cNvSpPr/>
          <p:nvPr/>
        </p:nvSpPr>
        <p:spPr>
          <a:xfrm>
            <a:off x="5867400" y="2413000"/>
            <a:ext cx="457200" cy="355600"/>
          </a:xfrm>
          <a:prstGeom prst="right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3481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2DEFD24-F009-C147-9804-2A0B9AE36462}"/>
              </a:ext>
            </a:extLst>
          </p:cNvPr>
          <p:cNvSpPr txBox="1"/>
          <p:nvPr/>
        </p:nvSpPr>
        <p:spPr>
          <a:xfrm>
            <a:off x="762000" y="190500"/>
            <a:ext cx="317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3F59FF"/>
                </a:solidFill>
              </a:rPr>
              <a:t>PRAXIS-BEISPIEL B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9D758D-62A3-8949-B9CF-E98BBF134CD4}"/>
              </a:ext>
            </a:extLst>
          </p:cNvPr>
          <p:cNvSpPr txBox="1"/>
          <p:nvPr/>
        </p:nvSpPr>
        <p:spPr>
          <a:xfrm>
            <a:off x="762000" y="482600"/>
            <a:ext cx="6350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 dirty="0">
                <a:solidFill>
                  <a:srgbClr val="212B80"/>
                </a:solidFill>
              </a:rPr>
              <a:t>Shell/FTP → REST API/</a:t>
            </a:r>
            <a:r>
              <a:rPr lang="de-DE" sz="2800" b="1" dirty="0" err="1">
                <a:solidFill>
                  <a:srgbClr val="212B80"/>
                </a:solidFill>
              </a:rPr>
              <a:t>Streamdata</a:t>
            </a:r>
            <a:endParaRPr lang="de-DE" sz="2800" b="1" dirty="0">
              <a:solidFill>
                <a:srgbClr val="212B80"/>
              </a:solidFill>
            </a:endParaRP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BB5BA265-5484-2C44-B480-718CBB5EB93A}"/>
              </a:ext>
            </a:extLst>
          </p:cNvPr>
          <p:cNvSpPr/>
          <p:nvPr/>
        </p:nvSpPr>
        <p:spPr>
          <a:xfrm>
            <a:off x="508000" y="1206500"/>
            <a:ext cx="5334000" cy="3556000"/>
          </a:xfrm>
          <a:prstGeom prst="roundRect">
            <a:avLst/>
          </a:prstGeom>
          <a:solidFill>
            <a:srgbClr val="FFF0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D0EB08F-B86A-0047-8D22-0281475BF67B}"/>
              </a:ext>
            </a:extLst>
          </p:cNvPr>
          <p:cNvSpPr txBox="1"/>
          <p:nvPr/>
        </p:nvSpPr>
        <p:spPr>
          <a:xfrm>
            <a:off x="698500" y="1270000"/>
            <a:ext cx="127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FF6B6B"/>
                </a:solidFill>
              </a:rPr>
              <a:t>VORHER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CE4F7D5-96C9-084C-9845-EA6B68AF523D}"/>
              </a:ext>
            </a:extLst>
          </p:cNvPr>
          <p:cNvSpPr txBox="1"/>
          <p:nvPr/>
        </p:nvSpPr>
        <p:spPr>
          <a:xfrm>
            <a:off x="698500" y="1676400"/>
            <a:ext cx="4953000" cy="292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• Cron-Job läuft nachts um 2:00
• FTP-Upload auf Partnerserver
• Perl-Script parst Response
• 24h Verzögerung (Minimum)
• Kein Error-Handling
  (FTP timeout = Datenverlust)</a:t>
            </a:r>
          </a:p>
        </p:txBody>
      </p:sp>
      <p:sp>
        <p:nvSpPr>
          <p:cNvPr id="7" name="Pfeil nach rechts 6">
            <a:extLst>
              <a:ext uri="{FF2B5EF4-FFF2-40B4-BE49-F238E27FC236}">
                <a16:creationId xmlns:a16="http://schemas.microsoft.com/office/drawing/2014/main" id="{39EB9E13-DB27-304B-976E-1C1384C32752}"/>
              </a:ext>
            </a:extLst>
          </p:cNvPr>
          <p:cNvSpPr/>
          <p:nvPr/>
        </p:nvSpPr>
        <p:spPr>
          <a:xfrm>
            <a:off x="5969000" y="2667000"/>
            <a:ext cx="571500" cy="444500"/>
          </a:xfrm>
          <a:prstGeom prst="right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975F4A55-C3E8-D84B-BB4A-AFF95BAAE38E}"/>
              </a:ext>
            </a:extLst>
          </p:cNvPr>
          <p:cNvSpPr/>
          <p:nvPr/>
        </p:nvSpPr>
        <p:spPr>
          <a:xfrm>
            <a:off x="6667500" y="1206500"/>
            <a:ext cx="5143500" cy="3556000"/>
          </a:xfrm>
          <a:prstGeom prst="roundRect">
            <a:avLst/>
          </a:prstGeom>
          <a:solidFill>
            <a:srgbClr val="F0FF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AFC1B1A-1462-9942-8538-BBB1BC65A453}"/>
              </a:ext>
            </a:extLst>
          </p:cNvPr>
          <p:cNvSpPr txBox="1"/>
          <p:nvPr/>
        </p:nvSpPr>
        <p:spPr>
          <a:xfrm>
            <a:off x="6858000" y="1270000"/>
            <a:ext cx="152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4CAF50"/>
                </a:solidFill>
              </a:rPr>
              <a:t>NACHHER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BE6040F-3714-424B-A5A0-0F6DDF0CB2CA}"/>
              </a:ext>
            </a:extLst>
          </p:cNvPr>
          <p:cNvSpPr txBox="1"/>
          <p:nvPr/>
        </p:nvSpPr>
        <p:spPr>
          <a:xfrm>
            <a:off x="6858000" y="1676400"/>
            <a:ext cx="4762500" cy="255454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dirty="0">
                <a:solidFill>
                  <a:srgbClr val="212121"/>
                </a:solidFill>
              </a:rPr>
              <a:t>• REST API mit </a:t>
            </a:r>
            <a:r>
              <a:rPr lang="de-DE" sz="1600" dirty="0" err="1">
                <a:solidFill>
                  <a:srgbClr val="212121"/>
                </a:solidFill>
              </a:rPr>
              <a:t>OpenAPI-Spec</a:t>
            </a:r>
            <a:r>
              <a:rPr lang="de-DE" sz="1600" dirty="0">
                <a:solidFill>
                  <a:srgbClr val="212121"/>
                </a:solidFill>
              </a:rPr>
              <a:t>
• Echtzeit-Events
• </a:t>
            </a:r>
            <a:r>
              <a:rPr lang="de-DE" sz="1600" dirty="0" err="1">
                <a:solidFill>
                  <a:srgbClr val="212121"/>
                </a:solidFill>
              </a:rPr>
              <a:t>Retry</a:t>
            </a:r>
            <a:r>
              <a:rPr lang="de-DE" sz="1600" dirty="0">
                <a:solidFill>
                  <a:srgbClr val="212121"/>
                </a:solidFill>
              </a:rPr>
              <a:t>-Logik + Circuit Breaker
• Rückwärtskompatibilität
  (Legacy-Clients weiter bedient)
• Monitoring + </a:t>
            </a:r>
            <a:r>
              <a:rPr lang="de-DE" sz="1600" dirty="0" err="1">
                <a:solidFill>
                  <a:srgbClr val="212121"/>
                </a:solidFill>
              </a:rPr>
              <a:t>Alerting</a:t>
            </a:r>
            <a:endParaRPr lang="de-DE" sz="1600" dirty="0">
              <a:solidFill>
                <a:srgbClr val="212121"/>
              </a:solidFill>
            </a:endParaRP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D3565422-1105-DE4B-847F-4D758220CCF1}"/>
              </a:ext>
            </a:extLst>
          </p:cNvPr>
          <p:cNvSpPr/>
          <p:nvPr/>
        </p:nvSpPr>
        <p:spPr>
          <a:xfrm>
            <a:off x="508000" y="4953000"/>
            <a:ext cx="11303000" cy="6985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F1B0DB4-2567-1345-9D72-4B560C988854}"/>
              </a:ext>
            </a:extLst>
          </p:cNvPr>
          <p:cNvSpPr txBox="1"/>
          <p:nvPr/>
        </p:nvSpPr>
        <p:spPr>
          <a:xfrm>
            <a:off x="762000" y="5016500"/>
            <a:ext cx="10795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 dirty="0">
                <a:solidFill>
                  <a:srgbClr val="FFFFFF"/>
                </a:solidFill>
              </a:rPr>
              <a:t>Ergebnis: Echtzeit statt Batch  |  90% weniger Integrationsfehler</a:t>
            </a:r>
          </a:p>
        </p:txBody>
      </p:sp>
    </p:spTree>
    <p:extLst>
      <p:ext uri="{BB962C8B-B14F-4D97-AF65-F5344CB8AC3E}">
        <p14:creationId xmlns:p14="http://schemas.microsoft.com/office/powerpoint/2010/main" val="654945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DA93B7C-55FE-FA4C-BD8A-B58B428214F4}"/>
              </a:ext>
            </a:extLst>
          </p:cNvPr>
          <p:cNvSpPr txBox="1"/>
          <p:nvPr/>
        </p:nvSpPr>
        <p:spPr>
          <a:xfrm>
            <a:off x="762000" y="190500"/>
            <a:ext cx="3175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3F59FF"/>
                </a:solidFill>
              </a:rPr>
              <a:t>PRAXIS-BEISPIEL C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0627589-A14B-8D4E-8D31-EC11C1D13CBD}"/>
              </a:ext>
            </a:extLst>
          </p:cNvPr>
          <p:cNvSpPr txBox="1"/>
          <p:nvPr/>
        </p:nvSpPr>
        <p:spPr>
          <a:xfrm>
            <a:off x="762000" y="4826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212B80"/>
                </a:solidFill>
              </a:rPr>
              <a:t>Monolith → Microservices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D91AAD28-F820-124C-AD7A-5031E9B3BAFC}"/>
              </a:ext>
            </a:extLst>
          </p:cNvPr>
          <p:cNvSpPr/>
          <p:nvPr/>
        </p:nvSpPr>
        <p:spPr>
          <a:xfrm>
            <a:off x="635000" y="1397000"/>
            <a:ext cx="3302000" cy="4318000"/>
          </a:xfrm>
          <a:prstGeom prst="round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D6CC55B-1579-7C48-8C03-1225A83BBEAC}"/>
              </a:ext>
            </a:extLst>
          </p:cNvPr>
          <p:cNvSpPr txBox="1"/>
          <p:nvPr/>
        </p:nvSpPr>
        <p:spPr>
          <a:xfrm>
            <a:off x="825500" y="1524000"/>
            <a:ext cx="2921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MONOLITH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B1F64148-180A-B749-8798-5B112DBA6E53}"/>
              </a:ext>
            </a:extLst>
          </p:cNvPr>
          <p:cNvSpPr/>
          <p:nvPr/>
        </p:nvSpPr>
        <p:spPr>
          <a:xfrm>
            <a:off x="1016000" y="2095500"/>
            <a:ext cx="2540000" cy="533400"/>
          </a:xfrm>
          <a:prstGeom prst="roundRect">
            <a:avLst/>
          </a:prstGeom>
          <a:solidFill>
            <a:srgbClr val="CC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>
                <a:solidFill>
                  <a:srgbClr val="FFFFFF"/>
                </a:solidFill>
              </a:rPr>
              <a:t>Order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567C50DB-EB6E-3949-A01B-33ED9186822C}"/>
              </a:ext>
            </a:extLst>
          </p:cNvPr>
          <p:cNvSpPr/>
          <p:nvPr/>
        </p:nvSpPr>
        <p:spPr>
          <a:xfrm>
            <a:off x="1016000" y="2755900"/>
            <a:ext cx="2540000" cy="533400"/>
          </a:xfrm>
          <a:prstGeom prst="roundRect">
            <a:avLst/>
          </a:prstGeom>
          <a:solidFill>
            <a:srgbClr val="CC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458A0F70-C1CB-AC4E-B95E-3FDB326B5DE6}"/>
              </a:ext>
            </a:extLst>
          </p:cNvPr>
          <p:cNvSpPr/>
          <p:nvPr/>
        </p:nvSpPr>
        <p:spPr>
          <a:xfrm>
            <a:off x="1016000" y="3416300"/>
            <a:ext cx="2540000" cy="533400"/>
          </a:xfrm>
          <a:prstGeom prst="roundRect">
            <a:avLst/>
          </a:prstGeom>
          <a:solidFill>
            <a:srgbClr val="CC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>
                <a:solidFill>
                  <a:srgbClr val="FFFFFF"/>
                </a:solidFill>
              </a:rPr>
              <a:t>Settlement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126D128A-C3B9-944B-A7C8-5F6FB79CEAC6}"/>
              </a:ext>
            </a:extLst>
          </p:cNvPr>
          <p:cNvSpPr/>
          <p:nvPr/>
        </p:nvSpPr>
        <p:spPr>
          <a:xfrm>
            <a:off x="1016000" y="4076700"/>
            <a:ext cx="2540000" cy="533400"/>
          </a:xfrm>
          <a:prstGeom prst="roundRect">
            <a:avLst/>
          </a:prstGeom>
          <a:solidFill>
            <a:srgbClr val="CC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>
                <a:solidFill>
                  <a:srgbClr val="FFFFFF"/>
                </a:solidFill>
              </a:rPr>
              <a:t>Reporting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C39691CC-B270-7044-89DF-A37FCAE9CFFB}"/>
              </a:ext>
            </a:extLst>
          </p:cNvPr>
          <p:cNvSpPr/>
          <p:nvPr/>
        </p:nvSpPr>
        <p:spPr>
          <a:xfrm>
            <a:off x="1016000" y="4737100"/>
            <a:ext cx="2540000" cy="533400"/>
          </a:xfrm>
          <a:prstGeom prst="roundRect">
            <a:avLst/>
          </a:prstGeom>
          <a:solidFill>
            <a:srgbClr val="CC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11" name="Pfeil nach rechts 10">
            <a:extLst>
              <a:ext uri="{FF2B5EF4-FFF2-40B4-BE49-F238E27FC236}">
                <a16:creationId xmlns:a16="http://schemas.microsoft.com/office/drawing/2014/main" id="{C1C72E11-845B-FD48-9037-C7C5FB98DC4A}"/>
              </a:ext>
            </a:extLst>
          </p:cNvPr>
          <p:cNvSpPr/>
          <p:nvPr/>
        </p:nvSpPr>
        <p:spPr>
          <a:xfrm>
            <a:off x="4191000" y="3302000"/>
            <a:ext cx="762000" cy="508000"/>
          </a:xfrm>
          <a:prstGeom prst="rightArrow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E9342E3F-CDC4-7242-8472-1FF22A1A31F1}"/>
              </a:ext>
            </a:extLst>
          </p:cNvPr>
          <p:cNvSpPr/>
          <p:nvPr/>
        </p:nvSpPr>
        <p:spPr>
          <a:xfrm>
            <a:off x="5334000" y="1397000"/>
            <a:ext cx="2286000" cy="13335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Order
Service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B2840F9C-4135-5542-A876-4E4767EFEF3F}"/>
              </a:ext>
            </a:extLst>
          </p:cNvPr>
          <p:cNvSpPr/>
          <p:nvPr/>
        </p:nvSpPr>
        <p:spPr>
          <a:xfrm>
            <a:off x="5334000" y="3048000"/>
            <a:ext cx="2286000" cy="13335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Risk
Service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B04147BC-6AEA-AE4F-B23C-7EA80A546723}"/>
              </a:ext>
            </a:extLst>
          </p:cNvPr>
          <p:cNvSpPr/>
          <p:nvPr/>
        </p:nvSpPr>
        <p:spPr>
          <a:xfrm>
            <a:off x="5334000" y="4699000"/>
            <a:ext cx="2286000" cy="13335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Settlement
Service</a:t>
            </a:r>
          </a:p>
        </p:txBody>
      </p: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33CE6F03-D5CA-BA40-AB54-72484A6F8AF3}"/>
              </a:ext>
            </a:extLst>
          </p:cNvPr>
          <p:cNvSpPr/>
          <p:nvPr/>
        </p:nvSpPr>
        <p:spPr>
          <a:xfrm>
            <a:off x="8001000" y="1778000"/>
            <a:ext cx="3556000" cy="7620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700" b="1">
                <a:solidFill>
                  <a:srgbClr val="212121"/>
                </a:solidFill>
              </a:rPr>
              <a:t>Event Bus (Kafka)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B1106F4B-9F81-5046-80EC-F8696A88E3EC}"/>
              </a:ext>
            </a:extLst>
          </p:cNvPr>
          <p:cNvSpPr/>
          <p:nvPr/>
        </p:nvSpPr>
        <p:spPr>
          <a:xfrm>
            <a:off x="8001000" y="3048000"/>
            <a:ext cx="3556000" cy="1270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E3AF6A3-5713-9E45-A104-CC86BCD031A9}"/>
              </a:ext>
            </a:extLst>
          </p:cNvPr>
          <p:cNvSpPr txBox="1"/>
          <p:nvPr/>
        </p:nvSpPr>
        <p:spPr>
          <a:xfrm>
            <a:off x="8191500" y="3175000"/>
            <a:ext cx="3175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Settlement-Fehler
blockieren nicht mehr
Orders!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0F6F2DA-8A5D-A54B-9594-FE8D6E9DC48C}"/>
              </a:ext>
            </a:extLst>
          </p:cNvPr>
          <p:cNvSpPr txBox="1"/>
          <p:nvPr/>
        </p:nvSpPr>
        <p:spPr>
          <a:xfrm>
            <a:off x="8001000" y="4699000"/>
            <a:ext cx="3556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</a:rPr>
              <a:t>Event-driven Architecture</a:t>
            </a:r>
          </a:p>
        </p:txBody>
      </p:sp>
    </p:spTree>
    <p:extLst>
      <p:ext uri="{BB962C8B-B14F-4D97-AF65-F5344CB8AC3E}">
        <p14:creationId xmlns:p14="http://schemas.microsoft.com/office/powerpoint/2010/main" val="236105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3C18935-B174-D64C-BA53-2DC37548EC1B}"/>
              </a:ext>
            </a:extLst>
          </p:cNvPr>
          <p:cNvSpPr txBox="1"/>
          <p:nvPr/>
        </p:nvSpPr>
        <p:spPr>
          <a:xfrm>
            <a:off x="762000" y="3810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ROI der Modernisierung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D0AAA74-4205-9045-8AC8-80090E0BAAA9}"/>
              </a:ext>
            </a:extLst>
          </p:cNvPr>
          <p:cNvSpPr/>
          <p:nvPr/>
        </p:nvSpPr>
        <p:spPr>
          <a:xfrm>
            <a:off x="762000" y="10160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F43C5650-8CA7-4647-83F6-1544FEED9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171210"/>
              </p:ext>
            </p:extLst>
          </p:nvPr>
        </p:nvGraphicFramePr>
        <p:xfrm>
          <a:off x="762000" y="1270000"/>
          <a:ext cx="1066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1069168362"/>
                    </a:ext>
                  </a:extLst>
                </a:gridCol>
                <a:gridCol w="7493000">
                  <a:extLst>
                    <a:ext uri="{9D8B030D-6E8A-4147-A177-3AD203B41FA5}">
                      <a16:colId xmlns:a16="http://schemas.microsoft.com/office/drawing/2014/main" val="255978426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Dimension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Konkreter Nutzen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77177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Geschwindigkeit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Multi-Monats-Projekte → Wochen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33143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Sicherheit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Aktiv gewartete Stacks, regelmäßige Patches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70063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Wissenserhalt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KI generiert Doku aus Legacy-Code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0699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Finanziell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+14% Marktwert (Deloitte)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00502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de-DE" sz="1600" b="1">
                          <a:solidFill>
                            <a:srgbClr val="3F59FF"/>
                          </a:solidFill>
                          <a:latin typeface="Open Sans"/>
                          <a:ea typeface="Open Sans"/>
                          <a:cs typeface="Open Sans"/>
                        </a:rPr>
                        <a:t>Entwickler-Retention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>
                          <a:solidFill>
                            <a:srgbClr val="212121"/>
                          </a:solidFill>
                          <a:latin typeface="Open Sans"/>
                          <a:ea typeface="Open Sans"/>
                          <a:cs typeface="Open Sans"/>
                        </a:rPr>
                        <a:t>Moderne Stacks = bessere Kandidaten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160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2754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59E80D3-B216-ED48-9719-39D69394723C}"/>
              </a:ext>
            </a:extLst>
          </p:cNvPr>
          <p:cNvSpPr txBox="1"/>
          <p:nvPr/>
        </p:nvSpPr>
        <p:spPr>
          <a:xfrm>
            <a:off x="762000" y="3810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000" b="1">
                <a:solidFill>
                  <a:srgbClr val="212B80"/>
                </a:solidFill>
              </a:rPr>
              <a:t>Modernisierungs-Reifegradmodell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86E7892-3B01-E948-B98F-31EA971C4EEC}"/>
              </a:ext>
            </a:extLst>
          </p:cNvPr>
          <p:cNvSpPr/>
          <p:nvPr/>
        </p:nvSpPr>
        <p:spPr>
          <a:xfrm>
            <a:off x="762000" y="9906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5EF7354E-E940-A94E-9628-ACC918C390A1}"/>
              </a:ext>
            </a:extLst>
          </p:cNvPr>
          <p:cNvSpPr/>
          <p:nvPr/>
        </p:nvSpPr>
        <p:spPr>
          <a:xfrm>
            <a:off x="635000" y="4699000"/>
            <a:ext cx="2540000" cy="1524000"/>
          </a:xfrm>
          <a:prstGeom prst="round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F62C1CE-3B32-574D-A0B6-383F3F5D9B5C}"/>
              </a:ext>
            </a:extLst>
          </p:cNvPr>
          <p:cNvSpPr txBox="1"/>
          <p:nvPr/>
        </p:nvSpPr>
        <p:spPr>
          <a:xfrm>
            <a:off x="762000" y="4762500"/>
            <a:ext cx="50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D6511A6-9DBA-4E40-9E08-7D65D90B1124}"/>
              </a:ext>
            </a:extLst>
          </p:cNvPr>
          <p:cNvSpPr txBox="1"/>
          <p:nvPr/>
        </p:nvSpPr>
        <p:spPr>
          <a:xfrm>
            <a:off x="762000" y="5143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Ad hoc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B2C9201-5A3A-DB41-95E5-4D592550B5B0}"/>
              </a:ext>
            </a:extLst>
          </p:cNvPr>
          <p:cNvSpPr txBox="1"/>
          <p:nvPr/>
        </p:nvSpPr>
        <p:spPr>
          <a:xfrm>
            <a:off x="762000" y="5524500"/>
            <a:ext cx="228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Legacy nur bei Notfällen,
keine Dokumentation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B153BE12-0F89-344B-91F2-3CDBB803132D}"/>
              </a:ext>
            </a:extLst>
          </p:cNvPr>
          <p:cNvSpPr/>
          <p:nvPr/>
        </p:nvSpPr>
        <p:spPr>
          <a:xfrm>
            <a:off x="3302000" y="3683000"/>
            <a:ext cx="2540000" cy="15240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220F341-4406-DE45-93EF-6C63211D90F3}"/>
              </a:ext>
            </a:extLst>
          </p:cNvPr>
          <p:cNvSpPr txBox="1"/>
          <p:nvPr/>
        </p:nvSpPr>
        <p:spPr>
          <a:xfrm>
            <a:off x="3429000" y="3746500"/>
            <a:ext cx="50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9A54523-4661-3646-9744-B1B805228669}"/>
              </a:ext>
            </a:extLst>
          </p:cNvPr>
          <p:cNvSpPr txBox="1"/>
          <p:nvPr/>
        </p:nvSpPr>
        <p:spPr>
          <a:xfrm>
            <a:off x="3429000" y="4127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Geplant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16060CC-C8F3-7F47-ADEB-814E730ECB7B}"/>
              </a:ext>
            </a:extLst>
          </p:cNvPr>
          <p:cNvSpPr txBox="1"/>
          <p:nvPr/>
        </p:nvSpPr>
        <p:spPr>
          <a:xfrm>
            <a:off x="3429000" y="4508500"/>
            <a:ext cx="228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Jährliche Projekte,
politisch getrieben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EE8E963B-FCC7-F64C-A22B-1D2490D35245}"/>
              </a:ext>
            </a:extLst>
          </p:cNvPr>
          <p:cNvSpPr/>
          <p:nvPr/>
        </p:nvSpPr>
        <p:spPr>
          <a:xfrm>
            <a:off x="5969000" y="2667000"/>
            <a:ext cx="2540000" cy="1524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92F2F7D-5355-3449-B334-84D4BE442371}"/>
              </a:ext>
            </a:extLst>
          </p:cNvPr>
          <p:cNvSpPr txBox="1"/>
          <p:nvPr/>
        </p:nvSpPr>
        <p:spPr>
          <a:xfrm>
            <a:off x="6096000" y="2730500"/>
            <a:ext cx="50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8B17DC6-939C-EC45-AD98-E53BAFDF83E7}"/>
              </a:ext>
            </a:extLst>
          </p:cNvPr>
          <p:cNvSpPr txBox="1"/>
          <p:nvPr/>
        </p:nvSpPr>
        <p:spPr>
          <a:xfrm>
            <a:off x="6096000" y="3111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Systematisch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E34F38E-6920-AB4F-A5D4-77BD70340C0C}"/>
              </a:ext>
            </a:extLst>
          </p:cNvPr>
          <p:cNvSpPr txBox="1"/>
          <p:nvPr/>
        </p:nvSpPr>
        <p:spPr>
          <a:xfrm>
            <a:off x="6096000" y="3492500"/>
            <a:ext cx="228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Dedizierte Teams,
KI-Tools, standardisiert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C89B4CC1-1B06-1642-A401-785B87CF9B71}"/>
              </a:ext>
            </a:extLst>
          </p:cNvPr>
          <p:cNvSpPr/>
          <p:nvPr/>
        </p:nvSpPr>
        <p:spPr>
          <a:xfrm>
            <a:off x="8636000" y="1651000"/>
            <a:ext cx="2540000" cy="1524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57B21B8-2D62-7641-929D-6BC60B09C005}"/>
              </a:ext>
            </a:extLst>
          </p:cNvPr>
          <p:cNvSpPr txBox="1"/>
          <p:nvPr/>
        </p:nvSpPr>
        <p:spPr>
          <a:xfrm>
            <a:off x="8763000" y="1714500"/>
            <a:ext cx="50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CBAB4EB-298B-A24F-8E16-71116F6B875A}"/>
              </a:ext>
            </a:extLst>
          </p:cNvPr>
          <p:cNvSpPr txBox="1"/>
          <p:nvPr/>
        </p:nvSpPr>
        <p:spPr>
          <a:xfrm>
            <a:off x="8763000" y="2095500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Optimiert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56601F1-8E35-1740-82D5-0019EA26C18B}"/>
              </a:ext>
            </a:extLst>
          </p:cNvPr>
          <p:cNvSpPr txBox="1"/>
          <p:nvPr/>
        </p:nvSpPr>
        <p:spPr>
          <a:xfrm>
            <a:off x="8763000" y="2476500"/>
            <a:ext cx="228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</a:rPr>
              <a:t>KI-Agents scannen
proaktiv, ROI-getrieben</a:t>
            </a:r>
          </a:p>
        </p:txBody>
      </p:sp>
      <p:sp>
        <p:nvSpPr>
          <p:cNvPr id="20" name="Abgerundetes Rechteck 19">
            <a:extLst>
              <a:ext uri="{FF2B5EF4-FFF2-40B4-BE49-F238E27FC236}">
                <a16:creationId xmlns:a16="http://schemas.microsoft.com/office/drawing/2014/main" id="{644BF095-16CC-CD40-BF57-AAD834194543}"/>
              </a:ext>
            </a:extLst>
          </p:cNvPr>
          <p:cNvSpPr/>
          <p:nvPr/>
        </p:nvSpPr>
        <p:spPr>
          <a:xfrm>
            <a:off x="5969000" y="4318000"/>
            <a:ext cx="3302000" cy="5715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D440"/>
                </a:solidFill>
              </a:rPr>
              <a:t>Ziel: Mindestens Stufe 3</a:t>
            </a:r>
          </a:p>
        </p:txBody>
      </p:sp>
    </p:spTree>
    <p:extLst>
      <p:ext uri="{BB962C8B-B14F-4D97-AF65-F5344CB8AC3E}">
        <p14:creationId xmlns:p14="http://schemas.microsoft.com/office/powerpoint/2010/main" val="3707760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FA91077-B13A-EB42-9CD2-A3CC21607965}"/>
              </a:ext>
            </a:extLst>
          </p:cNvPr>
          <p:cNvSpPr txBox="1"/>
          <p:nvPr/>
        </p:nvSpPr>
        <p:spPr>
          <a:xfrm>
            <a:off x="762000" y="381000"/>
            <a:ext cx="508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Der Phasenplan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DC3A3D3-52E8-1B41-BC46-E532707559F9}"/>
              </a:ext>
            </a:extLst>
          </p:cNvPr>
          <p:cNvSpPr/>
          <p:nvPr/>
        </p:nvSpPr>
        <p:spPr>
          <a:xfrm>
            <a:off x="762000" y="9906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182E564-D66D-B54B-9B33-6F10E9A42874}"/>
              </a:ext>
            </a:extLst>
          </p:cNvPr>
          <p:cNvSpPr/>
          <p:nvPr/>
        </p:nvSpPr>
        <p:spPr>
          <a:xfrm>
            <a:off x="762000" y="2984500"/>
            <a:ext cx="10668000" cy="762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6C1359-1B9D-D246-B523-49EE5F8C8A90}"/>
              </a:ext>
            </a:extLst>
          </p:cNvPr>
          <p:cNvSpPr/>
          <p:nvPr/>
        </p:nvSpPr>
        <p:spPr>
          <a:xfrm>
            <a:off x="1460500" y="2819400"/>
            <a:ext cx="381000" cy="381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07CD01F-DBF0-9E41-812D-D6B8120DB03D}"/>
              </a:ext>
            </a:extLst>
          </p:cNvPr>
          <p:cNvSpPr txBox="1"/>
          <p:nvPr/>
        </p:nvSpPr>
        <p:spPr>
          <a:xfrm>
            <a:off x="762000" y="1397000"/>
            <a:ext cx="2222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3F59FF"/>
                </a:solidFill>
              </a:rPr>
              <a:t>Woche 1–2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86E08EF-28F6-C94B-93D4-3F19F5082C81}"/>
              </a:ext>
            </a:extLst>
          </p:cNvPr>
          <p:cNvSpPr txBox="1"/>
          <p:nvPr/>
        </p:nvSpPr>
        <p:spPr>
          <a:xfrm>
            <a:off x="762000" y="1778000"/>
            <a:ext cx="22225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Code-
Archäologie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9D099F1-EDDE-7945-B3D0-360E8D7F2D48}"/>
              </a:ext>
            </a:extLst>
          </p:cNvPr>
          <p:cNvSpPr txBox="1"/>
          <p:nvPr/>
        </p:nvSpPr>
        <p:spPr>
          <a:xfrm>
            <a:off x="762000" y="3429000"/>
            <a:ext cx="2222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System identifizieren,
analysieren, verstehen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DC2735B-5C60-A148-B289-4CD112B6848D}"/>
              </a:ext>
            </a:extLst>
          </p:cNvPr>
          <p:cNvSpPr/>
          <p:nvPr/>
        </p:nvSpPr>
        <p:spPr>
          <a:xfrm>
            <a:off x="4254500" y="2819400"/>
            <a:ext cx="381000" cy="3810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7DAFC0F-3C70-1E47-B844-97C84330AFF1}"/>
              </a:ext>
            </a:extLst>
          </p:cNvPr>
          <p:cNvSpPr txBox="1"/>
          <p:nvPr/>
        </p:nvSpPr>
        <p:spPr>
          <a:xfrm>
            <a:off x="3556000" y="1397000"/>
            <a:ext cx="2222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212B80"/>
                </a:solidFill>
              </a:rPr>
              <a:t>Woche 3–4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A49B589-5B30-6440-BE76-FC40A5A739C3}"/>
              </a:ext>
            </a:extLst>
          </p:cNvPr>
          <p:cNvSpPr txBox="1"/>
          <p:nvPr/>
        </p:nvSpPr>
        <p:spPr>
          <a:xfrm>
            <a:off x="3556000" y="1778000"/>
            <a:ext cx="22225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Proof of
Concept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F1E506F-C0AC-6B4A-B8F0-E3FF93BCF987}"/>
              </a:ext>
            </a:extLst>
          </p:cNvPr>
          <p:cNvSpPr txBox="1"/>
          <p:nvPr/>
        </p:nvSpPr>
        <p:spPr>
          <a:xfrm>
            <a:off x="3556000" y="3429000"/>
            <a:ext cx="2222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KI analysiert, erste
Übersetzungen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7D9CF41-27D6-D64A-92A5-CFB1D9FB6C5F}"/>
              </a:ext>
            </a:extLst>
          </p:cNvPr>
          <p:cNvSpPr/>
          <p:nvPr/>
        </p:nvSpPr>
        <p:spPr>
          <a:xfrm>
            <a:off x="7048500" y="2819400"/>
            <a:ext cx="381000" cy="3810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E99270B-849C-1E46-A793-1C235ECC1898}"/>
              </a:ext>
            </a:extLst>
          </p:cNvPr>
          <p:cNvSpPr txBox="1"/>
          <p:nvPr/>
        </p:nvSpPr>
        <p:spPr>
          <a:xfrm>
            <a:off x="6350000" y="1397000"/>
            <a:ext cx="2222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4CAF50"/>
                </a:solidFill>
              </a:rPr>
              <a:t>Woche 5–8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985C1B4-6ACC-2748-B18A-195E14256B8A}"/>
              </a:ext>
            </a:extLst>
          </p:cNvPr>
          <p:cNvSpPr txBox="1"/>
          <p:nvPr/>
        </p:nvSpPr>
        <p:spPr>
          <a:xfrm>
            <a:off x="6350000" y="1778000"/>
            <a:ext cx="22225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Vollständige
Migration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0BB1FFE-2B18-E744-BB04-591255A72D78}"/>
              </a:ext>
            </a:extLst>
          </p:cNvPr>
          <p:cNvSpPr txBox="1"/>
          <p:nvPr/>
        </p:nvSpPr>
        <p:spPr>
          <a:xfrm>
            <a:off x="6350000" y="3429000"/>
            <a:ext cx="2222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Parallel-Run,
Cutover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CFACC75-8804-1F46-8722-7C09C4D5C4B1}"/>
              </a:ext>
            </a:extLst>
          </p:cNvPr>
          <p:cNvSpPr/>
          <p:nvPr/>
        </p:nvSpPr>
        <p:spPr>
          <a:xfrm>
            <a:off x="9842500" y="2819400"/>
            <a:ext cx="381000" cy="381000"/>
          </a:xfrm>
          <a:prstGeom prst="ellipse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67947843-4D88-894E-A753-12875DB45E4D}"/>
              </a:ext>
            </a:extLst>
          </p:cNvPr>
          <p:cNvSpPr txBox="1"/>
          <p:nvPr/>
        </p:nvSpPr>
        <p:spPr>
          <a:xfrm>
            <a:off x="9144000" y="1397000"/>
            <a:ext cx="2222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212B80"/>
                </a:solidFill>
              </a:rPr>
              <a:t>Monat 3+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9328D062-93A4-BE4B-B3B8-073E6CF47618}"/>
              </a:ext>
            </a:extLst>
          </p:cNvPr>
          <p:cNvSpPr txBox="1"/>
          <p:nvPr/>
        </p:nvSpPr>
        <p:spPr>
          <a:xfrm>
            <a:off x="9144000" y="1778000"/>
            <a:ext cx="22225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Skalierung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3906D23-0A99-6C47-86CA-5958AAE2C740}"/>
              </a:ext>
            </a:extLst>
          </p:cNvPr>
          <p:cNvSpPr txBox="1"/>
          <p:nvPr/>
        </p:nvSpPr>
        <p:spPr>
          <a:xfrm>
            <a:off x="9144000" y="3429000"/>
            <a:ext cx="2222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Factory-Modus,
parallele Teams</a:t>
            </a:r>
          </a:p>
        </p:txBody>
      </p:sp>
      <p:sp>
        <p:nvSpPr>
          <p:cNvPr id="21" name="Abgerundetes Rechteck 20">
            <a:extLst>
              <a:ext uri="{FF2B5EF4-FFF2-40B4-BE49-F238E27FC236}">
                <a16:creationId xmlns:a16="http://schemas.microsoft.com/office/drawing/2014/main" id="{D254CC7B-CBD4-374F-BE28-98652F379871}"/>
              </a:ext>
            </a:extLst>
          </p:cNvPr>
          <p:cNvSpPr/>
          <p:nvPr/>
        </p:nvSpPr>
        <p:spPr>
          <a:xfrm>
            <a:off x="2286000" y="4699000"/>
            <a:ext cx="7620000" cy="6985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212121"/>
                </a:solidFill>
              </a:rPr>
              <a:t>Goldene Regel: Mit nicht-kritischem System starten!</a:t>
            </a:r>
          </a:p>
        </p:txBody>
      </p:sp>
    </p:spTree>
    <p:extLst>
      <p:ext uri="{BB962C8B-B14F-4D97-AF65-F5344CB8AC3E}">
        <p14:creationId xmlns:p14="http://schemas.microsoft.com/office/powerpoint/2010/main" val="186870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CDC2104-8F8C-F14D-AC89-25A11CF30D25}"/>
              </a:ext>
            </a:extLst>
          </p:cNvPr>
          <p:cNvSpPr txBox="1"/>
          <p:nvPr/>
        </p:nvSpPr>
        <p:spPr>
          <a:xfrm>
            <a:off x="762000" y="190500"/>
            <a:ext cx="381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3F59FF"/>
                </a:solidFill>
              </a:rPr>
              <a:t>COBOL-GRUNDLAGEN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5E19D47-186A-C54E-A684-86D93F286CFF}"/>
              </a:ext>
            </a:extLst>
          </p:cNvPr>
          <p:cNvSpPr txBox="1"/>
          <p:nvPr/>
        </p:nvSpPr>
        <p:spPr>
          <a:xfrm>
            <a:off x="762000" y="4826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212B80"/>
                </a:solidFill>
              </a:rPr>
              <a:t>COBOL für Java-Entwickler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CAFAC17A-6FA2-A64E-86D7-4C0BB351D688}"/>
              </a:ext>
            </a:extLst>
          </p:cNvPr>
          <p:cNvSpPr/>
          <p:nvPr/>
        </p:nvSpPr>
        <p:spPr>
          <a:xfrm>
            <a:off x="762000" y="1143000"/>
            <a:ext cx="3492500" cy="1397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D49ADB7-1A2B-6648-A608-E23568235BC8}"/>
              </a:ext>
            </a:extLst>
          </p:cNvPr>
          <p:cNvSpPr txBox="1"/>
          <p:nvPr/>
        </p:nvSpPr>
        <p:spPr>
          <a:xfrm>
            <a:off x="952500" y="12065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 b="1">
                <a:solidFill>
                  <a:srgbClr val="FFFFFF"/>
                </a:solidFill>
              </a:rPr>
              <a:t>IDENTIFICATION
DIVISION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1962959-E82E-C54C-B0DD-EBBE22B25DCE}"/>
              </a:ext>
            </a:extLst>
          </p:cNvPr>
          <p:cNvSpPr txBox="1"/>
          <p:nvPr/>
        </p:nvSpPr>
        <p:spPr>
          <a:xfrm>
            <a:off x="952500" y="1879600"/>
            <a:ext cx="3175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E8EAFF"/>
                </a:solidFill>
                <a:latin typeface="Open Sans"/>
                <a:ea typeface="Open Sans"/>
                <a:cs typeface="Open Sans"/>
              </a:rPr>
              <a:t>→ Programm-Metadaten
   (wie package + class)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B78D070C-ADC9-8E46-A796-2E1111E75378}"/>
              </a:ext>
            </a:extLst>
          </p:cNvPr>
          <p:cNvSpPr/>
          <p:nvPr/>
        </p:nvSpPr>
        <p:spPr>
          <a:xfrm>
            <a:off x="4508500" y="1143000"/>
            <a:ext cx="3492500" cy="1397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938A5C7-3C27-1444-9CD4-5D5CEB189B12}"/>
              </a:ext>
            </a:extLst>
          </p:cNvPr>
          <p:cNvSpPr txBox="1"/>
          <p:nvPr/>
        </p:nvSpPr>
        <p:spPr>
          <a:xfrm>
            <a:off x="4699000" y="12065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 b="1">
                <a:solidFill>
                  <a:srgbClr val="FFFFFF"/>
                </a:solidFill>
              </a:rPr>
              <a:t>DATA
DIVISION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2965172-12C5-F647-8FF8-F106024BAB0A}"/>
              </a:ext>
            </a:extLst>
          </p:cNvPr>
          <p:cNvSpPr txBox="1"/>
          <p:nvPr/>
        </p:nvSpPr>
        <p:spPr>
          <a:xfrm>
            <a:off x="4699000" y="1879600"/>
            <a:ext cx="3175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E8EAFF"/>
                </a:solidFill>
                <a:latin typeface="Open Sans"/>
                <a:ea typeface="Open Sans"/>
                <a:cs typeface="Open Sans"/>
              </a:rPr>
              <a:t>→ Variablen
   (wie Struct / Record)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AFF798D0-6214-5349-BE89-AEBCDFA902D4}"/>
              </a:ext>
            </a:extLst>
          </p:cNvPr>
          <p:cNvSpPr/>
          <p:nvPr/>
        </p:nvSpPr>
        <p:spPr>
          <a:xfrm>
            <a:off x="8255000" y="1143000"/>
            <a:ext cx="3492500" cy="1397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535804A-8A09-1C41-AF17-F5C4D1F99C48}"/>
              </a:ext>
            </a:extLst>
          </p:cNvPr>
          <p:cNvSpPr txBox="1"/>
          <p:nvPr/>
        </p:nvSpPr>
        <p:spPr>
          <a:xfrm>
            <a:off x="8445500" y="12065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 b="1">
                <a:solidFill>
                  <a:srgbClr val="FFFFFF"/>
                </a:solidFill>
              </a:rPr>
              <a:t>PROCEDURE
DIVISION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54E7931-2368-D947-B8D9-C4DAA47102F9}"/>
              </a:ext>
            </a:extLst>
          </p:cNvPr>
          <p:cNvSpPr txBox="1"/>
          <p:nvPr/>
        </p:nvSpPr>
        <p:spPr>
          <a:xfrm>
            <a:off x="8445500" y="1879600"/>
            <a:ext cx="3175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E8EAFF"/>
                </a:solidFill>
                <a:latin typeface="Open Sans"/>
                <a:ea typeface="Open Sans"/>
                <a:cs typeface="Open Sans"/>
              </a:rPr>
              <a:t>→ Business-Logik
   (wie main())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7D824D37-BFEA-644C-A281-F1F0CB7CBD84}"/>
              </a:ext>
            </a:extLst>
          </p:cNvPr>
          <p:cNvSpPr/>
          <p:nvPr/>
        </p:nvSpPr>
        <p:spPr>
          <a:xfrm>
            <a:off x="508000" y="2730500"/>
            <a:ext cx="11176000" cy="3492500"/>
          </a:xfrm>
          <a:prstGeom prst="round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3CEBFC1-2A91-4B4F-A563-303A341459C2}"/>
              </a:ext>
            </a:extLst>
          </p:cNvPr>
          <p:cNvSpPr txBox="1"/>
          <p:nvPr/>
        </p:nvSpPr>
        <p:spPr>
          <a:xfrm>
            <a:off x="698500" y="2794000"/>
            <a:ext cx="381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D440"/>
                </a:solidFill>
              </a:rPr>
              <a:t>COBOL Record mit PIC-Klauseln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8C9BC61-142D-3641-96F0-E98F83FD0BF7}"/>
              </a:ext>
            </a:extLst>
          </p:cNvPr>
          <p:cNvSpPr txBox="1"/>
          <p:nvPr/>
        </p:nvSpPr>
        <p:spPr>
          <a:xfrm>
            <a:off x="698500" y="3149600"/>
            <a:ext cx="10795000" cy="292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D4D4D4"/>
                </a:solidFill>
                <a:latin typeface="Consolas"/>
                <a:cs typeface="Consolas"/>
              </a:rPr>
              <a:t>       01  EMPLOYEE-RECORD.
           05  EMP-ID          PIC 9(5).          *&gt; int (Achtung: führende Nullen!)
           05  EMP-NAME        PIC X(30).         *&gt; String (30 Zeichen, Space-padded)
           05  EMP-SALARY      PIC 9(7)V99.       *&gt; BigDecimal (7 Vorkomma, 2 Nachkomma)
           05  EMP-TAX-RATE    PIC V9(4).          *&gt; BigDecimal (0.xxxx)
           05  EMP-DEPT        PIC X(10).         *&gt; String oder Enum
           05  EMP-STATUS      PIC X.             *&gt; char → Enum mapping
               88  EMP-ACTIVE  VALUE "A".         *&gt; Enum: Status.ACTIVE
               88  EMP-TERM    VALUE "T".         *&gt; Enum: Status.TERMINATED</a:t>
            </a:r>
          </a:p>
        </p:txBody>
      </p:sp>
    </p:spTree>
    <p:extLst>
      <p:ext uri="{BB962C8B-B14F-4D97-AF65-F5344CB8AC3E}">
        <p14:creationId xmlns:p14="http://schemas.microsoft.com/office/powerpoint/2010/main" val="2599260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F6A17CB-6EB8-184A-BE2C-21AB06F94E63}"/>
              </a:ext>
            </a:extLst>
          </p:cNvPr>
          <p:cNvSpPr txBox="1"/>
          <p:nvPr/>
        </p:nvSpPr>
        <p:spPr>
          <a:xfrm>
            <a:off x="762000" y="190500"/>
            <a:ext cx="635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212B80"/>
                </a:solidFill>
              </a:rPr>
              <a:t>COBOL → Java Fallen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19E822AF-4733-DF4E-8DDD-398885C8D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666746"/>
              </p:ext>
            </p:extLst>
          </p:nvPr>
        </p:nvGraphicFramePr>
        <p:xfrm>
          <a:off x="381000" y="762000"/>
          <a:ext cx="11430000" cy="55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197857655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88920344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627524840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COBOL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Java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Falle!</a:t>
                      </a:r>
                    </a:p>
                  </a:txBody>
                  <a:tcPr anchor="ctr">
                    <a:solidFill>
                      <a:srgbClr val="212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34146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PIC 9(5)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</a:rPr>
                        <a:t>Führende Nullen verloren (PLZ "01234")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72057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PIC 9(7)V99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BigDecimal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</a:rPr>
                        <a:t>NIEMALS double!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34425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PIC X(30)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String.trim()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</a:rPr>
                        <a:t>COBOL paddet mit Leerzeichen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02709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COMP-3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BigDecimal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</a:rPr>
                        <a:t>BCD: 2 Ziffern/Byte + Sign-Nibble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0375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COPYBOOKS (.CPY)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Shared DTO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</a:rPr>
                        <a:t>Wie C-Header: in mehreren Pgm eingebunden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86117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FILE SECTION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BufferedReader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</a:rPr>
                        <a:t>Fixed-Width! KEINE Delimiter (kein CSV!)</a:t>
                      </a:r>
                    </a:p>
                  </a:txBody>
                  <a:tcPr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89525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SIGN IS SEPARATE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Vorzeichen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400" b="1">
                          <a:solidFill>
                            <a:srgbClr val="CC0000"/>
                          </a:solidFill>
                          <a:latin typeface="Open Sans"/>
                          <a:ea typeface="Open Sans"/>
                          <a:cs typeface="Open Sans"/>
                        </a:rPr>
                        <a:t>+/- als eigenes Zeichen gespeichert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35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745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AE48D57-C4FB-A240-9F42-5FDCF6388015}"/>
              </a:ext>
            </a:extLst>
          </p:cNvPr>
          <p:cNvSpPr txBox="1"/>
          <p:nvPr/>
        </p:nvSpPr>
        <p:spPr>
          <a:xfrm>
            <a:off x="762000" y="190500"/>
            <a:ext cx="254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6B6B"/>
                </a:solidFill>
              </a:rPr>
              <a:t>DEEP DIVE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35D7EBE-90DC-1D4E-B929-08831C9EC1E4}"/>
              </a:ext>
            </a:extLst>
          </p:cNvPr>
          <p:cNvSpPr txBox="1"/>
          <p:nvPr/>
        </p:nvSpPr>
        <p:spPr>
          <a:xfrm>
            <a:off x="762000" y="4826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600" b="1">
                <a:solidFill>
                  <a:srgbClr val="212B80"/>
                </a:solidFill>
              </a:rPr>
              <a:t>COBOL ROUNDED vs. Java RoundingMode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A7C8A22F-6BD5-AD43-88D4-CEB867AEA4BE}"/>
              </a:ext>
            </a:extLst>
          </p:cNvPr>
          <p:cNvSpPr/>
          <p:nvPr/>
        </p:nvSpPr>
        <p:spPr>
          <a:xfrm>
            <a:off x="508000" y="1270000"/>
            <a:ext cx="5461000" cy="2032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38CD964-0658-194D-BF02-BEBEF156C385}"/>
              </a:ext>
            </a:extLst>
          </p:cNvPr>
          <p:cNvSpPr txBox="1"/>
          <p:nvPr/>
        </p:nvSpPr>
        <p:spPr>
          <a:xfrm>
            <a:off x="698500" y="13716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3F59FF"/>
                </a:solidFill>
              </a:rPr>
              <a:t>COBOL ROUNDED (Standard)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F9891BAF-050C-4542-AB85-AB5A7FDE2681}"/>
              </a:ext>
            </a:extLst>
          </p:cNvPr>
          <p:cNvSpPr/>
          <p:nvPr/>
        </p:nvSpPr>
        <p:spPr>
          <a:xfrm>
            <a:off x="698500" y="1778000"/>
            <a:ext cx="5080000" cy="571500"/>
          </a:xfrm>
          <a:prstGeom prst="round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08D8903-C868-F64B-93C1-7A499AA80875}"/>
              </a:ext>
            </a:extLst>
          </p:cNvPr>
          <p:cNvSpPr txBox="1"/>
          <p:nvPr/>
        </p:nvSpPr>
        <p:spPr>
          <a:xfrm>
            <a:off x="825500" y="1841500"/>
            <a:ext cx="4826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D4D4D4"/>
                </a:solidFill>
                <a:latin typeface="Consolas"/>
                <a:cs typeface="Consolas"/>
              </a:rPr>
              <a:t>COMPUTE TAX ROUNDED = SALARY * RATE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BC97985-A3F6-FB4A-8DC9-A847D16D19B0}"/>
              </a:ext>
            </a:extLst>
          </p:cNvPr>
          <p:cNvSpPr txBox="1"/>
          <p:nvPr/>
        </p:nvSpPr>
        <p:spPr>
          <a:xfrm>
            <a:off x="698500" y="2476500"/>
            <a:ext cx="508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= Java RoundingMode.HALF_UP
   0.5 → 1  |  1.5 → 2  |  2.5 → 3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EB2EE5B-7581-804B-BB37-6B715B7A6C67}"/>
              </a:ext>
            </a:extLst>
          </p:cNvPr>
          <p:cNvSpPr txBox="1"/>
          <p:nvPr/>
        </p:nvSpPr>
        <p:spPr>
          <a:xfrm>
            <a:off x="5778500" y="1778000"/>
            <a:ext cx="38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600" b="1">
                <a:solidFill>
                  <a:srgbClr val="FFD440"/>
                </a:solidFill>
              </a:rPr>
              <a:t>=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C3D1A13B-7ED8-CF40-A648-E73DA1DA48AB}"/>
              </a:ext>
            </a:extLst>
          </p:cNvPr>
          <p:cNvSpPr/>
          <p:nvPr/>
        </p:nvSpPr>
        <p:spPr>
          <a:xfrm>
            <a:off x="6223000" y="1270000"/>
            <a:ext cx="5588000" cy="2032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C44D0FC-45FF-514F-A765-596A378E1C89}"/>
              </a:ext>
            </a:extLst>
          </p:cNvPr>
          <p:cNvSpPr txBox="1"/>
          <p:nvPr/>
        </p:nvSpPr>
        <p:spPr>
          <a:xfrm>
            <a:off x="6413500" y="1371600"/>
            <a:ext cx="520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212B80"/>
                </a:solidFill>
              </a:rPr>
              <a:t>COBOL ROUNDED NEAREST-EVEN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C9E9D4B1-C88A-684D-878C-E6424800BC61}"/>
              </a:ext>
            </a:extLst>
          </p:cNvPr>
          <p:cNvSpPr/>
          <p:nvPr/>
        </p:nvSpPr>
        <p:spPr>
          <a:xfrm>
            <a:off x="6413500" y="1778000"/>
            <a:ext cx="5207000" cy="571500"/>
          </a:xfrm>
          <a:prstGeom prst="round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D8B9BF0-B256-1D48-9BDF-575946CF0644}"/>
              </a:ext>
            </a:extLst>
          </p:cNvPr>
          <p:cNvSpPr txBox="1"/>
          <p:nvPr/>
        </p:nvSpPr>
        <p:spPr>
          <a:xfrm>
            <a:off x="6540500" y="1841500"/>
            <a:ext cx="4953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D4D4D4"/>
                </a:solidFill>
                <a:latin typeface="Consolas"/>
                <a:cs typeface="Consolas"/>
              </a:rPr>
              <a:t>COMPUTE TAX ROUNDED MODE NEAREST-EVEN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039196C-8267-3C41-A6CF-5E3FF62B9EB2}"/>
              </a:ext>
            </a:extLst>
          </p:cNvPr>
          <p:cNvSpPr txBox="1"/>
          <p:nvPr/>
        </p:nvSpPr>
        <p:spPr>
          <a:xfrm>
            <a:off x="6413500" y="2476500"/>
            <a:ext cx="520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= Java RoundingMode.HALF_EVEN
   0.5 → 0  |  1.5 → 2  |  2.5 → 2</a:t>
            </a:r>
          </a:p>
        </p:txBody>
      </p: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6A846A02-583F-0B4F-A0DD-8FEBE2C3DC79}"/>
              </a:ext>
            </a:extLst>
          </p:cNvPr>
          <p:cNvSpPr/>
          <p:nvPr/>
        </p:nvSpPr>
        <p:spPr>
          <a:xfrm>
            <a:off x="1524000" y="3810000"/>
            <a:ext cx="9144000" cy="1016000"/>
          </a:xfrm>
          <a:prstGeom prst="round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212121"/>
                </a:solidFill>
              </a:rPr>
              <a:t>Wenn ihr nicht wisst welches Rounding euer COBOL-System verwendet: Testet mit bekannten Werten!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A66A0AB7-0F04-8442-9635-1C9FCF762615}"/>
              </a:ext>
            </a:extLst>
          </p:cNvPr>
          <p:cNvSpPr/>
          <p:nvPr/>
        </p:nvSpPr>
        <p:spPr>
          <a:xfrm>
            <a:off x="508000" y="5080000"/>
            <a:ext cx="11176000" cy="1270000"/>
          </a:xfrm>
          <a:prstGeom prst="round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7D70034-4A11-5B4A-AB9E-8DCE21125A43}"/>
              </a:ext>
            </a:extLst>
          </p:cNvPr>
          <p:cNvSpPr txBox="1"/>
          <p:nvPr/>
        </p:nvSpPr>
        <p:spPr>
          <a:xfrm>
            <a:off x="698500" y="5181600"/>
            <a:ext cx="10795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D4D4D4"/>
                </a:solidFill>
                <a:latin typeface="Consolas"/>
                <a:cs typeface="Consolas"/>
              </a:rPr>
              <a:t>// Java — IMMER explizit angeben!
BigDecimal tax = salary.multiply(rate)
    .setScale(2, RoundingMode.HALF_UP);  // NICHT RoundingMode.HALF_EVEN!</a:t>
            </a:r>
          </a:p>
        </p:txBody>
      </p:sp>
    </p:spTree>
    <p:extLst>
      <p:ext uri="{BB962C8B-B14F-4D97-AF65-F5344CB8AC3E}">
        <p14:creationId xmlns:p14="http://schemas.microsoft.com/office/powerpoint/2010/main" val="1510837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585BFB2-900D-4C4D-AD99-491FC582E944}"/>
              </a:ext>
            </a:extLst>
          </p:cNvPr>
          <p:cNvSpPr txBox="1"/>
          <p:nvPr/>
        </p:nvSpPr>
        <p:spPr>
          <a:xfrm>
            <a:off x="762000" y="3810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Migrations-Workflow mit KI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537DBBE-D173-1946-83AE-7034E114A4EC}"/>
              </a:ext>
            </a:extLst>
          </p:cNvPr>
          <p:cNvSpPr/>
          <p:nvPr/>
        </p:nvSpPr>
        <p:spPr>
          <a:xfrm>
            <a:off x="762000" y="9906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Eingebuchteter Richtungspfeil 3">
            <a:extLst>
              <a:ext uri="{FF2B5EF4-FFF2-40B4-BE49-F238E27FC236}">
                <a16:creationId xmlns:a16="http://schemas.microsoft.com/office/drawing/2014/main" id="{06B7352E-9704-124F-B10D-CB9F168F1403}"/>
              </a:ext>
            </a:extLst>
          </p:cNvPr>
          <p:cNvSpPr/>
          <p:nvPr/>
        </p:nvSpPr>
        <p:spPr>
          <a:xfrm>
            <a:off x="508000" y="1524000"/>
            <a:ext cx="2159000" cy="1270000"/>
          </a:xfrm>
          <a:prstGeom prst="chevron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CE580EB-97E4-8D4F-9B20-8D71582E006A}"/>
              </a:ext>
            </a:extLst>
          </p:cNvPr>
          <p:cNvSpPr/>
          <p:nvPr/>
        </p:nvSpPr>
        <p:spPr>
          <a:xfrm>
            <a:off x="1270000" y="29210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365E987-3EE3-DE42-8AA9-C6E841F96AE8}"/>
              </a:ext>
            </a:extLst>
          </p:cNvPr>
          <p:cNvSpPr txBox="1"/>
          <p:nvPr/>
        </p:nvSpPr>
        <p:spPr>
          <a:xfrm>
            <a:off x="571500" y="36830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212B80"/>
                </a:solidFill>
              </a:rPr>
              <a:t>Analysieren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4A65076-47D5-7247-9E5D-B453EC73B57B}"/>
              </a:ext>
            </a:extLst>
          </p:cNvPr>
          <p:cNvSpPr txBox="1"/>
          <p:nvPr/>
        </p:nvSpPr>
        <p:spPr>
          <a:xfrm>
            <a:off x="571500" y="43815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Erst verstehen!</a:t>
            </a:r>
          </a:p>
        </p:txBody>
      </p:sp>
      <p:sp>
        <p:nvSpPr>
          <p:cNvPr id="8" name="Eingebuchteter Richtungspfeil 7">
            <a:extLst>
              <a:ext uri="{FF2B5EF4-FFF2-40B4-BE49-F238E27FC236}">
                <a16:creationId xmlns:a16="http://schemas.microsoft.com/office/drawing/2014/main" id="{1C25E784-178C-A34A-A524-CC07EAF1A5A0}"/>
              </a:ext>
            </a:extLst>
          </p:cNvPr>
          <p:cNvSpPr/>
          <p:nvPr/>
        </p:nvSpPr>
        <p:spPr>
          <a:xfrm>
            <a:off x="2794000" y="1524000"/>
            <a:ext cx="2159000" cy="1270000"/>
          </a:xfrm>
          <a:prstGeom prst="chevron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8A8CA8-04F2-B04C-9213-2E0CFAFB531D}"/>
              </a:ext>
            </a:extLst>
          </p:cNvPr>
          <p:cNvSpPr/>
          <p:nvPr/>
        </p:nvSpPr>
        <p:spPr>
          <a:xfrm>
            <a:off x="3556000" y="2921000"/>
            <a:ext cx="635000" cy="6350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A95F7B1-DC16-B843-9E67-64822FD43714}"/>
              </a:ext>
            </a:extLst>
          </p:cNvPr>
          <p:cNvSpPr txBox="1"/>
          <p:nvPr/>
        </p:nvSpPr>
        <p:spPr>
          <a:xfrm>
            <a:off x="2857500" y="36830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212B80"/>
                </a:solidFill>
              </a:rPr>
              <a:t>Fachlogik
extrahieren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3A49B1D-D4D6-3447-85D5-DC455629F795}"/>
              </a:ext>
            </a:extLst>
          </p:cNvPr>
          <p:cNvSpPr txBox="1"/>
          <p:nvPr/>
        </p:nvSpPr>
        <p:spPr>
          <a:xfrm>
            <a:off x="2857500" y="43815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Pseudocode</a:t>
            </a:r>
          </a:p>
        </p:txBody>
      </p:sp>
      <p:sp>
        <p:nvSpPr>
          <p:cNvPr id="12" name="Eingebuchteter Richtungspfeil 11">
            <a:extLst>
              <a:ext uri="{FF2B5EF4-FFF2-40B4-BE49-F238E27FC236}">
                <a16:creationId xmlns:a16="http://schemas.microsoft.com/office/drawing/2014/main" id="{37AD8EC9-C9F8-1B41-AA69-90577F14368E}"/>
              </a:ext>
            </a:extLst>
          </p:cNvPr>
          <p:cNvSpPr/>
          <p:nvPr/>
        </p:nvSpPr>
        <p:spPr>
          <a:xfrm>
            <a:off x="5080000" y="1524000"/>
            <a:ext cx="2159000" cy="1270000"/>
          </a:xfrm>
          <a:prstGeom prst="chevron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D5994BB-FEBC-0F4F-ABB3-EA9C2F765AA3}"/>
              </a:ext>
            </a:extLst>
          </p:cNvPr>
          <p:cNvSpPr/>
          <p:nvPr/>
        </p:nvSpPr>
        <p:spPr>
          <a:xfrm>
            <a:off x="5842000" y="29210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EF40692-B182-934A-9BF5-9E288F392020}"/>
              </a:ext>
            </a:extLst>
          </p:cNvPr>
          <p:cNvSpPr txBox="1"/>
          <p:nvPr/>
        </p:nvSpPr>
        <p:spPr>
          <a:xfrm>
            <a:off x="5143500" y="36830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212B80"/>
                </a:solidFill>
              </a:rPr>
              <a:t>Java-Struktur
planen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5F542BE-4EF9-3946-B373-3DB03DEB5C08}"/>
              </a:ext>
            </a:extLst>
          </p:cNvPr>
          <p:cNvSpPr txBox="1"/>
          <p:nvPr/>
        </p:nvSpPr>
        <p:spPr>
          <a:xfrm>
            <a:off x="5143500" y="43815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Klassen, Methoden</a:t>
            </a:r>
          </a:p>
        </p:txBody>
      </p:sp>
      <p:sp>
        <p:nvSpPr>
          <p:cNvPr id="16" name="Eingebuchteter Richtungspfeil 15">
            <a:extLst>
              <a:ext uri="{FF2B5EF4-FFF2-40B4-BE49-F238E27FC236}">
                <a16:creationId xmlns:a16="http://schemas.microsoft.com/office/drawing/2014/main" id="{4AB3C5FF-5034-624B-85EE-7ACAABF01582}"/>
              </a:ext>
            </a:extLst>
          </p:cNvPr>
          <p:cNvSpPr/>
          <p:nvPr/>
        </p:nvSpPr>
        <p:spPr>
          <a:xfrm>
            <a:off x="7366000" y="1524000"/>
            <a:ext cx="2159000" cy="1270000"/>
          </a:xfrm>
          <a:prstGeom prst="chevron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AD084BA-EB3D-6B47-94BD-3E1884A6E11D}"/>
              </a:ext>
            </a:extLst>
          </p:cNvPr>
          <p:cNvSpPr/>
          <p:nvPr/>
        </p:nvSpPr>
        <p:spPr>
          <a:xfrm>
            <a:off x="8128000" y="2921000"/>
            <a:ext cx="635000" cy="6350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717AD7E-95EE-4849-BB7B-7285B59E2D75}"/>
              </a:ext>
            </a:extLst>
          </p:cNvPr>
          <p:cNvSpPr txBox="1"/>
          <p:nvPr/>
        </p:nvSpPr>
        <p:spPr>
          <a:xfrm>
            <a:off x="7429500" y="36830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212B80"/>
                </a:solidFill>
              </a:rPr>
              <a:t>Implemen-
tieren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5C614D7-2934-F040-AC0E-4B5A42FFE238}"/>
              </a:ext>
            </a:extLst>
          </p:cNvPr>
          <p:cNvSpPr txBox="1"/>
          <p:nvPr/>
        </p:nvSpPr>
        <p:spPr>
          <a:xfrm>
            <a:off x="7429500" y="43815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BigDecimal,
RoundingMode</a:t>
            </a:r>
          </a:p>
        </p:txBody>
      </p:sp>
      <p:sp>
        <p:nvSpPr>
          <p:cNvPr id="20" name="Eingebuchteter Richtungspfeil 19">
            <a:extLst>
              <a:ext uri="{FF2B5EF4-FFF2-40B4-BE49-F238E27FC236}">
                <a16:creationId xmlns:a16="http://schemas.microsoft.com/office/drawing/2014/main" id="{032EF2B9-2DC3-F945-A4D4-A3F2FE524C5F}"/>
              </a:ext>
            </a:extLst>
          </p:cNvPr>
          <p:cNvSpPr/>
          <p:nvPr/>
        </p:nvSpPr>
        <p:spPr>
          <a:xfrm>
            <a:off x="9652000" y="1524000"/>
            <a:ext cx="2159000" cy="1270000"/>
          </a:xfrm>
          <a:prstGeom prst="chevron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2B024B8-CD09-4749-AFDC-B7E7B7E954DE}"/>
              </a:ext>
            </a:extLst>
          </p:cNvPr>
          <p:cNvSpPr/>
          <p:nvPr/>
        </p:nvSpPr>
        <p:spPr>
          <a:xfrm>
            <a:off x="10414000" y="2921000"/>
            <a:ext cx="635000" cy="6350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E5FC2FE-C7A4-0940-9061-BABCBFD68F8F}"/>
              </a:ext>
            </a:extLst>
          </p:cNvPr>
          <p:cNvSpPr txBox="1"/>
          <p:nvPr/>
        </p:nvSpPr>
        <p:spPr>
          <a:xfrm>
            <a:off x="9715500" y="36830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212B80"/>
                </a:solidFill>
              </a:rPr>
              <a:t>Verifizieren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CE613FFE-0FB4-364A-8DD0-AF2398194253}"/>
              </a:ext>
            </a:extLst>
          </p:cNvPr>
          <p:cNvSpPr txBox="1"/>
          <p:nvPr/>
        </p:nvSpPr>
        <p:spPr>
          <a:xfrm>
            <a:off x="9715500" y="43815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Chain-of-
Verification</a:t>
            </a:r>
          </a:p>
        </p:txBody>
      </p:sp>
      <p:sp>
        <p:nvSpPr>
          <p:cNvPr id="24" name="Abgerundetes Rechteck 23">
            <a:extLst>
              <a:ext uri="{FF2B5EF4-FFF2-40B4-BE49-F238E27FC236}">
                <a16:creationId xmlns:a16="http://schemas.microsoft.com/office/drawing/2014/main" id="{AFEABC1C-6F81-F246-9C5E-8426543D6981}"/>
              </a:ext>
            </a:extLst>
          </p:cNvPr>
          <p:cNvSpPr/>
          <p:nvPr/>
        </p:nvSpPr>
        <p:spPr>
          <a:xfrm>
            <a:off x="1524000" y="5334000"/>
            <a:ext cx="9144000" cy="6985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3F59FF"/>
                </a:solidFill>
              </a:rPr>
              <a:t>Jeden Schritt einzeln mit KI durchführen — nicht alles auf einmal!</a:t>
            </a:r>
          </a:p>
        </p:txBody>
      </p:sp>
    </p:spTree>
    <p:extLst>
      <p:ext uri="{BB962C8B-B14F-4D97-AF65-F5344CB8AC3E}">
        <p14:creationId xmlns:p14="http://schemas.microsoft.com/office/powerpoint/2010/main" val="2306855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B7E8768-90CA-0640-9ED2-6EFA2F95571A}"/>
              </a:ext>
            </a:extLst>
          </p:cNvPr>
          <p:cNvSpPr txBox="1"/>
          <p:nvPr/>
        </p:nvSpPr>
        <p:spPr>
          <a:xfrm>
            <a:off x="762000" y="127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6B6B"/>
                </a:solidFill>
              </a:rPr>
              <a:t>VERIFIKATION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0AF6613-BC10-E64D-9583-52A7F0FA2325}"/>
              </a:ext>
            </a:extLst>
          </p:cNvPr>
          <p:cNvSpPr txBox="1"/>
          <p:nvPr/>
        </p:nvSpPr>
        <p:spPr>
          <a:xfrm>
            <a:off x="762000" y="381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212B80"/>
                </a:solidFill>
              </a:rPr>
              <a:t>Ist die Migration korrekt?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BDDC7148-1419-C54D-B525-B00D05220FCD}"/>
              </a:ext>
            </a:extLst>
          </p:cNvPr>
          <p:cNvSpPr/>
          <p:nvPr/>
        </p:nvSpPr>
        <p:spPr>
          <a:xfrm>
            <a:off x="381000" y="1016000"/>
            <a:ext cx="3683000" cy="2667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1B64053-324E-EA4C-8D20-00425AB2B226}"/>
              </a:ext>
            </a:extLst>
          </p:cNvPr>
          <p:cNvSpPr/>
          <p:nvPr/>
        </p:nvSpPr>
        <p:spPr>
          <a:xfrm>
            <a:off x="508000" y="1079500"/>
            <a:ext cx="457200" cy="4572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51E7BFB-A7E0-6E49-85F2-FE4C1DA1D345}"/>
              </a:ext>
            </a:extLst>
          </p:cNvPr>
          <p:cNvSpPr txBox="1"/>
          <p:nvPr/>
        </p:nvSpPr>
        <p:spPr>
          <a:xfrm>
            <a:off x="1079500" y="11049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212B80"/>
                </a:solidFill>
              </a:rPr>
              <a:t>Golden File Testing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DDD2464-48C1-A541-9007-A13943588F69}"/>
              </a:ext>
            </a:extLst>
          </p:cNvPr>
          <p:cNvSpPr txBox="1"/>
          <p:nvPr/>
        </p:nvSpPr>
        <p:spPr>
          <a:xfrm>
            <a:off x="508000" y="1587500"/>
            <a:ext cx="3429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COBOL mit Test-Input
→ Output speichern
→ Java mit gleichem Input
→ Outputs vergleichen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792F6F3-5D1A-814D-960F-92D67C913D9C}"/>
              </a:ext>
            </a:extLst>
          </p:cNvPr>
          <p:cNvSpPr txBox="1"/>
          <p:nvPr/>
        </p:nvSpPr>
        <p:spPr>
          <a:xfrm>
            <a:off x="635000" y="2984500"/>
            <a:ext cx="317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3F59FF"/>
                </a:solidFill>
              </a:rPr>
              <a:t>COBOL → Output ← Java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504D5CD2-E051-0E42-8FF2-2C5A3D7E7BDC}"/>
              </a:ext>
            </a:extLst>
          </p:cNvPr>
          <p:cNvSpPr/>
          <p:nvPr/>
        </p:nvSpPr>
        <p:spPr>
          <a:xfrm>
            <a:off x="4254500" y="1016000"/>
            <a:ext cx="3683000" cy="2667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DC790C-6DFE-EE46-8DBF-0C4EC094A0EA}"/>
              </a:ext>
            </a:extLst>
          </p:cNvPr>
          <p:cNvSpPr/>
          <p:nvPr/>
        </p:nvSpPr>
        <p:spPr>
          <a:xfrm>
            <a:off x="4381500" y="1079500"/>
            <a:ext cx="457200" cy="4572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87C3938-EC01-944C-833D-A426CCBD86C8}"/>
              </a:ext>
            </a:extLst>
          </p:cNvPr>
          <p:cNvSpPr txBox="1"/>
          <p:nvPr/>
        </p:nvSpPr>
        <p:spPr>
          <a:xfrm>
            <a:off x="4953000" y="11049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212B80"/>
                </a:solidFill>
              </a:rPr>
              <a:t>Testdaten-Strategie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48EF0020-74F5-4946-ABDC-EE8265B56FC1}"/>
              </a:ext>
            </a:extLst>
          </p:cNvPr>
          <p:cNvSpPr/>
          <p:nvPr/>
        </p:nvSpPr>
        <p:spPr>
          <a:xfrm>
            <a:off x="4381500" y="1587500"/>
            <a:ext cx="3429000" cy="1905000"/>
          </a:xfrm>
          <a:prstGeom prst="roundRect">
            <a:avLst/>
          </a:prstGeom>
          <a:solidFill>
            <a:srgbClr val="1E1E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B50DD10-AF66-5E49-9D47-C14C02022A5D}"/>
              </a:ext>
            </a:extLst>
          </p:cNvPr>
          <p:cNvSpPr txBox="1"/>
          <p:nvPr/>
        </p:nvSpPr>
        <p:spPr>
          <a:xfrm>
            <a:off x="4470400" y="1651000"/>
            <a:ext cx="32385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D4D4D4"/>
                </a:solidFill>
                <a:latin typeface="Consolas"/>
                <a:cs typeface="Consolas"/>
              </a:rPr>
              <a:t>@ParameterizedTest
@CsvSource({
  "5000, 0.19, 950.00",
  "0.005, 0.1, 0.00",
  "9999999, 0.5, ...",
  ", 0.19, 0.00"
})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3F7C4DFB-5EB8-E04D-93AF-075573BD016B}"/>
              </a:ext>
            </a:extLst>
          </p:cNvPr>
          <p:cNvSpPr/>
          <p:nvPr/>
        </p:nvSpPr>
        <p:spPr>
          <a:xfrm>
            <a:off x="8128000" y="1016000"/>
            <a:ext cx="3683000" cy="2667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78E75D9-EB25-264E-BEEE-9D9A480B56F3}"/>
              </a:ext>
            </a:extLst>
          </p:cNvPr>
          <p:cNvSpPr/>
          <p:nvPr/>
        </p:nvSpPr>
        <p:spPr>
          <a:xfrm>
            <a:off x="8255000" y="1079500"/>
            <a:ext cx="457200" cy="4572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402AB4E-3052-A44A-B484-1C494A6763F0}"/>
              </a:ext>
            </a:extLst>
          </p:cNvPr>
          <p:cNvSpPr txBox="1"/>
          <p:nvPr/>
        </p:nvSpPr>
        <p:spPr>
          <a:xfrm>
            <a:off x="8826500" y="11049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212B80"/>
                </a:solidFill>
              </a:rPr>
              <a:t>Grenzwerte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A6A80B1-4833-B849-AB8B-FEE0DBBAFC34}"/>
              </a:ext>
            </a:extLst>
          </p:cNvPr>
          <p:cNvSpPr txBox="1"/>
          <p:nvPr/>
        </p:nvSpPr>
        <p:spPr>
          <a:xfrm>
            <a:off x="8318500" y="1587500"/>
            <a:ext cx="33655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555555"/>
                </a:solidFill>
              </a:rPr>
              <a:t>• Negative Zahlen
  (unsigned PIC)
• Überlauf (COBOL
  schneidet ab, Java
  → Exception)
• Leerzeichen vs. null</a:t>
            </a:r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CCED01DF-9C95-D74B-AE6B-6D4B149A3A20}"/>
              </a:ext>
            </a:extLst>
          </p:cNvPr>
          <p:cNvSpPr/>
          <p:nvPr/>
        </p:nvSpPr>
        <p:spPr>
          <a:xfrm>
            <a:off x="1778000" y="3937000"/>
            <a:ext cx="8636000" cy="635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D440"/>
                </a:solidFill>
              </a:rPr>
              <a:t>Byte-für-Byte identisch bei Geldbeträgen!</a:t>
            </a:r>
          </a:p>
        </p:txBody>
      </p:sp>
    </p:spTree>
    <p:extLst>
      <p:ext uri="{BB962C8B-B14F-4D97-AF65-F5344CB8AC3E}">
        <p14:creationId xmlns:p14="http://schemas.microsoft.com/office/powerpoint/2010/main" val="3487635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B656C4A-685E-8442-9F46-85E447D42216}"/>
              </a:ext>
            </a:extLst>
          </p:cNvPr>
          <p:cNvSpPr txBox="1"/>
          <p:nvPr/>
        </p:nvSpPr>
        <p:spPr>
          <a:xfrm>
            <a:off x="762000" y="381000"/>
            <a:ext cx="635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Strangler Fig Pattern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716E991-4858-F443-882D-2BE26549F77D}"/>
              </a:ext>
            </a:extLst>
          </p:cNvPr>
          <p:cNvSpPr/>
          <p:nvPr/>
        </p:nvSpPr>
        <p:spPr>
          <a:xfrm>
            <a:off x="762000" y="9906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88B4039-5615-4F48-9B5D-2D341386ACB8}"/>
              </a:ext>
            </a:extLst>
          </p:cNvPr>
          <p:cNvSpPr/>
          <p:nvPr/>
        </p:nvSpPr>
        <p:spPr>
          <a:xfrm>
            <a:off x="1587500" y="1270000"/>
            <a:ext cx="508000" cy="508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2666D9A-115B-9C41-8A93-28F4348386BE}"/>
              </a:ext>
            </a:extLst>
          </p:cNvPr>
          <p:cNvSpPr txBox="1"/>
          <p:nvPr/>
        </p:nvSpPr>
        <p:spPr>
          <a:xfrm>
            <a:off x="635000" y="18415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</a:rPr>
              <a:t>Legacy läuft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A4516372-EBAF-7743-86D0-38B6C7C91242}"/>
              </a:ext>
            </a:extLst>
          </p:cNvPr>
          <p:cNvSpPr/>
          <p:nvPr/>
        </p:nvSpPr>
        <p:spPr>
          <a:xfrm>
            <a:off x="1016000" y="2286000"/>
            <a:ext cx="1651000" cy="2794000"/>
          </a:xfrm>
          <a:prstGeom prst="round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4ED2FA0-285E-2243-B5DC-F495C694FDF1}"/>
              </a:ext>
            </a:extLst>
          </p:cNvPr>
          <p:cNvSpPr txBox="1"/>
          <p:nvPr/>
        </p:nvSpPr>
        <p:spPr>
          <a:xfrm>
            <a:off x="1079500" y="23495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COBOL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5ABDBBE-72B4-E74E-9223-0D4A73265CBA}"/>
              </a:ext>
            </a:extLst>
          </p:cNvPr>
          <p:cNvSpPr txBox="1"/>
          <p:nvPr/>
        </p:nvSpPr>
        <p:spPr>
          <a:xfrm>
            <a:off x="635000" y="5207000"/>
            <a:ext cx="2540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555555"/>
                </a:solidFill>
              </a:rPr>
              <a:t>Java parallel
aufbauen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5EFE49-F54C-484F-8B3F-3F3E2A490BFF}"/>
              </a:ext>
            </a:extLst>
          </p:cNvPr>
          <p:cNvSpPr/>
          <p:nvPr/>
        </p:nvSpPr>
        <p:spPr>
          <a:xfrm>
            <a:off x="4508500" y="1270000"/>
            <a:ext cx="508000" cy="508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CCD5CE4-CF4C-7648-B457-14F971AF156A}"/>
              </a:ext>
            </a:extLst>
          </p:cNvPr>
          <p:cNvSpPr txBox="1"/>
          <p:nvPr/>
        </p:nvSpPr>
        <p:spPr>
          <a:xfrm>
            <a:off x="3556000" y="18415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</a:rPr>
              <a:t>Traffic-Routing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361C98A2-12E3-BE40-8C5C-0F773144923F}"/>
              </a:ext>
            </a:extLst>
          </p:cNvPr>
          <p:cNvSpPr/>
          <p:nvPr/>
        </p:nvSpPr>
        <p:spPr>
          <a:xfrm>
            <a:off x="3937000" y="3175000"/>
            <a:ext cx="1651000" cy="1905000"/>
          </a:xfrm>
          <a:prstGeom prst="roundRect">
            <a:avLst/>
          </a:prstGeom>
          <a:solidFill>
            <a:srgbClr val="FF8B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452C367-FEF9-4B44-B95B-A10E42142D58}"/>
              </a:ext>
            </a:extLst>
          </p:cNvPr>
          <p:cNvSpPr txBox="1"/>
          <p:nvPr/>
        </p:nvSpPr>
        <p:spPr>
          <a:xfrm>
            <a:off x="4000500" y="32385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COBOL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22023FE8-DA56-0A43-8560-B0E98E6A476B}"/>
              </a:ext>
            </a:extLst>
          </p:cNvPr>
          <p:cNvSpPr/>
          <p:nvPr/>
        </p:nvSpPr>
        <p:spPr>
          <a:xfrm>
            <a:off x="3937000" y="2286000"/>
            <a:ext cx="1651000" cy="889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B25DB13-64C7-7845-A8D0-82400771CFAB}"/>
              </a:ext>
            </a:extLst>
          </p:cNvPr>
          <p:cNvSpPr txBox="1"/>
          <p:nvPr/>
        </p:nvSpPr>
        <p:spPr>
          <a:xfrm>
            <a:off x="4000500" y="23495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Java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776DAAF-3587-2A4E-B92C-1F323CDF87CA}"/>
              </a:ext>
            </a:extLst>
          </p:cNvPr>
          <p:cNvSpPr txBox="1"/>
          <p:nvPr/>
        </p:nvSpPr>
        <p:spPr>
          <a:xfrm>
            <a:off x="3556000" y="5207000"/>
            <a:ext cx="2540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555555"/>
                </a:solidFill>
              </a:rPr>
              <a:t>Neue Anfragen → Java
Fallback → COBOL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BE90CB1-BBC8-3849-851E-2DB9F07AEC35}"/>
              </a:ext>
            </a:extLst>
          </p:cNvPr>
          <p:cNvSpPr/>
          <p:nvPr/>
        </p:nvSpPr>
        <p:spPr>
          <a:xfrm>
            <a:off x="7429500" y="1270000"/>
            <a:ext cx="508000" cy="508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0E86661-D448-2349-9BE6-ED051E6ACB9B}"/>
              </a:ext>
            </a:extLst>
          </p:cNvPr>
          <p:cNvSpPr txBox="1"/>
          <p:nvPr/>
        </p:nvSpPr>
        <p:spPr>
          <a:xfrm>
            <a:off x="6477000" y="18415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</a:rPr>
              <a:t>Parallel-Run</a:t>
            </a:r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BA74AB5B-0E4E-7E4B-9108-DB925FE57D0E}"/>
              </a:ext>
            </a:extLst>
          </p:cNvPr>
          <p:cNvSpPr/>
          <p:nvPr/>
        </p:nvSpPr>
        <p:spPr>
          <a:xfrm>
            <a:off x="6858000" y="4064000"/>
            <a:ext cx="1651000" cy="1016000"/>
          </a:xfrm>
          <a:prstGeom prst="roundRect">
            <a:avLst/>
          </a:prstGeom>
          <a:solidFill>
            <a:srgbClr val="FFAA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7F7D09A-4492-484B-8964-5FC6308DDAB1}"/>
              </a:ext>
            </a:extLst>
          </p:cNvPr>
          <p:cNvSpPr txBox="1"/>
          <p:nvPr/>
        </p:nvSpPr>
        <p:spPr>
          <a:xfrm>
            <a:off x="6921500" y="41275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COBOL</a:t>
            </a:r>
          </a:p>
        </p:txBody>
      </p:sp>
      <p:sp>
        <p:nvSpPr>
          <p:cNvPr id="20" name="Abgerundetes Rechteck 19">
            <a:extLst>
              <a:ext uri="{FF2B5EF4-FFF2-40B4-BE49-F238E27FC236}">
                <a16:creationId xmlns:a16="http://schemas.microsoft.com/office/drawing/2014/main" id="{DEED6926-C7C8-7B41-815A-C62DB09583C8}"/>
              </a:ext>
            </a:extLst>
          </p:cNvPr>
          <p:cNvSpPr/>
          <p:nvPr/>
        </p:nvSpPr>
        <p:spPr>
          <a:xfrm>
            <a:off x="6858000" y="2286000"/>
            <a:ext cx="1651000" cy="1778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66E738DE-4DF1-F34B-B708-640CFCAC6A78}"/>
              </a:ext>
            </a:extLst>
          </p:cNvPr>
          <p:cNvSpPr txBox="1"/>
          <p:nvPr/>
        </p:nvSpPr>
        <p:spPr>
          <a:xfrm>
            <a:off x="6921500" y="23495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Java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B7DD308-4395-E942-BA00-9B6F0DF4E45D}"/>
              </a:ext>
            </a:extLst>
          </p:cNvPr>
          <p:cNvSpPr txBox="1"/>
          <p:nvPr/>
        </p:nvSpPr>
        <p:spPr>
          <a:xfrm>
            <a:off x="6477000" y="5207000"/>
            <a:ext cx="2540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555555"/>
                </a:solidFill>
              </a:rPr>
              <a:t>Beide Systeme
Outputs vergleichen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06607DB-05C6-404C-9622-8628630828C6}"/>
              </a:ext>
            </a:extLst>
          </p:cNvPr>
          <p:cNvSpPr/>
          <p:nvPr/>
        </p:nvSpPr>
        <p:spPr>
          <a:xfrm>
            <a:off x="10350500" y="1270000"/>
            <a:ext cx="508000" cy="508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81D2902A-6846-C04F-92A2-40BEDF0AB55C}"/>
              </a:ext>
            </a:extLst>
          </p:cNvPr>
          <p:cNvSpPr txBox="1"/>
          <p:nvPr/>
        </p:nvSpPr>
        <p:spPr>
          <a:xfrm>
            <a:off x="9398000" y="18415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 b="1">
                <a:solidFill>
                  <a:srgbClr val="212B80"/>
                </a:solidFill>
              </a:rPr>
              <a:t>Cutover</a:t>
            </a:r>
          </a:p>
        </p:txBody>
      </p:sp>
      <p:sp>
        <p:nvSpPr>
          <p:cNvPr id="25" name="Abgerundetes Rechteck 24">
            <a:extLst>
              <a:ext uri="{FF2B5EF4-FFF2-40B4-BE49-F238E27FC236}">
                <a16:creationId xmlns:a16="http://schemas.microsoft.com/office/drawing/2014/main" id="{62A74CBB-7BD9-1B47-A89B-528AF1BD6CF0}"/>
              </a:ext>
            </a:extLst>
          </p:cNvPr>
          <p:cNvSpPr/>
          <p:nvPr/>
        </p:nvSpPr>
        <p:spPr>
          <a:xfrm>
            <a:off x="9779000" y="2286000"/>
            <a:ext cx="1651000" cy="2794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B5936EA9-61F2-AD49-AB7B-0FDC448990F2}"/>
              </a:ext>
            </a:extLst>
          </p:cNvPr>
          <p:cNvSpPr txBox="1"/>
          <p:nvPr/>
        </p:nvSpPr>
        <p:spPr>
          <a:xfrm>
            <a:off x="9842500" y="23495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FFFF"/>
                </a:solidFill>
              </a:rPr>
              <a:t>Java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929D7BA-013A-1F4E-B4DC-C7BEDBEAE1C6}"/>
              </a:ext>
            </a:extLst>
          </p:cNvPr>
          <p:cNvSpPr txBox="1"/>
          <p:nvPr/>
        </p:nvSpPr>
        <p:spPr>
          <a:xfrm>
            <a:off x="9398000" y="5207000"/>
            <a:ext cx="2540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555555"/>
                </a:solidFill>
              </a:rPr>
              <a:t>COBOL
abschalten</a:t>
            </a:r>
          </a:p>
        </p:txBody>
      </p:sp>
      <p:sp>
        <p:nvSpPr>
          <p:cNvPr id="28" name="Pfeil nach rechts 27">
            <a:extLst>
              <a:ext uri="{FF2B5EF4-FFF2-40B4-BE49-F238E27FC236}">
                <a16:creationId xmlns:a16="http://schemas.microsoft.com/office/drawing/2014/main" id="{C5749D5B-05DD-4E4F-BFED-3EDE43FEE25A}"/>
              </a:ext>
            </a:extLst>
          </p:cNvPr>
          <p:cNvSpPr/>
          <p:nvPr/>
        </p:nvSpPr>
        <p:spPr>
          <a:xfrm>
            <a:off x="1270000" y="6096000"/>
            <a:ext cx="9652000" cy="317500"/>
          </a:xfrm>
          <a:prstGeom prst="rightArrow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1202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34A7AD0-F071-ED48-87D8-6906D27100C3}"/>
              </a:ext>
            </a:extLst>
          </p:cNvPr>
          <p:cNvSpPr txBox="1"/>
          <p:nvPr/>
        </p:nvSpPr>
        <p:spPr>
          <a:xfrm>
            <a:off x="762000" y="317500"/>
            <a:ext cx="889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212B80"/>
                </a:solidFill>
              </a:rPr>
              <a:t>Swarm + Ralph für große Migrationen</a:t>
            </a:r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A616FA4C-A908-C241-8AF6-418A2D276FBD}"/>
              </a:ext>
            </a:extLst>
          </p:cNvPr>
          <p:cNvSpPr/>
          <p:nvPr/>
        </p:nvSpPr>
        <p:spPr>
          <a:xfrm>
            <a:off x="381000" y="1016000"/>
            <a:ext cx="5715000" cy="32385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B1B25BC-8E6E-D440-B45A-B8138E245A5D}"/>
              </a:ext>
            </a:extLst>
          </p:cNvPr>
          <p:cNvSpPr txBox="1"/>
          <p:nvPr/>
        </p:nvSpPr>
        <p:spPr>
          <a:xfrm>
            <a:off x="571500" y="10795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3F59FF"/>
                </a:solidFill>
                <a:latin typeface="Consolas"/>
                <a:cs typeface="Consolas"/>
              </a:rPr>
              <a:t>/swarm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E249E40-4D50-1A4D-B4FC-AFC54AD822FE}"/>
              </a:ext>
            </a:extLst>
          </p:cNvPr>
          <p:cNvSpPr txBox="1"/>
          <p:nvPr/>
        </p:nvSpPr>
        <p:spPr>
          <a:xfrm>
            <a:off x="571500" y="14605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Jedes COBOL-Modul = ein Agent (parallel)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ACA8211C-3111-0D4A-A522-2916254D4BEC}"/>
              </a:ext>
            </a:extLst>
          </p:cNvPr>
          <p:cNvSpPr/>
          <p:nvPr/>
        </p:nvSpPr>
        <p:spPr>
          <a:xfrm>
            <a:off x="698500" y="1968500"/>
            <a:ext cx="1905000" cy="5334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500" b="1">
                <a:solidFill>
                  <a:srgbClr val="FFFFFF"/>
                </a:solidFill>
              </a:rPr>
              <a:t>Runde 1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BE97FE4-FF08-2349-842B-8F34C5D29F26}"/>
              </a:ext>
            </a:extLst>
          </p:cNvPr>
          <p:cNvSpPr txBox="1"/>
          <p:nvPr/>
        </p:nvSpPr>
        <p:spPr>
          <a:xfrm>
            <a:off x="2794000" y="20320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Analyse + Plan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101FF64F-766C-8945-81C2-13888945FE43}"/>
              </a:ext>
            </a:extLst>
          </p:cNvPr>
          <p:cNvSpPr/>
          <p:nvPr/>
        </p:nvSpPr>
        <p:spPr>
          <a:xfrm>
            <a:off x="698500" y="2667000"/>
            <a:ext cx="1905000" cy="5334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500" b="1">
                <a:solidFill>
                  <a:srgbClr val="FFFFFF"/>
                </a:solidFill>
              </a:rPr>
              <a:t>Runde 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77527A5-2726-7449-8154-7448B8C76657}"/>
              </a:ext>
            </a:extLst>
          </p:cNvPr>
          <p:cNvSpPr txBox="1"/>
          <p:nvPr/>
        </p:nvSpPr>
        <p:spPr>
          <a:xfrm>
            <a:off x="2794000" y="27305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Implementierung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0C93D79A-748E-044E-87AF-6EFBF69700A1}"/>
              </a:ext>
            </a:extLst>
          </p:cNvPr>
          <p:cNvSpPr/>
          <p:nvPr/>
        </p:nvSpPr>
        <p:spPr>
          <a:xfrm>
            <a:off x="698500" y="3365500"/>
            <a:ext cx="1905000" cy="5334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500" b="1">
                <a:solidFill>
                  <a:srgbClr val="FFFFFF"/>
                </a:solidFill>
              </a:rPr>
              <a:t>Runde 3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E12C2FD-582F-9941-9E90-D6D10DB3E71B}"/>
              </a:ext>
            </a:extLst>
          </p:cNvPr>
          <p:cNvSpPr txBox="1"/>
          <p:nvPr/>
        </p:nvSpPr>
        <p:spPr>
          <a:xfrm>
            <a:off x="2794000" y="3429000"/>
            <a:ext cx="304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Review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50A811E5-C3BE-E54A-B1AC-19A79C237092}"/>
              </a:ext>
            </a:extLst>
          </p:cNvPr>
          <p:cNvSpPr/>
          <p:nvPr/>
        </p:nvSpPr>
        <p:spPr>
          <a:xfrm>
            <a:off x="6350000" y="1016000"/>
            <a:ext cx="5588000" cy="32385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97F4D19-BDD1-9C45-9DE4-9EF65F6EECD8}"/>
              </a:ext>
            </a:extLst>
          </p:cNvPr>
          <p:cNvSpPr txBox="1"/>
          <p:nvPr/>
        </p:nvSpPr>
        <p:spPr>
          <a:xfrm>
            <a:off x="6540500" y="10795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 b="1">
                <a:solidFill>
                  <a:srgbClr val="212B80"/>
                </a:solidFill>
              </a:rPr>
              <a:t>Ralph-Methode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04D6026-069A-E445-A40A-5A86D4D52407}"/>
              </a:ext>
            </a:extLst>
          </p:cNvPr>
          <p:cNvSpPr txBox="1"/>
          <p:nvPr/>
        </p:nvSpPr>
        <p:spPr>
          <a:xfrm>
            <a:off x="6540500" y="1498600"/>
            <a:ext cx="5207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212121"/>
                </a:solidFill>
              </a:rPr>
              <a:t>Iterative Loops mit frischem
Kontext pro Modul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AC6F92A-66C0-594B-AC9B-14F58DD31F12}"/>
              </a:ext>
            </a:extLst>
          </p:cNvPr>
          <p:cNvSpPr/>
          <p:nvPr/>
        </p:nvSpPr>
        <p:spPr>
          <a:xfrm>
            <a:off x="6985000" y="2222500"/>
            <a:ext cx="1524000" cy="762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dirty="0">
                <a:solidFill>
                  <a:srgbClr val="FFFFFF"/>
                </a:solidFill>
              </a:rPr>
              <a:t>  Analyse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8A6C9CD-8D3A-7A45-A498-8661DF3550A3}"/>
              </a:ext>
            </a:extLst>
          </p:cNvPr>
          <p:cNvSpPr/>
          <p:nvPr/>
        </p:nvSpPr>
        <p:spPr>
          <a:xfrm>
            <a:off x="8890000" y="2222500"/>
            <a:ext cx="1524000" cy="7620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dirty="0" err="1">
                <a:solidFill>
                  <a:srgbClr val="FFFFFF"/>
                </a:solidFill>
              </a:rPr>
              <a:t>Implemet</a:t>
            </a:r>
            <a:endParaRPr lang="de-DE" sz="1400" dirty="0">
              <a:solidFill>
                <a:srgbClr val="FFFFFF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7F715B-4129-C44F-8B44-BDAC453AF9C9}"/>
              </a:ext>
            </a:extLst>
          </p:cNvPr>
          <p:cNvSpPr/>
          <p:nvPr/>
        </p:nvSpPr>
        <p:spPr>
          <a:xfrm>
            <a:off x="7937500" y="3238500"/>
            <a:ext cx="1524000" cy="7620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400" dirty="0">
                <a:solidFill>
                  <a:srgbClr val="FFFFFF"/>
                </a:solidFill>
              </a:rPr>
              <a:t>    </a:t>
            </a:r>
            <a:r>
              <a:rPr lang="de-DE" sz="1400" dirty="0" err="1">
                <a:solidFill>
                  <a:srgbClr val="FFFFFF"/>
                </a:solidFill>
              </a:rPr>
              <a:t>Verify</a:t>
            </a:r>
            <a:endParaRPr lang="de-DE" sz="1400" dirty="0">
              <a:solidFill>
                <a:srgbClr val="FFFFFF"/>
              </a:solidFill>
            </a:endParaRPr>
          </a:p>
        </p:txBody>
      </p:sp>
      <p:sp>
        <p:nvSpPr>
          <p:cNvPr id="19" name="Abgerundetes Rechteck 18">
            <a:extLst>
              <a:ext uri="{FF2B5EF4-FFF2-40B4-BE49-F238E27FC236}">
                <a16:creationId xmlns:a16="http://schemas.microsoft.com/office/drawing/2014/main" id="{FC48AB0B-774D-9749-8173-E798BCB15443}"/>
              </a:ext>
            </a:extLst>
          </p:cNvPr>
          <p:cNvSpPr/>
          <p:nvPr/>
        </p:nvSpPr>
        <p:spPr>
          <a:xfrm>
            <a:off x="381000" y="4508500"/>
            <a:ext cx="11557000" cy="9525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EB64296-54A2-DF4A-B952-3B2DA351809D}"/>
              </a:ext>
            </a:extLst>
          </p:cNvPr>
          <p:cNvSpPr txBox="1"/>
          <p:nvPr/>
        </p:nvSpPr>
        <p:spPr>
          <a:xfrm>
            <a:off x="635000" y="4572000"/>
            <a:ext cx="1104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FFFFFF"/>
                </a:solidFill>
              </a:rPr>
              <a:t>Löst das Problem: "Langer Chat → Kontext voll → Qualität sinkt"
Jeder Loop startet mit frischem Kontext und dem bisherigen Ergebnis</a:t>
            </a:r>
          </a:p>
        </p:txBody>
      </p:sp>
    </p:spTree>
    <p:extLst>
      <p:ext uri="{BB962C8B-B14F-4D97-AF65-F5344CB8AC3E}">
        <p14:creationId xmlns:p14="http://schemas.microsoft.com/office/powerpoint/2010/main" val="2625152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59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D10B912-DEC2-544A-9D4A-BF2E12EBC9A6}"/>
              </a:ext>
            </a:extLst>
          </p:cNvPr>
          <p:cNvSpPr txBox="1"/>
          <p:nvPr/>
        </p:nvSpPr>
        <p:spPr>
          <a:xfrm>
            <a:off x="1270000" y="1270000"/>
            <a:ext cx="9652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4800" b="1">
                <a:solidFill>
                  <a:srgbClr val="FFFFFF"/>
                </a:solidFill>
              </a:rPr>
              <a:t>Jetzt seid ihr dran!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64D325D-1984-9D46-BD17-862E64400BD3}"/>
              </a:ext>
            </a:extLst>
          </p:cNvPr>
          <p:cNvSpPr txBox="1"/>
          <p:nvPr/>
        </p:nvSpPr>
        <p:spPr>
          <a:xfrm>
            <a:off x="1270000" y="2413000"/>
            <a:ext cx="965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400">
                <a:solidFill>
                  <a:srgbClr val="E8EAFF"/>
                </a:solidFill>
              </a:rPr>
              <a:t>Von der Theorie in die Praxis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5B4E0D8-CE27-2B49-A031-72711EBC8DD7}"/>
              </a:ext>
            </a:extLst>
          </p:cNvPr>
          <p:cNvSpPr/>
          <p:nvPr/>
        </p:nvSpPr>
        <p:spPr>
          <a:xfrm>
            <a:off x="5080000" y="3302000"/>
            <a:ext cx="2032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2E87D8EA-4CC5-B14B-B44E-DF6BA36FC09E}"/>
              </a:ext>
            </a:extLst>
          </p:cNvPr>
          <p:cNvSpPr/>
          <p:nvPr/>
        </p:nvSpPr>
        <p:spPr>
          <a:xfrm>
            <a:off x="1270000" y="3683000"/>
            <a:ext cx="4445000" cy="1905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4ED7AE0-7DBE-7041-9783-26CC6610B339}"/>
              </a:ext>
            </a:extLst>
          </p:cNvPr>
          <p:cNvSpPr txBox="1"/>
          <p:nvPr/>
        </p:nvSpPr>
        <p:spPr>
          <a:xfrm>
            <a:off x="1524000" y="3810000"/>
            <a:ext cx="3937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FFD440"/>
                </a:solidFill>
              </a:rPr>
              <a:t>Warm-up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78B7C08-1D9A-DD4B-8DAF-41B1AEB33C16}"/>
              </a:ext>
            </a:extLst>
          </p:cNvPr>
          <p:cNvSpPr txBox="1"/>
          <p:nvPr/>
        </p:nvSpPr>
        <p:spPr>
          <a:xfrm>
            <a:off x="1524000" y="4318000"/>
            <a:ext cx="3937000" cy="9233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dirty="0">
                <a:solidFill>
                  <a:srgbClr val="FFFFFF"/>
                </a:solidFill>
              </a:rPr>
              <a:t>Synthetische Beispiele
</a:t>
            </a:r>
            <a:r>
              <a:rPr lang="de-DE" dirty="0" err="1">
                <a:solidFill>
                  <a:srgbClr val="FFFFFF"/>
                </a:solidFill>
              </a:rPr>
              <a:t>payroll.cbl</a:t>
            </a:r>
            <a:r>
              <a:rPr lang="de-DE" dirty="0">
                <a:solidFill>
                  <a:srgbClr val="FFFFFF"/>
                </a:solidFill>
              </a:rPr>
              <a:t> + </a:t>
            </a:r>
            <a:r>
              <a:rPr lang="de-DE" dirty="0" err="1">
                <a:solidFill>
                  <a:srgbClr val="FFFFFF"/>
                </a:solidFill>
              </a:rPr>
              <a:t>inventory.cbl</a:t>
            </a:r>
            <a:r>
              <a:rPr lang="de-DE" dirty="0">
                <a:solidFill>
                  <a:srgbClr val="FFFFFF"/>
                </a:solidFill>
              </a:rPr>
              <a:t>
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47013651-895E-8E4A-B3F3-B3C66D21AAF0}"/>
              </a:ext>
            </a:extLst>
          </p:cNvPr>
          <p:cNvSpPr/>
          <p:nvPr/>
        </p:nvSpPr>
        <p:spPr>
          <a:xfrm>
            <a:off x="6477000" y="3683000"/>
            <a:ext cx="4445000" cy="1905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B7CFA32-DD28-4149-B5D8-1D603CD97551}"/>
              </a:ext>
            </a:extLst>
          </p:cNvPr>
          <p:cNvSpPr txBox="1"/>
          <p:nvPr/>
        </p:nvSpPr>
        <p:spPr>
          <a:xfrm>
            <a:off x="6731000" y="3810000"/>
            <a:ext cx="3937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FFD440"/>
                </a:solidFill>
              </a:rPr>
              <a:t>Hauptübung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1F6FB08-78CF-0247-A26B-D7EEEE08CD5A}"/>
              </a:ext>
            </a:extLst>
          </p:cNvPr>
          <p:cNvSpPr txBox="1"/>
          <p:nvPr/>
        </p:nvSpPr>
        <p:spPr>
          <a:xfrm>
            <a:off x="6731000" y="4318000"/>
            <a:ext cx="3937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dirty="0">
                <a:solidFill>
                  <a:srgbClr val="FFFFFF"/>
                </a:solidFill>
              </a:rPr>
              <a:t>Euer echtes COBOL
Echte Unternehmenslogik</a:t>
            </a:r>
          </a:p>
        </p:txBody>
      </p:sp>
    </p:spTree>
    <p:extLst>
      <p:ext uri="{BB962C8B-B14F-4D97-AF65-F5344CB8AC3E}">
        <p14:creationId xmlns:p14="http://schemas.microsoft.com/office/powerpoint/2010/main" val="3975248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FDD86E5-49E2-FE4C-BCD6-C397A9739BDD}"/>
              </a:ext>
            </a:extLst>
          </p:cNvPr>
          <p:cNvSpPr txBox="1"/>
          <p:nvPr/>
        </p:nvSpPr>
        <p:spPr>
          <a:xfrm>
            <a:off x="762000" y="190500"/>
            <a:ext cx="127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3F59FF"/>
                </a:solidFill>
              </a:rPr>
              <a:t>TEAM A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EDC9D98-1ED3-D346-B20E-96D3AC6EF896}"/>
              </a:ext>
            </a:extLst>
          </p:cNvPr>
          <p:cNvSpPr txBox="1"/>
          <p:nvPr/>
        </p:nvSpPr>
        <p:spPr>
          <a:xfrm>
            <a:off x="762000" y="4826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212B80"/>
                </a:solidFill>
              </a:rPr>
              <a:t>payroll.cbl — Gehaltsabrechnung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39B51AA-1EFF-694D-B7B1-81B2F2BA4D2C}"/>
              </a:ext>
            </a:extLst>
          </p:cNvPr>
          <p:cNvSpPr/>
          <p:nvPr/>
        </p:nvSpPr>
        <p:spPr>
          <a:xfrm>
            <a:off x="762000" y="1270000"/>
            <a:ext cx="571500" cy="5715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EC7FB82-19A3-5544-B2AE-D0AC3AC31DD8}"/>
              </a:ext>
            </a:extLst>
          </p:cNvPr>
          <p:cNvSpPr txBox="1"/>
          <p:nvPr/>
        </p:nvSpPr>
        <p:spPr>
          <a:xfrm>
            <a:off x="1524000" y="12065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Analysieren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B846A3B-37BC-594A-8F07-04A109BCDCCB}"/>
              </a:ext>
            </a:extLst>
          </p:cNvPr>
          <p:cNvSpPr txBox="1"/>
          <p:nvPr/>
        </p:nvSpPr>
        <p:spPr>
          <a:xfrm>
            <a:off x="1524000" y="1562100"/>
            <a:ext cx="990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COBOL-Programm von KI erklären lassen.
Frage: "Was macht dieses Programm?"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BD08619-04FE-9249-8053-D43EA7B89DE6}"/>
              </a:ext>
            </a:extLst>
          </p:cNvPr>
          <p:cNvSpPr/>
          <p:nvPr/>
        </p:nvSpPr>
        <p:spPr>
          <a:xfrm>
            <a:off x="1028700" y="1841500"/>
            <a:ext cx="38100" cy="4445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C0BCBD-9D54-854A-B55B-15C5CA1EF9F2}"/>
              </a:ext>
            </a:extLst>
          </p:cNvPr>
          <p:cNvSpPr/>
          <p:nvPr/>
        </p:nvSpPr>
        <p:spPr>
          <a:xfrm>
            <a:off x="762000" y="2349500"/>
            <a:ext cx="571500" cy="5715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1488C7F-C896-0F45-B74D-BD18F54D873F}"/>
              </a:ext>
            </a:extLst>
          </p:cNvPr>
          <p:cNvSpPr txBox="1"/>
          <p:nvPr/>
        </p:nvSpPr>
        <p:spPr>
          <a:xfrm>
            <a:off x="1524000" y="22860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Kritische Stellen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CDDC6EC-6899-CF48-8528-41B3CF4D5D6A}"/>
              </a:ext>
            </a:extLst>
          </p:cNvPr>
          <p:cNvSpPr txBox="1"/>
          <p:nvPr/>
        </p:nvSpPr>
        <p:spPr>
          <a:xfrm>
            <a:off x="1524000" y="2641600"/>
            <a:ext cx="990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Rundung, Datentypen, COMP-3 Felder
identifizieren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C0FFB80-766E-E441-90A2-5C0E05555C76}"/>
              </a:ext>
            </a:extLst>
          </p:cNvPr>
          <p:cNvSpPr/>
          <p:nvPr/>
        </p:nvSpPr>
        <p:spPr>
          <a:xfrm>
            <a:off x="1028700" y="2921000"/>
            <a:ext cx="38100" cy="4445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213D037-E1D6-7F45-B919-E5F20C13E8C6}"/>
              </a:ext>
            </a:extLst>
          </p:cNvPr>
          <p:cNvSpPr/>
          <p:nvPr/>
        </p:nvSpPr>
        <p:spPr>
          <a:xfrm>
            <a:off x="762000" y="3429000"/>
            <a:ext cx="571500" cy="5715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85A2BB5-D450-1C44-B58B-7C0414835163}"/>
              </a:ext>
            </a:extLst>
          </p:cNvPr>
          <p:cNvSpPr txBox="1"/>
          <p:nvPr/>
        </p:nvSpPr>
        <p:spPr>
          <a:xfrm>
            <a:off x="1524000" y="33655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Struktur planen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70AF1C0-B84D-614E-A676-1102BEF27CA9}"/>
              </a:ext>
            </a:extLst>
          </p:cNvPr>
          <p:cNvSpPr txBox="1"/>
          <p:nvPr/>
        </p:nvSpPr>
        <p:spPr>
          <a:xfrm>
            <a:off x="1524000" y="3721100"/>
            <a:ext cx="990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Java-Klassenstruktur: PayrollService,
Employee, TaxCalculator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84D4484-CF61-9443-BAB9-4F6D933ECFBC}"/>
              </a:ext>
            </a:extLst>
          </p:cNvPr>
          <p:cNvSpPr/>
          <p:nvPr/>
        </p:nvSpPr>
        <p:spPr>
          <a:xfrm>
            <a:off x="1028700" y="4000500"/>
            <a:ext cx="38100" cy="4445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B6E0467-4A85-C940-B312-0281C269052F}"/>
              </a:ext>
            </a:extLst>
          </p:cNvPr>
          <p:cNvSpPr/>
          <p:nvPr/>
        </p:nvSpPr>
        <p:spPr>
          <a:xfrm>
            <a:off x="762000" y="4508500"/>
            <a:ext cx="571500" cy="5715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F27FD77-C8C5-A841-AAE0-A349BADB2223}"/>
              </a:ext>
            </a:extLst>
          </p:cNvPr>
          <p:cNvSpPr txBox="1"/>
          <p:nvPr/>
        </p:nvSpPr>
        <p:spPr>
          <a:xfrm>
            <a:off x="1524000" y="44450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Implementieren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68B8BDD-1EE8-7A49-AA96-F83E7F29D1D7}"/>
              </a:ext>
            </a:extLst>
          </p:cNvPr>
          <p:cNvSpPr txBox="1"/>
          <p:nvPr/>
        </p:nvSpPr>
        <p:spPr>
          <a:xfrm>
            <a:off x="1524000" y="4800600"/>
            <a:ext cx="990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BigDecimal + RoundingMode.HALF_UP
@Transactional, Audit-Logging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8316B554-44C5-9342-96A9-DF1B411EA94C}"/>
              </a:ext>
            </a:extLst>
          </p:cNvPr>
          <p:cNvSpPr/>
          <p:nvPr/>
        </p:nvSpPr>
        <p:spPr>
          <a:xfrm>
            <a:off x="1028700" y="5080000"/>
            <a:ext cx="38100" cy="4445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969240D-4F43-A341-80A3-37C8219D8929}"/>
              </a:ext>
            </a:extLst>
          </p:cNvPr>
          <p:cNvSpPr/>
          <p:nvPr/>
        </p:nvSpPr>
        <p:spPr>
          <a:xfrm>
            <a:off x="762000" y="5588000"/>
            <a:ext cx="571500" cy="5715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FA33DC1-023C-2D4A-AAC5-4D2EF16C01A5}"/>
              </a:ext>
            </a:extLst>
          </p:cNvPr>
          <p:cNvSpPr txBox="1"/>
          <p:nvPr/>
        </p:nvSpPr>
        <p:spPr>
          <a:xfrm>
            <a:off x="1524000" y="55245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Testen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5F8B012-AB6E-D24A-B1DF-D9C12A8885C8}"/>
              </a:ext>
            </a:extLst>
          </p:cNvPr>
          <p:cNvSpPr txBox="1"/>
          <p:nvPr/>
        </p:nvSpPr>
        <p:spPr>
          <a:xfrm>
            <a:off x="1524000" y="5880100"/>
            <a:ext cx="990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JUnit 5 mit bekannten Test-Inputs
Golden File Vergleich</a:t>
            </a:r>
          </a:p>
        </p:txBody>
      </p:sp>
    </p:spTree>
    <p:extLst>
      <p:ext uri="{BB962C8B-B14F-4D97-AF65-F5344CB8AC3E}">
        <p14:creationId xmlns:p14="http://schemas.microsoft.com/office/powerpoint/2010/main" val="3414833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0F8DAB2-0236-BA42-A845-8BF10CEA5718}"/>
              </a:ext>
            </a:extLst>
          </p:cNvPr>
          <p:cNvSpPr txBox="1"/>
          <p:nvPr/>
        </p:nvSpPr>
        <p:spPr>
          <a:xfrm>
            <a:off x="762000" y="190500"/>
            <a:ext cx="127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212B80"/>
                </a:solidFill>
              </a:rPr>
              <a:t>TEAM B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B1C2986-315C-274E-9B25-AAC55B2B5752}"/>
              </a:ext>
            </a:extLst>
          </p:cNvPr>
          <p:cNvSpPr txBox="1"/>
          <p:nvPr/>
        </p:nvSpPr>
        <p:spPr>
          <a:xfrm>
            <a:off x="762000" y="4826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800" b="1">
                <a:solidFill>
                  <a:srgbClr val="212B80"/>
                </a:solidFill>
              </a:rPr>
              <a:t>inventory.cbl — Lagerverwaltung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05F0EB3-5442-3348-A16C-5DD8AA7CD937}"/>
              </a:ext>
            </a:extLst>
          </p:cNvPr>
          <p:cNvSpPr/>
          <p:nvPr/>
        </p:nvSpPr>
        <p:spPr>
          <a:xfrm>
            <a:off x="762000" y="1270000"/>
            <a:ext cx="571500" cy="5715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244C72A-33D5-8448-B7A6-EC16B9CE6E24}"/>
              </a:ext>
            </a:extLst>
          </p:cNvPr>
          <p:cNvSpPr txBox="1"/>
          <p:nvPr/>
        </p:nvSpPr>
        <p:spPr>
          <a:xfrm>
            <a:off x="1524000" y="12065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Datenstrukturen analysieren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4CF7BF2-B81F-DC48-87A4-2C1E87029AAB}"/>
              </a:ext>
            </a:extLst>
          </p:cNvPr>
          <p:cNvSpPr txBox="1"/>
          <p:nvPr/>
        </p:nvSpPr>
        <p:spPr>
          <a:xfrm>
            <a:off x="1524000" y="1562100"/>
            <a:ext cx="990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Business Rules und Datenfluss
verstehen lassen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90C5922-DFB3-D447-A2D9-C52C84B34249}"/>
              </a:ext>
            </a:extLst>
          </p:cNvPr>
          <p:cNvSpPr/>
          <p:nvPr/>
        </p:nvSpPr>
        <p:spPr>
          <a:xfrm>
            <a:off x="1028700" y="1841500"/>
            <a:ext cx="38100" cy="4445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34F070-6307-B94F-9D2D-725E2B1F11AF}"/>
              </a:ext>
            </a:extLst>
          </p:cNvPr>
          <p:cNvSpPr/>
          <p:nvPr/>
        </p:nvSpPr>
        <p:spPr>
          <a:xfrm>
            <a:off x="762000" y="2349500"/>
            <a:ext cx="571500" cy="5715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4836BBA-A82E-9F4A-9FF3-58F5E0BEF727}"/>
              </a:ext>
            </a:extLst>
          </p:cNvPr>
          <p:cNvSpPr txBox="1"/>
          <p:nvPr/>
        </p:nvSpPr>
        <p:spPr>
          <a:xfrm>
            <a:off x="1524000" y="22860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Entity-Struktur planen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57F69B9-9634-E14F-8AC3-A556E83FC083}"/>
              </a:ext>
            </a:extLst>
          </p:cNvPr>
          <p:cNvSpPr txBox="1"/>
          <p:nvPr/>
        </p:nvSpPr>
        <p:spPr>
          <a:xfrm>
            <a:off x="1524000" y="2641600"/>
            <a:ext cx="990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Java/JPA: Product, Warehouse,
InventoryTransaction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71EE8E3-EEEA-A848-819C-87BCE09B7EA5}"/>
              </a:ext>
            </a:extLst>
          </p:cNvPr>
          <p:cNvSpPr/>
          <p:nvPr/>
        </p:nvSpPr>
        <p:spPr>
          <a:xfrm>
            <a:off x="1028700" y="2921000"/>
            <a:ext cx="38100" cy="4445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ED0CC19-1251-BB46-B47A-0D83913D517F}"/>
              </a:ext>
            </a:extLst>
          </p:cNvPr>
          <p:cNvSpPr/>
          <p:nvPr/>
        </p:nvSpPr>
        <p:spPr>
          <a:xfrm>
            <a:off x="762000" y="3429000"/>
            <a:ext cx="571500" cy="5715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9B73446-EA5B-B14E-B516-EBC5E9AA2574}"/>
              </a:ext>
            </a:extLst>
          </p:cNvPr>
          <p:cNvSpPr txBox="1"/>
          <p:nvPr/>
        </p:nvSpPr>
        <p:spPr>
          <a:xfrm>
            <a:off x="1524000" y="33655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Service implementieren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ED9A463-79B3-1747-99F9-6FC7C9DA07E8}"/>
              </a:ext>
            </a:extLst>
          </p:cNvPr>
          <p:cNvSpPr txBox="1"/>
          <p:nvPr/>
        </p:nvSpPr>
        <p:spPr>
          <a:xfrm>
            <a:off x="1524000" y="3721100"/>
            <a:ext cx="990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InventoryService mit Auto-Reorder-Logik
@Transactional, Event-Publishing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F1500E8-D56A-E64C-84C6-CA6AD8D42A04}"/>
              </a:ext>
            </a:extLst>
          </p:cNvPr>
          <p:cNvSpPr/>
          <p:nvPr/>
        </p:nvSpPr>
        <p:spPr>
          <a:xfrm>
            <a:off x="1028700" y="4000500"/>
            <a:ext cx="38100" cy="4445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2C25A87-3815-4042-85FE-02EF4489A229}"/>
              </a:ext>
            </a:extLst>
          </p:cNvPr>
          <p:cNvSpPr/>
          <p:nvPr/>
        </p:nvSpPr>
        <p:spPr>
          <a:xfrm>
            <a:off x="762000" y="4508500"/>
            <a:ext cx="571500" cy="571500"/>
          </a:xfrm>
          <a:prstGeom prst="ellipse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6F5F9B6-9678-5E49-9D86-D6BF5DC3A3FA}"/>
              </a:ext>
            </a:extLst>
          </p:cNvPr>
          <p:cNvSpPr txBox="1"/>
          <p:nvPr/>
        </p:nvSpPr>
        <p:spPr>
          <a:xfrm>
            <a:off x="1524000" y="44450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Tests schreiben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FC7BCB0-373A-4B46-9DE3-56EA2778254E}"/>
              </a:ext>
            </a:extLst>
          </p:cNvPr>
          <p:cNvSpPr txBox="1"/>
          <p:nvPr/>
        </p:nvSpPr>
        <p:spPr>
          <a:xfrm>
            <a:off x="1524000" y="4800600"/>
            <a:ext cx="990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Warehouse-Operationen: Eingang,
Ausgang, Umbuchung, Inventur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2FB2038-CC71-AA4C-A45A-3B09A93B35C3}"/>
              </a:ext>
            </a:extLst>
          </p:cNvPr>
          <p:cNvSpPr/>
          <p:nvPr/>
        </p:nvSpPr>
        <p:spPr>
          <a:xfrm>
            <a:off x="1028700" y="5080000"/>
            <a:ext cx="38100" cy="444500"/>
          </a:xfrm>
          <a:prstGeom prst="rect">
            <a:avLst/>
          </a:prstGeom>
          <a:solidFill>
            <a:srgbClr val="E8EA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558FE83-CCA5-1F45-9EE9-F5852DA3DBE7}"/>
              </a:ext>
            </a:extLst>
          </p:cNvPr>
          <p:cNvSpPr/>
          <p:nvPr/>
        </p:nvSpPr>
        <p:spPr>
          <a:xfrm>
            <a:off x="762000" y="5588000"/>
            <a:ext cx="571500" cy="5715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972AE93-A36C-EE4A-807E-82E763EBBD63}"/>
              </a:ext>
            </a:extLst>
          </p:cNvPr>
          <p:cNvSpPr txBox="1"/>
          <p:nvPr/>
        </p:nvSpPr>
        <p:spPr>
          <a:xfrm>
            <a:off x="1524000" y="55245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b="1">
                <a:solidFill>
                  <a:srgbClr val="212B80"/>
                </a:solidFill>
              </a:rPr>
              <a:t>Edge Cases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21978DB-61B6-1546-BE61-A0E02E429E39}"/>
              </a:ext>
            </a:extLst>
          </p:cNvPr>
          <p:cNvSpPr txBox="1"/>
          <p:nvPr/>
        </p:nvSpPr>
        <p:spPr>
          <a:xfrm>
            <a:off x="1524000" y="5880100"/>
            <a:ext cx="990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600">
                <a:solidFill>
                  <a:srgbClr val="555555"/>
                </a:solidFill>
              </a:rPr>
              <a:t>Negativbestand, Grenzwerte,
Race Conditions bei parallelem Zugriff</a:t>
            </a:r>
          </a:p>
        </p:txBody>
      </p:sp>
    </p:spTree>
    <p:extLst>
      <p:ext uri="{BB962C8B-B14F-4D97-AF65-F5344CB8AC3E}">
        <p14:creationId xmlns:p14="http://schemas.microsoft.com/office/powerpoint/2010/main" val="786013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B8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1F9F21C-C2F1-5E40-B7E5-D266EEF84DFA}"/>
              </a:ext>
            </a:extLst>
          </p:cNvPr>
          <p:cNvSpPr txBox="1"/>
          <p:nvPr/>
        </p:nvSpPr>
        <p:spPr>
          <a:xfrm>
            <a:off x="762000" y="3175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b="1">
                <a:solidFill>
                  <a:srgbClr val="FFD440"/>
                </a:solidFill>
              </a:rPr>
              <a:t>HAUPTÜBUNG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9A5296D-5F8B-E94E-989B-042B6C0C4E6C}"/>
              </a:ext>
            </a:extLst>
          </p:cNvPr>
          <p:cNvSpPr txBox="1"/>
          <p:nvPr/>
        </p:nvSpPr>
        <p:spPr>
          <a:xfrm>
            <a:off x="762000" y="6985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600" b="1">
                <a:solidFill>
                  <a:srgbClr val="FFFFFF"/>
                </a:solidFill>
              </a:rPr>
              <a:t>Euer echtes COBOL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4D2BC21-C0CC-414F-8D25-D96D7C546948}"/>
              </a:ext>
            </a:extLst>
          </p:cNvPr>
          <p:cNvSpPr txBox="1"/>
          <p:nvPr/>
        </p:nvSpPr>
        <p:spPr>
          <a:xfrm>
            <a:off x="762000" y="1397000"/>
            <a:ext cx="889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000">
                <a:solidFill>
                  <a:srgbClr val="E8EAFF"/>
                </a:solidFill>
              </a:rPr>
              <a:t>Bringt euer anonymisiertes COBOL-Modul mit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6D83993-2455-DF47-A2BF-A3F436ED80E9}"/>
              </a:ext>
            </a:extLst>
          </p:cNvPr>
          <p:cNvSpPr/>
          <p:nvPr/>
        </p:nvSpPr>
        <p:spPr>
          <a:xfrm>
            <a:off x="1016000" y="22225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AD3143B-F086-EC4E-ACBD-D16C8F623E06}"/>
              </a:ext>
            </a:extLst>
          </p:cNvPr>
          <p:cNvSpPr txBox="1"/>
          <p:nvPr/>
        </p:nvSpPr>
        <p:spPr>
          <a:xfrm>
            <a:off x="1905000" y="22860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>
                <a:solidFill>
                  <a:srgbClr val="FFFFFF"/>
                </a:solidFill>
              </a:rPr>
              <a:t>KI erklärt was das Programm macht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1BC5BAD-6B8C-E442-8491-5120A4CDC8AF}"/>
              </a:ext>
            </a:extLst>
          </p:cNvPr>
          <p:cNvSpPr/>
          <p:nvPr/>
        </p:nvSpPr>
        <p:spPr>
          <a:xfrm>
            <a:off x="1308100" y="2857500"/>
            <a:ext cx="38100" cy="3175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B84C965-D532-714B-AA6B-26F82F2504A3}"/>
              </a:ext>
            </a:extLst>
          </p:cNvPr>
          <p:cNvSpPr/>
          <p:nvPr/>
        </p:nvSpPr>
        <p:spPr>
          <a:xfrm>
            <a:off x="1016000" y="31750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821570C-7E8E-364A-B7EB-655DD60A15CC}"/>
              </a:ext>
            </a:extLst>
          </p:cNvPr>
          <p:cNvSpPr txBox="1"/>
          <p:nvPr/>
        </p:nvSpPr>
        <p:spPr>
          <a:xfrm>
            <a:off x="1905000" y="32385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>
                <a:solidFill>
                  <a:srgbClr val="FFFFFF"/>
                </a:solidFill>
              </a:rPr>
              <a:t>Migrationsplan erstellen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59CA187-960E-3648-B103-17B4F74924EB}"/>
              </a:ext>
            </a:extLst>
          </p:cNvPr>
          <p:cNvSpPr/>
          <p:nvPr/>
        </p:nvSpPr>
        <p:spPr>
          <a:xfrm>
            <a:off x="1308100" y="3810000"/>
            <a:ext cx="38100" cy="3175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F719556-FCC2-A34F-9526-046B282A5293}"/>
              </a:ext>
            </a:extLst>
          </p:cNvPr>
          <p:cNvSpPr/>
          <p:nvPr/>
        </p:nvSpPr>
        <p:spPr>
          <a:xfrm>
            <a:off x="1016000" y="41275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95D95B9-3FED-884B-81DB-EA19F45EF2F2}"/>
              </a:ext>
            </a:extLst>
          </p:cNvPr>
          <p:cNvSpPr txBox="1"/>
          <p:nvPr/>
        </p:nvSpPr>
        <p:spPr>
          <a:xfrm>
            <a:off x="1905000" y="41910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>
                <a:solidFill>
                  <a:srgbClr val="FFFFFF"/>
                </a:solidFill>
              </a:rPr>
              <a:t>Schritt für Schritt implementieren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F770476-7437-5B42-8232-634ADD63C39D}"/>
              </a:ext>
            </a:extLst>
          </p:cNvPr>
          <p:cNvSpPr/>
          <p:nvPr/>
        </p:nvSpPr>
        <p:spPr>
          <a:xfrm>
            <a:off x="1308100" y="4762500"/>
            <a:ext cx="38100" cy="3175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23AC54-72F1-9543-A993-483105B613C2}"/>
              </a:ext>
            </a:extLst>
          </p:cNvPr>
          <p:cNvSpPr/>
          <p:nvPr/>
        </p:nvSpPr>
        <p:spPr>
          <a:xfrm>
            <a:off x="1016000" y="5080000"/>
            <a:ext cx="635000" cy="635000"/>
          </a:xfrm>
          <a:prstGeom prst="ellipse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de-DE"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37FC80D-AB04-FC42-AE61-61E93C4E41AA}"/>
              </a:ext>
            </a:extLst>
          </p:cNvPr>
          <p:cNvSpPr txBox="1"/>
          <p:nvPr/>
        </p:nvSpPr>
        <p:spPr>
          <a:xfrm>
            <a:off x="1905000" y="51435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>
                <a:solidFill>
                  <a:srgbClr val="FFFFFF"/>
                </a:solidFill>
              </a:rPr>
              <a:t>Mit bekannten Test-Inputs verifizieren</a:t>
            </a:r>
          </a:p>
        </p:txBody>
      </p:sp>
    </p:spTree>
    <p:extLst>
      <p:ext uri="{BB962C8B-B14F-4D97-AF65-F5344CB8AC3E}">
        <p14:creationId xmlns:p14="http://schemas.microsoft.com/office/powerpoint/2010/main" val="18317493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C878C83-5CDE-8442-A5D9-1357E762CE6B}"/>
              </a:ext>
            </a:extLst>
          </p:cNvPr>
          <p:cNvSpPr txBox="1"/>
          <p:nvPr/>
        </p:nvSpPr>
        <p:spPr>
          <a:xfrm>
            <a:off x="762000" y="3810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Tipps für die Hauptübung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4018437-D655-814F-85B3-CD11BB0B1100}"/>
              </a:ext>
            </a:extLst>
          </p:cNvPr>
          <p:cNvSpPr/>
          <p:nvPr/>
        </p:nvSpPr>
        <p:spPr>
          <a:xfrm>
            <a:off x="762000" y="9906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36E0DD67-C999-CC40-B1C6-ECFAE7C3392D}"/>
              </a:ext>
            </a:extLst>
          </p:cNvPr>
          <p:cNvSpPr/>
          <p:nvPr/>
        </p:nvSpPr>
        <p:spPr>
          <a:xfrm>
            <a:off x="508000" y="1397000"/>
            <a:ext cx="5461000" cy="215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AE537627-B14F-C642-A712-569F52558F1C}"/>
              </a:ext>
            </a:extLst>
          </p:cNvPr>
          <p:cNvSpPr/>
          <p:nvPr/>
        </p:nvSpPr>
        <p:spPr>
          <a:xfrm>
            <a:off x="762000" y="1651000"/>
            <a:ext cx="1016000" cy="635000"/>
          </a:xfrm>
          <a:prstGeom prst="round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  <a:latin typeface="Consolas"/>
                <a:cs typeface="Consolas"/>
              </a:rPr>
              <a:t>/swarm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D80EA43-7C1A-F44E-8AD1-721F3423747A}"/>
              </a:ext>
            </a:extLst>
          </p:cNvPr>
          <p:cNvSpPr txBox="1"/>
          <p:nvPr/>
        </p:nvSpPr>
        <p:spPr>
          <a:xfrm>
            <a:off x="762000" y="2476500"/>
            <a:ext cx="4953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Wenn das Modul zu groß ist:
/swarm verwenden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9936E822-2F2D-C94A-B423-A9FF7851EAA3}"/>
              </a:ext>
            </a:extLst>
          </p:cNvPr>
          <p:cNvSpPr/>
          <p:nvPr/>
        </p:nvSpPr>
        <p:spPr>
          <a:xfrm>
            <a:off x="6350000" y="1397000"/>
            <a:ext cx="5461000" cy="215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B5C52FB5-0808-6F4F-8877-B8352C86D73D}"/>
              </a:ext>
            </a:extLst>
          </p:cNvPr>
          <p:cNvSpPr/>
          <p:nvPr/>
        </p:nvSpPr>
        <p:spPr>
          <a:xfrm>
            <a:off x="6604000" y="1651000"/>
            <a:ext cx="1016000" cy="635000"/>
          </a:xfrm>
          <a:prstGeom prst="round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  <a:latin typeface="Consolas"/>
                <a:cs typeface="Consolas"/>
              </a:rPr>
              <a:t>CoV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288FE93-8628-934D-AFF3-DACF2493A0E5}"/>
              </a:ext>
            </a:extLst>
          </p:cNvPr>
          <p:cNvSpPr txBox="1"/>
          <p:nvPr/>
        </p:nvSpPr>
        <p:spPr>
          <a:xfrm>
            <a:off x="6604000" y="2476500"/>
            <a:ext cx="4953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Chain-of-Verification für
kritische Berechnungen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5F0097A4-F45F-0C4F-8C0B-E45B0E62518D}"/>
              </a:ext>
            </a:extLst>
          </p:cNvPr>
          <p:cNvSpPr/>
          <p:nvPr/>
        </p:nvSpPr>
        <p:spPr>
          <a:xfrm>
            <a:off x="508000" y="3937000"/>
            <a:ext cx="5461000" cy="215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AF57D7BF-B931-C64F-8F5C-DF1870268E7D}"/>
              </a:ext>
            </a:extLst>
          </p:cNvPr>
          <p:cNvSpPr/>
          <p:nvPr/>
        </p:nvSpPr>
        <p:spPr>
          <a:xfrm>
            <a:off x="762000" y="4191000"/>
            <a:ext cx="1016000" cy="635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  <a:latin typeface="Consolas"/>
                <a:cs typeface="Consolas"/>
              </a:rPr>
              <a:t>Git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17F6FCA-0AFA-D340-848C-7281291D7671}"/>
              </a:ext>
            </a:extLst>
          </p:cNvPr>
          <p:cNvSpPr txBox="1"/>
          <p:nvPr/>
        </p:nvSpPr>
        <p:spPr>
          <a:xfrm>
            <a:off x="762000" y="5016500"/>
            <a:ext cx="4953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Jeden Schritt committen
(nicht alles auf einmal)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366B12AB-0448-C04B-92CF-BC1C9D693A5E}"/>
              </a:ext>
            </a:extLst>
          </p:cNvPr>
          <p:cNvSpPr/>
          <p:nvPr/>
        </p:nvSpPr>
        <p:spPr>
          <a:xfrm>
            <a:off x="6350000" y="3937000"/>
            <a:ext cx="5461000" cy="215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80F2214E-1B69-ED4F-9409-EF5AE55190F7}"/>
              </a:ext>
            </a:extLst>
          </p:cNvPr>
          <p:cNvSpPr/>
          <p:nvPr/>
        </p:nvSpPr>
        <p:spPr>
          <a:xfrm>
            <a:off x="6604000" y="4191000"/>
            <a:ext cx="1016000" cy="635000"/>
          </a:xfrm>
          <a:prstGeom prst="round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 b="1">
                <a:solidFill>
                  <a:srgbClr val="FFFFFF"/>
                </a:solidFill>
                <a:latin typeface="Consolas"/>
                <a:cs typeface="Consolas"/>
              </a:rPr>
              <a:t>New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F162DF0-2122-7C44-B684-6B8D5BCF71AF}"/>
              </a:ext>
            </a:extLst>
          </p:cNvPr>
          <p:cNvSpPr txBox="1"/>
          <p:nvPr/>
        </p:nvSpPr>
        <p:spPr>
          <a:xfrm>
            <a:off x="6604000" y="5016500"/>
            <a:ext cx="4953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>
                <a:solidFill>
                  <a:srgbClr val="212121"/>
                </a:solidFill>
              </a:rPr>
              <a:t>Bei Problemen: Neuen Chat
starten (frischer Kontext)</a:t>
            </a:r>
          </a:p>
        </p:txBody>
      </p:sp>
    </p:spTree>
    <p:extLst>
      <p:ext uri="{BB962C8B-B14F-4D97-AF65-F5344CB8AC3E}">
        <p14:creationId xmlns:p14="http://schemas.microsoft.com/office/powerpoint/2010/main" val="1644817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206884B-1E25-214D-8AA1-97DE80FABD68}"/>
              </a:ext>
            </a:extLst>
          </p:cNvPr>
          <p:cNvSpPr txBox="1"/>
          <p:nvPr/>
        </p:nvSpPr>
        <p:spPr>
          <a:xfrm>
            <a:off x="762000" y="3810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200" b="1">
                <a:solidFill>
                  <a:srgbClr val="212B80"/>
                </a:solidFill>
              </a:rPr>
              <a:t>Retrospektive — 3 Fragen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0EB8C80-3B21-1D4D-948D-2EA1B619F58F}"/>
              </a:ext>
            </a:extLst>
          </p:cNvPr>
          <p:cNvSpPr/>
          <p:nvPr/>
        </p:nvSpPr>
        <p:spPr>
          <a:xfrm>
            <a:off x="762000" y="9906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8215FE5B-DDF1-9846-8C76-0C53EA751B87}"/>
              </a:ext>
            </a:extLst>
          </p:cNvPr>
          <p:cNvSpPr/>
          <p:nvPr/>
        </p:nvSpPr>
        <p:spPr>
          <a:xfrm>
            <a:off x="635000" y="1397000"/>
            <a:ext cx="3492500" cy="4445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316B6FD-7391-5D43-8BA6-1209B965D363}"/>
              </a:ext>
            </a:extLst>
          </p:cNvPr>
          <p:cNvSpPr txBox="1"/>
          <p:nvPr/>
        </p:nvSpPr>
        <p:spPr>
          <a:xfrm>
            <a:off x="889000" y="1651000"/>
            <a:ext cx="76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5400" b="1">
                <a:solidFill>
                  <a:srgbClr val="4CAF50"/>
                </a:solidFill>
              </a:rPr>
              <a:t>1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1501BB8-8F8B-C342-BBBE-CEB26AD841A5}"/>
              </a:ext>
            </a:extLst>
          </p:cNvPr>
          <p:cNvSpPr/>
          <p:nvPr/>
        </p:nvSpPr>
        <p:spPr>
          <a:xfrm>
            <a:off x="1016000" y="2667000"/>
            <a:ext cx="2730500" cy="50800"/>
          </a:xfrm>
          <a:prstGeom prst="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A8EFDBA-DE0B-6542-844E-83681A21AC3C}"/>
              </a:ext>
            </a:extLst>
          </p:cNvPr>
          <p:cNvSpPr txBox="1"/>
          <p:nvPr/>
        </p:nvSpPr>
        <p:spPr>
          <a:xfrm>
            <a:off x="889000" y="29210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212121"/>
                </a:solidFill>
              </a:rPr>
              <a:t>Was hat die KI
gut gemacht?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E4A2BFDB-EBDB-C341-A888-633C1F16F10A}"/>
              </a:ext>
            </a:extLst>
          </p:cNvPr>
          <p:cNvSpPr/>
          <p:nvPr/>
        </p:nvSpPr>
        <p:spPr>
          <a:xfrm>
            <a:off x="889000" y="4445000"/>
            <a:ext cx="3048000" cy="101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>
                <a:solidFill>
                  <a:srgbClr val="AAAAAA"/>
                </a:solidFill>
              </a:rPr>
              <a:t>Eure Notizen...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AEFC39EA-0645-E341-A453-0B5899AC1B25}"/>
              </a:ext>
            </a:extLst>
          </p:cNvPr>
          <p:cNvSpPr/>
          <p:nvPr/>
        </p:nvSpPr>
        <p:spPr>
          <a:xfrm>
            <a:off x="4445000" y="1397000"/>
            <a:ext cx="3492500" cy="4445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4FA5D7B-5CB3-B74D-AFBE-7BC72150C5E9}"/>
              </a:ext>
            </a:extLst>
          </p:cNvPr>
          <p:cNvSpPr txBox="1"/>
          <p:nvPr/>
        </p:nvSpPr>
        <p:spPr>
          <a:xfrm>
            <a:off x="4699000" y="1651000"/>
            <a:ext cx="76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5400" b="1">
                <a:solidFill>
                  <a:srgbClr val="FFD440"/>
                </a:solidFill>
              </a:rPr>
              <a:t>2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4F226BC-D5CA-2D48-9D47-0775C894075E}"/>
              </a:ext>
            </a:extLst>
          </p:cNvPr>
          <p:cNvSpPr/>
          <p:nvPr/>
        </p:nvSpPr>
        <p:spPr>
          <a:xfrm>
            <a:off x="4826000" y="2667000"/>
            <a:ext cx="27305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61E1195-8461-DD44-AD93-B28F9853C365}"/>
              </a:ext>
            </a:extLst>
          </p:cNvPr>
          <p:cNvSpPr txBox="1"/>
          <p:nvPr/>
        </p:nvSpPr>
        <p:spPr>
          <a:xfrm>
            <a:off x="4699000" y="29210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212121"/>
                </a:solidFill>
              </a:rPr>
              <a:t>Wo musste ich eingreifen
/ korrigieren?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67C60B00-8AB4-C748-A575-FBB259D3FC7A}"/>
              </a:ext>
            </a:extLst>
          </p:cNvPr>
          <p:cNvSpPr/>
          <p:nvPr/>
        </p:nvSpPr>
        <p:spPr>
          <a:xfrm>
            <a:off x="4699000" y="4445000"/>
            <a:ext cx="3048000" cy="101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>
                <a:solidFill>
                  <a:srgbClr val="AAAAAA"/>
                </a:solidFill>
              </a:rPr>
              <a:t>Eure Notizen...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3316A08B-D186-B44E-87E1-08CCD6D03E96}"/>
              </a:ext>
            </a:extLst>
          </p:cNvPr>
          <p:cNvSpPr/>
          <p:nvPr/>
        </p:nvSpPr>
        <p:spPr>
          <a:xfrm>
            <a:off x="8255000" y="1397000"/>
            <a:ext cx="3492500" cy="4445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D74BD9C-A491-B44F-9B7A-3A8DE6F50CAB}"/>
              </a:ext>
            </a:extLst>
          </p:cNvPr>
          <p:cNvSpPr txBox="1"/>
          <p:nvPr/>
        </p:nvSpPr>
        <p:spPr>
          <a:xfrm>
            <a:off x="8509000" y="1651000"/>
            <a:ext cx="76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5400" b="1">
                <a:solidFill>
                  <a:srgbClr val="3F59FF"/>
                </a:solidFill>
              </a:rPr>
              <a:t>3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DD3A2A0-9FE6-2647-A662-0256EEF24919}"/>
              </a:ext>
            </a:extLst>
          </p:cNvPr>
          <p:cNvSpPr/>
          <p:nvPr/>
        </p:nvSpPr>
        <p:spPr>
          <a:xfrm>
            <a:off x="8636000" y="2667000"/>
            <a:ext cx="2730500" cy="508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F38584A-A3C3-584D-A26F-6E6C3B1F8F7C}"/>
              </a:ext>
            </a:extLst>
          </p:cNvPr>
          <p:cNvSpPr txBox="1"/>
          <p:nvPr/>
        </p:nvSpPr>
        <p:spPr>
          <a:xfrm>
            <a:off x="8509000" y="29210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212121"/>
                </a:solidFill>
              </a:rPr>
              <a:t>Was nehme ich für
mein Team mit?</a:t>
            </a:r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CF5A297E-E63E-8E4E-BFFC-38250D3EF89D}"/>
              </a:ext>
            </a:extLst>
          </p:cNvPr>
          <p:cNvSpPr/>
          <p:nvPr/>
        </p:nvSpPr>
        <p:spPr>
          <a:xfrm>
            <a:off x="8509000" y="4445000"/>
            <a:ext cx="3048000" cy="101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de-DE" sz="1600">
                <a:solidFill>
                  <a:srgbClr val="AAAAAA"/>
                </a:solidFill>
              </a:rPr>
              <a:t>Eure Notizen...</a:t>
            </a:r>
          </a:p>
        </p:txBody>
      </p:sp>
    </p:spTree>
    <p:extLst>
      <p:ext uri="{BB962C8B-B14F-4D97-AF65-F5344CB8AC3E}">
        <p14:creationId xmlns:p14="http://schemas.microsoft.com/office/powerpoint/2010/main" val="275501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D95BB5F-A4A4-984C-B60B-7D2A09E0F04A}"/>
              </a:ext>
            </a:extLst>
          </p:cNvPr>
          <p:cNvSpPr txBox="1"/>
          <p:nvPr/>
        </p:nvSpPr>
        <p:spPr>
          <a:xfrm>
            <a:off x="762000" y="3810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3000" b="1">
                <a:solidFill>
                  <a:srgbClr val="212B80"/>
                </a:solidFill>
              </a:rPr>
              <a:t>Ausblick — Wie geht es weiter?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E597FBD-FC17-8843-A35F-617EBEDFD0C4}"/>
              </a:ext>
            </a:extLst>
          </p:cNvPr>
          <p:cNvSpPr/>
          <p:nvPr/>
        </p:nvSpPr>
        <p:spPr>
          <a:xfrm>
            <a:off x="762000" y="990600"/>
            <a:ext cx="1016000" cy="50800"/>
          </a:xfrm>
          <a:prstGeom prst="rect">
            <a:avLst/>
          </a:prstGeom>
          <a:solidFill>
            <a:srgbClr val="FFD4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9C74A1B8-E086-544C-B24F-4C037C125E4C}"/>
              </a:ext>
            </a:extLst>
          </p:cNvPr>
          <p:cNvSpPr/>
          <p:nvPr/>
        </p:nvSpPr>
        <p:spPr>
          <a:xfrm>
            <a:off x="508000" y="1270000"/>
            <a:ext cx="5524500" cy="215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3D0B45E-218F-7846-A327-3BE9CAEDA288}"/>
              </a:ext>
            </a:extLst>
          </p:cNvPr>
          <p:cNvSpPr/>
          <p:nvPr/>
        </p:nvSpPr>
        <p:spPr>
          <a:xfrm>
            <a:off x="508000" y="1270000"/>
            <a:ext cx="101600" cy="2159000"/>
          </a:xfrm>
          <a:prstGeom prst="rect">
            <a:avLst/>
          </a:prstGeom>
          <a:solidFill>
            <a:srgbClr val="3F5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BB3D75F-E4CE-D94B-8C1C-76035F7F1CF0}"/>
              </a:ext>
            </a:extLst>
          </p:cNvPr>
          <p:cNvSpPr txBox="1"/>
          <p:nvPr/>
        </p:nvSpPr>
        <p:spPr>
          <a:xfrm>
            <a:off x="825500" y="1460500"/>
            <a:ext cx="4953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3F59FF"/>
                </a:solidFill>
              </a:rPr>
              <a:t>RAG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DF838F8-69DD-8F4C-8B59-E468AC84CC71}"/>
              </a:ext>
            </a:extLst>
          </p:cNvPr>
          <p:cNvSpPr txBox="1"/>
          <p:nvPr/>
        </p:nvSpPr>
        <p:spPr>
          <a:xfrm>
            <a:off x="825500" y="1968500"/>
            <a:ext cx="4953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>
                <a:solidFill>
                  <a:srgbClr val="555555"/>
                </a:solidFill>
              </a:rPr>
              <a:t>Chatbot mit Unternehmenswissen
(Confluence, Wikis)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E8B4988D-B732-E946-8D2A-06D5D08BB5A3}"/>
              </a:ext>
            </a:extLst>
          </p:cNvPr>
          <p:cNvSpPr/>
          <p:nvPr/>
        </p:nvSpPr>
        <p:spPr>
          <a:xfrm>
            <a:off x="6350000" y="1270000"/>
            <a:ext cx="5524500" cy="215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85FBC61-A3D7-0240-806A-C13B135A52FD}"/>
              </a:ext>
            </a:extLst>
          </p:cNvPr>
          <p:cNvSpPr/>
          <p:nvPr/>
        </p:nvSpPr>
        <p:spPr>
          <a:xfrm>
            <a:off x="6350000" y="1270000"/>
            <a:ext cx="101600" cy="2159000"/>
          </a:xfrm>
          <a:prstGeom prst="rect">
            <a:avLst/>
          </a:prstGeom>
          <a:solidFill>
            <a:srgbClr val="212B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CA52C02-0652-9044-BB02-A91060CD2A72}"/>
              </a:ext>
            </a:extLst>
          </p:cNvPr>
          <p:cNvSpPr txBox="1"/>
          <p:nvPr/>
        </p:nvSpPr>
        <p:spPr>
          <a:xfrm>
            <a:off x="6667500" y="1460500"/>
            <a:ext cx="4953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212B80"/>
                </a:solidFill>
              </a:rPr>
              <a:t>n8n + KI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C2AB7F5-6910-9842-A158-74C27A68ECAA}"/>
              </a:ext>
            </a:extLst>
          </p:cNvPr>
          <p:cNvSpPr txBox="1"/>
          <p:nvPr/>
        </p:nvSpPr>
        <p:spPr>
          <a:xfrm>
            <a:off x="6667500" y="1968500"/>
            <a:ext cx="4953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>
                <a:solidFill>
                  <a:srgbClr val="555555"/>
                </a:solidFill>
              </a:rPr>
              <a:t>Workflow-Automatisierung
(Ticket → Analyse → Branch → Tests)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127ABE92-64D2-084B-ACF1-4B2F91B65DB1}"/>
              </a:ext>
            </a:extLst>
          </p:cNvPr>
          <p:cNvSpPr/>
          <p:nvPr/>
        </p:nvSpPr>
        <p:spPr>
          <a:xfrm>
            <a:off x="508000" y="3746500"/>
            <a:ext cx="5524500" cy="215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9D8B51E-B9D5-604D-828F-C94A06E758FF}"/>
              </a:ext>
            </a:extLst>
          </p:cNvPr>
          <p:cNvSpPr/>
          <p:nvPr/>
        </p:nvSpPr>
        <p:spPr>
          <a:xfrm>
            <a:off x="508000" y="3746500"/>
            <a:ext cx="101600" cy="2159000"/>
          </a:xfrm>
          <a:prstGeom prst="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661888E-3881-DA45-97A9-E8324EDA5CD0}"/>
              </a:ext>
            </a:extLst>
          </p:cNvPr>
          <p:cNvSpPr txBox="1"/>
          <p:nvPr/>
        </p:nvSpPr>
        <p:spPr>
          <a:xfrm>
            <a:off x="825500" y="3937000"/>
            <a:ext cx="4953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>
                <a:solidFill>
                  <a:srgbClr val="4CAF50"/>
                </a:solidFill>
              </a:rPr>
              <a:t>Vibe Kanban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DE4538C-135A-DB4E-B082-DC975DA57E2D}"/>
              </a:ext>
            </a:extLst>
          </p:cNvPr>
          <p:cNvSpPr txBox="1"/>
          <p:nvPr/>
        </p:nvSpPr>
        <p:spPr>
          <a:xfrm>
            <a:off x="825500" y="4445000"/>
            <a:ext cx="4953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>
                <a:solidFill>
                  <a:srgbClr val="555555"/>
                </a:solidFill>
              </a:rPr>
              <a:t>KI-Agents: Tasks zuweisen, parallel
ausführen, Diffs reviewen (npx vibe-kanban)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2211C469-66DC-5F4B-98A1-CAD713E24EEB}"/>
              </a:ext>
            </a:extLst>
          </p:cNvPr>
          <p:cNvSpPr/>
          <p:nvPr/>
        </p:nvSpPr>
        <p:spPr>
          <a:xfrm>
            <a:off x="6350000" y="3746500"/>
            <a:ext cx="5524500" cy="2159000"/>
          </a:xfrm>
          <a:prstGeom prst="roundRect">
            <a:avLst/>
          </a:prstGeom>
          <a:solidFill>
            <a:srgbClr val="F5F6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B9E0AA2-4CC4-6743-BD1E-F175A10F3787}"/>
              </a:ext>
            </a:extLst>
          </p:cNvPr>
          <p:cNvSpPr/>
          <p:nvPr/>
        </p:nvSpPr>
        <p:spPr>
          <a:xfrm>
            <a:off x="6350000" y="3746500"/>
            <a:ext cx="101600" cy="21590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AD44C35-F59C-A549-BF83-8DE8C0036B77}"/>
              </a:ext>
            </a:extLst>
          </p:cNvPr>
          <p:cNvSpPr txBox="1"/>
          <p:nvPr/>
        </p:nvSpPr>
        <p:spPr>
          <a:xfrm>
            <a:off x="6667500" y="3937000"/>
            <a:ext cx="4953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2200" b="1" dirty="0">
                <a:solidFill>
                  <a:srgbClr val="FF6B6B"/>
                </a:solidFill>
              </a:rPr>
              <a:t>Mistral Vibe CLI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1F35C24-2EDA-DF4F-A823-B46430CF0438}"/>
              </a:ext>
            </a:extLst>
          </p:cNvPr>
          <p:cNvSpPr txBox="1"/>
          <p:nvPr/>
        </p:nvSpPr>
        <p:spPr>
          <a:xfrm>
            <a:off x="6667500" y="4445000"/>
            <a:ext cx="4953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dirty="0">
                <a:solidFill>
                  <a:srgbClr val="555555"/>
                </a:solidFill>
              </a:rPr>
              <a:t>Open-Source CLI-Agent
github.com/mistralai/mistral-vibe
Devstral 2 aktuell </a:t>
            </a:r>
            <a:r>
              <a:rPr lang="de-DE" sz="1700" b="1" dirty="0">
                <a:solidFill>
                  <a:srgbClr val="555555"/>
                </a:solidFill>
              </a:rPr>
              <a:t>GRATIS</a:t>
            </a:r>
          </a:p>
        </p:txBody>
      </p:sp>
    </p:spTree>
    <p:extLst>
      <p:ext uri="{BB962C8B-B14F-4D97-AF65-F5344CB8AC3E}">
        <p14:creationId xmlns:p14="http://schemas.microsoft.com/office/powerpoint/2010/main" val="907826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AI Blueprint">
      <a:dk1>
        <a:srgbClr val="212121"/>
      </a:dk1>
      <a:lt1>
        <a:srgbClr val="FFFFFF"/>
      </a:lt1>
      <a:dk2>
        <a:srgbClr val="212B80"/>
      </a:dk2>
      <a:lt2>
        <a:srgbClr val="F5F6FA"/>
      </a:lt2>
      <a:accent1>
        <a:srgbClr val="3F59FF"/>
      </a:accent1>
      <a:accent2>
        <a:srgbClr val="212B80"/>
      </a:accent2>
      <a:accent3>
        <a:srgbClr val="FFD440"/>
      </a:accent3>
      <a:accent4>
        <a:srgbClr val="4CAF50"/>
      </a:accent4>
      <a:accent5>
        <a:srgbClr val="E8EAFF"/>
      </a:accent5>
      <a:accent6>
        <a:srgbClr val="FF6B6B"/>
      </a:accent6>
      <a:hlink>
        <a:srgbClr val="467886"/>
      </a:hlink>
      <a:folHlink>
        <a:srgbClr val="96607D"/>
      </a:folHlink>
    </a:clrScheme>
    <a:fontScheme name="AI Blueprint Fonts">
      <a:majorFont>
        <a:latin typeface="Open Sa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975DF1-64F3-BE48-8D2B-69AEEAC98DF6}">
  <we:reference id="wa200010001" version="1.0.0.0" store="de-DE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1706</Words>
  <Application>Microsoft Macintosh PowerPoint</Application>
  <PresentationFormat>Breitbild</PresentationFormat>
  <Paragraphs>311</Paragraphs>
  <Slides>26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31" baseType="lpstr">
      <vt:lpstr>Aptos</vt:lpstr>
      <vt:lpstr>Arial</vt:lpstr>
      <vt:lpstr>Consolas</vt:lpstr>
      <vt:lpstr>Open Sans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Tkalcic</dc:creator>
  <cp:lastModifiedBy>Patrick Tkalcic</cp:lastModifiedBy>
  <cp:revision>25</cp:revision>
  <dcterms:created xsi:type="dcterms:W3CDTF">2026-03-09T12:19:02Z</dcterms:created>
  <dcterms:modified xsi:type="dcterms:W3CDTF">2026-03-13T13:24:14Z</dcterms:modified>
</cp:coreProperties>
</file>